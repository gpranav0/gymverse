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4" y="-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480446-6682-4A2B-B9AB-16D41145EF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C4AD09-4107-4F6A-84BB-735FD68080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71699F-D17A-458A-BDC9-E049428D01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85FD3-1EEE-4590-B94A-877A4CD58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611942-56D4-4405-B043-2FE29E6704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37995-436B-4F71-B0DD-481C5540A7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5B37F1-E37B-4ADF-B3B9-ADCE41A5FE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2D3DA6-00C3-47F8-A55C-93D306A79F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49444-C9AD-4BE2-B9CA-9906FB312A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8A6A8"/>
          </a:solidFill>
          <a:ln w="12700">
            <a:solidFill>
              <a:srgbClr val="18A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560" y="653796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  <a:ea typeface="Aptos"/>
              </a:rPr>
              <a:t>GymVerse  |  DBMS Mini Project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43800" y="653796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  <a:ea typeface="Aptos"/>
              </a:rPr>
              <a:t>Database analysis and design only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8D734A-3DE0-4A87-A927-94BC8D61341B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7.sv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svg"/><Relationship Id="rId14" Type="http://schemas.openxmlformats.org/officeDocument/2006/relationships/image" Target="../media/image3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Relationship Id="rId14" Type="http://schemas.openxmlformats.org/officeDocument/2006/relationships/image" Target="../media/image5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45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11" Type="http://schemas.openxmlformats.org/officeDocument/2006/relationships/image" Target="../media/image56.svg"/><Relationship Id="rId5" Type="http://schemas.openxmlformats.org/officeDocument/2006/relationships/image" Target="../media/image22.sv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5" Type="http://schemas.openxmlformats.org/officeDocument/2006/relationships/image" Target="../media/image32.svg"/><Relationship Id="rId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 rot="1200000">
            <a:off x="7863840" y="45360"/>
            <a:ext cx="4160160" cy="416016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18A6A8">
              <a:alpha val="20000"/>
            </a:srgbClr>
          </a:solidFill>
          <a:ln w="12700">
            <a:solidFill>
              <a:srgbClr val="18A6A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9372600" y="3840480"/>
            <a:ext cx="2651400" cy="2651400"/>
          </a:xfrm>
          <a:prstGeom prst="ellipse">
            <a:avLst/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85360" y="530280"/>
            <a:ext cx="109440" cy="5394600"/>
          </a:xfrm>
          <a:prstGeom prst="rect">
            <a:avLst/>
          </a:prstGeom>
          <a:solidFill>
            <a:srgbClr val="18A6A8"/>
          </a:solidFill>
          <a:ln w="12700">
            <a:solidFill>
              <a:srgbClr val="18A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96040" y="63108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3"/>
          <p:cNvSpPr/>
          <p:nvPr/>
        </p:nvSpPr>
        <p:spPr>
          <a:xfrm>
            <a:off x="896040" y="1234440"/>
            <a:ext cx="59432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GYMVERSE</a:t>
            </a:r>
            <a:endParaRPr lang="en-US" sz="5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914400" y="1856160"/>
            <a:ext cx="6080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FEDEE"/>
                </a:solidFill>
                <a:effectLst/>
                <a:uFillTx/>
                <a:latin typeface="Aptos"/>
              </a:rPr>
              <a:t>The Digital Transformation of Fitness Management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914400" y="2267640"/>
            <a:ext cx="5988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DCDD"/>
                </a:solidFill>
                <a:effectLst/>
                <a:uFillTx/>
                <a:latin typeface="Aptos"/>
              </a:rPr>
              <a:t>A centralized relational database for organized fitness records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914400" y="2615040"/>
            <a:ext cx="4251600" cy="383760"/>
          </a:xfrm>
          <a:prstGeom prst="roundRect">
            <a:avLst>
              <a:gd name="adj" fmla="val 19048"/>
            </a:avLst>
          </a:prstGeom>
          <a:solidFill>
            <a:srgbClr val="173A54"/>
          </a:solidFill>
          <a:ln w="12700">
            <a:solidFill>
              <a:srgbClr val="173A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914400" y="262440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DATABASE MANAGEMENT SYSTEM MINI PROJECT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914400" y="3090600"/>
            <a:ext cx="5714640" cy="383760"/>
          </a:xfrm>
          <a:prstGeom prst="roundRect">
            <a:avLst>
              <a:gd name="adj" fmla="val 19048"/>
            </a:avLst>
          </a:prstGeom>
          <a:solidFill>
            <a:srgbClr val="123A5A"/>
          </a:solidFill>
          <a:ln w="12700">
            <a:solidFill>
              <a:srgbClr val="123A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914400" y="3099960"/>
            <a:ext cx="5714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DEFF0"/>
                </a:solidFill>
                <a:effectLst/>
                <a:uFillTx/>
                <a:latin typeface="Aptos"/>
              </a:rPr>
              <a:t>Project Scope: Designing a Centralized Gym Management Database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905400" y="3758485"/>
            <a:ext cx="5742000" cy="2349285"/>
          </a:xfrm>
          <a:prstGeom prst="roundRect">
            <a:avLst>
              <a:gd name="adj" fmla="val 3540"/>
            </a:avLst>
          </a:prstGeom>
          <a:solidFill>
            <a:srgbClr val="102D46"/>
          </a:solidFill>
          <a:ln w="12700">
            <a:solidFill>
              <a:srgbClr val="24506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1078920" y="384048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Team Details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" name="Table 0"/>
          <p:cNvGraphicFramePr/>
          <p:nvPr>
            <p:extLst>
              <p:ext uri="{D42A27DB-BD31-4B8C-83A1-F6EECF244321}">
                <p14:modId xmlns:p14="http://schemas.microsoft.com/office/powerpoint/2010/main" val="2083931479"/>
              </p:ext>
            </p:extLst>
          </p:nvPr>
        </p:nvGraphicFramePr>
        <p:xfrm>
          <a:off x="1069920" y="4142605"/>
          <a:ext cx="5394960" cy="1504719"/>
        </p:xfrm>
        <a:graphic>
          <a:graphicData uri="http://schemas.openxmlformats.org/drawingml/2006/table">
            <a:tbl>
              <a:tblPr/>
              <a:tblGrid>
                <a:gridCol w="199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44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Roll Number</a:t>
                      </a:r>
                      <a:endParaRPr lang="en-US" sz="9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C567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Team Member Name</a:t>
                      </a:r>
                      <a:endParaRPr lang="en-US" sz="9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C56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E5EEF4"/>
                          </a:solidFill>
                          <a:effectLst/>
                          <a:uFillTx/>
                          <a:latin typeface="Aptos"/>
                        </a:rPr>
                        <a:t>2510030006</a:t>
                      </a:r>
                      <a:endParaRPr lang="en-US" sz="9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NYSHADAM SRIKAR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2510030246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MALALLA SRI CHARAN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2510030412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 cap="flat" cmpd="sng" algn="ctr">
                      <a:solidFill>
                        <a:srgbClr val="2D5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080" cap="flat" cmpd="sng" algn="ctr">
                      <a:solidFill>
                        <a:srgbClr val="2D5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AKHIL SAGAR</a:t>
                      </a:r>
                    </a:p>
                  </a:txBody>
                  <a:tcPr marL="36360" marR="36360">
                    <a:lnL w="10080" cap="flat" cmpd="sng" algn="ctr">
                      <a:solidFill>
                        <a:srgbClr val="2D5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 cap="flat" cmpd="sng" algn="ctr">
                      <a:solidFill>
                        <a:srgbClr val="2D5C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30696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2510030008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GORANTLA PRANAV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2510030147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YOGENDRA UNGARALA</a:t>
                      </a:r>
                    </a:p>
                  </a:txBody>
                  <a:tcPr marL="36360" marR="36360">
                    <a:lnL w="10080">
                      <a:solidFill>
                        <a:srgbClr val="2D5C76"/>
                      </a:solidFill>
                      <a:prstDash val="solid"/>
                    </a:lnL>
                    <a:lnR w="10080">
                      <a:solidFill>
                        <a:srgbClr val="2D5C76"/>
                      </a:solidFill>
                      <a:prstDash val="solid"/>
                    </a:lnR>
                    <a:lnT w="10080">
                      <a:solidFill>
                        <a:srgbClr val="2D5C76"/>
                      </a:solidFill>
                      <a:prstDash val="solid"/>
                    </a:lnT>
                    <a:lnB w="10080">
                      <a:solidFill>
                        <a:srgbClr val="2D5C76"/>
                      </a:solidFill>
                      <a:prstDash val="solid"/>
                    </a:lnB>
                    <a:solidFill>
                      <a:srgbClr val="14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12"/>
          <p:cNvSpPr/>
          <p:nvPr/>
        </p:nvSpPr>
        <p:spPr>
          <a:xfrm>
            <a:off x="1051560" y="5735267"/>
            <a:ext cx="5440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AFC4D3"/>
                </a:solidFill>
                <a:effectLst/>
                <a:uFillTx/>
                <a:latin typeface="Aptos"/>
              </a:rPr>
              <a:t>Department: [CSE]  |  Institution: [KLH]  |  Faculty Guide: [P LALITHA]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229600" y="1828800"/>
            <a:ext cx="2011320" cy="2148480"/>
          </a:xfrm>
          <a:prstGeom prst="can">
            <a:avLst>
              <a:gd name="adj" fmla="val 25000"/>
            </a:avLst>
          </a:prstGeom>
          <a:solidFill>
            <a:srgbClr val="E8F8F7">
              <a:alpha val="97000"/>
            </a:srgbClr>
          </a:solidFill>
          <a:ln w="254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888040" y="2322720"/>
            <a:ext cx="712800" cy="7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14"/>
          <p:cNvSpPr/>
          <p:nvPr/>
        </p:nvSpPr>
        <p:spPr>
          <a:xfrm>
            <a:off x="8339400" y="303588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GYMVERSE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DATABASE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 flipH="1" flipV="1">
            <a:off x="7863840" y="1280160"/>
            <a:ext cx="1371600" cy="1554480"/>
          </a:xfrm>
          <a:prstGeom prst="line">
            <a:avLst/>
          </a:prstGeom>
          <a:ln w="15240">
            <a:solidFill>
              <a:srgbClr val="88C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6"/>
          <p:cNvSpPr/>
          <p:nvPr/>
        </p:nvSpPr>
        <p:spPr>
          <a:xfrm>
            <a:off x="7406640" y="822960"/>
            <a:ext cx="914040" cy="914040"/>
          </a:xfrm>
          <a:prstGeom prst="ellipse">
            <a:avLst/>
          </a:prstGeom>
          <a:solidFill>
            <a:srgbClr val="16364F"/>
          </a:solidFill>
          <a:ln w="12700">
            <a:solidFill>
              <a:srgbClr val="2B63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680960" y="9968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7"/>
          <p:cNvSpPr/>
          <p:nvPr/>
        </p:nvSpPr>
        <p:spPr>
          <a:xfrm>
            <a:off x="7242120" y="1408320"/>
            <a:ext cx="124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Members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8"/>
          <p:cNvSpPr/>
          <p:nvPr/>
        </p:nvSpPr>
        <p:spPr>
          <a:xfrm flipV="1">
            <a:off x="9235440" y="1371600"/>
            <a:ext cx="1645920" cy="1463040"/>
          </a:xfrm>
          <a:prstGeom prst="line">
            <a:avLst/>
          </a:prstGeom>
          <a:ln w="15240">
            <a:solidFill>
              <a:srgbClr val="88C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10424160" y="914400"/>
            <a:ext cx="914040" cy="914040"/>
          </a:xfrm>
          <a:prstGeom prst="ellipse">
            <a:avLst/>
          </a:prstGeom>
          <a:solidFill>
            <a:srgbClr val="16364F"/>
          </a:solidFill>
          <a:ln w="12700">
            <a:solidFill>
              <a:srgbClr val="2B63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698480" y="1088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20"/>
          <p:cNvSpPr/>
          <p:nvPr/>
        </p:nvSpPr>
        <p:spPr>
          <a:xfrm>
            <a:off x="10259640" y="1499760"/>
            <a:ext cx="124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Trainers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 flipH="1">
            <a:off x="7589520" y="2834640"/>
            <a:ext cx="1645920" cy="1920240"/>
          </a:xfrm>
          <a:prstGeom prst="line">
            <a:avLst/>
          </a:prstGeom>
          <a:ln w="15240">
            <a:solidFill>
              <a:srgbClr val="88C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7132320" y="4297680"/>
            <a:ext cx="914040" cy="914040"/>
          </a:xfrm>
          <a:prstGeom prst="ellipse">
            <a:avLst/>
          </a:prstGeom>
          <a:solidFill>
            <a:srgbClr val="16364F"/>
          </a:solidFill>
          <a:ln w="12700">
            <a:solidFill>
              <a:srgbClr val="2B63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406640" y="44715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23"/>
          <p:cNvSpPr/>
          <p:nvPr/>
        </p:nvSpPr>
        <p:spPr>
          <a:xfrm>
            <a:off x="6967800" y="4883040"/>
            <a:ext cx="124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Payments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9235440" y="2834640"/>
            <a:ext cx="1691640" cy="1965960"/>
          </a:xfrm>
          <a:prstGeom prst="line">
            <a:avLst/>
          </a:prstGeom>
          <a:ln w="15240">
            <a:solidFill>
              <a:srgbClr val="88C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10469880" y="4343400"/>
            <a:ext cx="914040" cy="914040"/>
          </a:xfrm>
          <a:prstGeom prst="ellipse">
            <a:avLst/>
          </a:prstGeom>
          <a:solidFill>
            <a:srgbClr val="16364F"/>
          </a:solidFill>
          <a:ln w="12700">
            <a:solidFill>
              <a:srgbClr val="2B63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0744200" y="4517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26"/>
          <p:cNvSpPr/>
          <p:nvPr/>
        </p:nvSpPr>
        <p:spPr>
          <a:xfrm>
            <a:off x="10305360" y="4928760"/>
            <a:ext cx="124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Attendance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9235440" y="2834640"/>
            <a:ext cx="18000" cy="2788920"/>
          </a:xfrm>
          <a:prstGeom prst="line">
            <a:avLst/>
          </a:prstGeom>
          <a:ln w="15240">
            <a:solidFill>
              <a:srgbClr val="88CFC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8796600" y="5166360"/>
            <a:ext cx="914040" cy="914040"/>
          </a:xfrm>
          <a:prstGeom prst="ellipse">
            <a:avLst/>
          </a:prstGeom>
          <a:solidFill>
            <a:srgbClr val="16364F"/>
          </a:solidFill>
          <a:ln w="12700">
            <a:solidFill>
              <a:srgbClr val="2B63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070920" y="534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9"/>
          <p:cNvSpPr/>
          <p:nvPr/>
        </p:nvSpPr>
        <p:spPr>
          <a:xfrm>
            <a:off x="8632080" y="5751720"/>
            <a:ext cx="1243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Progress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7434000" y="609876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CFEDEE"/>
                </a:solidFill>
                <a:effectLst/>
                <a:uFillTx/>
                <a:latin typeface="Aptos"/>
              </a:rPr>
              <a:t>GymVerse</a:t>
            </a:r>
            <a:r>
              <a:rPr lang="en-US" sz="1200" b="1" u="none" strike="noStrike" dirty="0">
                <a:solidFill>
                  <a:srgbClr val="CFEDEE"/>
                </a:solidFill>
                <a:effectLst/>
                <a:uFillTx/>
                <a:latin typeface="Aptos"/>
              </a:rPr>
              <a:t> = one connected universe of gym records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7498080" y="638244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A9DCDD"/>
                </a:solidFill>
                <a:effectLst/>
                <a:uFillTx/>
                <a:latin typeface="Aptos"/>
              </a:rPr>
              <a:t>Novelty: integrates operational and fitness data in one normalized schema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Problem Statement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Why a gym needs a centralized relational database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67000" y="1261800"/>
            <a:ext cx="11045520" cy="749520"/>
          </a:xfrm>
          <a:prstGeom prst="roundRect">
            <a:avLst>
              <a:gd name="adj" fmla="val 9756"/>
            </a:avLst>
          </a:prstGeom>
          <a:solidFill>
            <a:srgbClr val="FFF4DD"/>
          </a:solidFill>
          <a:ln w="12700">
            <a:solidFill>
              <a:srgbClr val="F8D7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4600" y="1463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4"/>
          <p:cNvSpPr/>
          <p:nvPr/>
        </p:nvSpPr>
        <p:spPr>
          <a:xfrm>
            <a:off x="1261800" y="1389960"/>
            <a:ext cx="100123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Many gyms maintain records in registers, forms, or separate spreadsheets. Because these records are not connected, information becomes difficult to organize, update, verify, and retrieve.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600765" y="226764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722520" y="241416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4600" y="24962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7"/>
          <p:cNvSpPr/>
          <p:nvPr/>
        </p:nvSpPr>
        <p:spPr>
          <a:xfrm>
            <a:off x="1261800" y="238644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Duplicate Member 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1142280" y="2697480"/>
            <a:ext cx="26978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The same member information may be repeated, creating inconsistent details.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4160520" y="226764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4306680" y="241416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389120" y="24962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1"/>
          <p:cNvSpPr/>
          <p:nvPr/>
        </p:nvSpPr>
        <p:spPr>
          <a:xfrm>
            <a:off x="4846320" y="238644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Difficult Membership Tracking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846320" y="2788200"/>
            <a:ext cx="2450160" cy="78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Active, expired, and renewed subscriptions are harder to identify.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7745040" y="226764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7891200" y="241416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973640" y="24962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5"/>
          <p:cNvSpPr/>
          <p:nvPr/>
        </p:nvSpPr>
        <p:spPr>
          <a:xfrm>
            <a:off x="8430840" y="238644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Unconnected Payments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8430840" y="269748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Payments may not be linked correctly with members and subscriptions.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576000" y="381312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722520" y="395928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04600" y="40417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9"/>
          <p:cNvSpPr/>
          <p:nvPr/>
        </p:nvSpPr>
        <p:spPr>
          <a:xfrm>
            <a:off x="1261800" y="393192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Trainer and Plan Gaps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1261800" y="42429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Trainer assignments, workouts, and diets may remain in separate records.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4160520" y="381312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4306680" y="395928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389120" y="40417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23"/>
          <p:cNvSpPr/>
          <p:nvPr/>
        </p:nvSpPr>
        <p:spPr>
          <a:xfrm>
            <a:off x="4846320" y="393192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Manual Attendance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4846320" y="42429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Visit history is difficult to search, summarize, and analyse.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5"/>
          <p:cNvSpPr/>
          <p:nvPr/>
        </p:nvSpPr>
        <p:spPr>
          <a:xfrm>
            <a:off x="7745040" y="3813120"/>
            <a:ext cx="3273120" cy="1279800"/>
          </a:xfrm>
          <a:prstGeom prst="roundRect">
            <a:avLst>
              <a:gd name="adj" fmla="val 5714"/>
            </a:avLst>
          </a:prstGeom>
          <a:solidFill>
            <a:srgbClr val="FDECE7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7891200" y="395928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973640" y="40417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7"/>
          <p:cNvSpPr/>
          <p:nvPr/>
        </p:nvSpPr>
        <p:spPr>
          <a:xfrm>
            <a:off x="8430840" y="3931920"/>
            <a:ext cx="245016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Maintenance Problems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8430840" y="42429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Equipment condition, repairs, and service dates may be incomplete.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9"/>
          <p:cNvSpPr/>
          <p:nvPr/>
        </p:nvSpPr>
        <p:spPr>
          <a:xfrm>
            <a:off x="576000" y="5330880"/>
            <a:ext cx="11045520" cy="87732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32760" y="5559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30"/>
          <p:cNvSpPr/>
          <p:nvPr/>
        </p:nvSpPr>
        <p:spPr>
          <a:xfrm>
            <a:off x="1417320" y="553212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Manual &amp; disconnected records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187880" y="5586840"/>
            <a:ext cx="383760" cy="25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 9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892040" y="54864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31"/>
          <p:cNvSpPr/>
          <p:nvPr/>
        </p:nvSpPr>
        <p:spPr>
          <a:xfrm>
            <a:off x="5459040" y="5532120"/>
            <a:ext cx="2422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Centralized GymVerse database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1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229600" y="5586840"/>
            <a:ext cx="383760" cy="25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 1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8915400" y="55047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32"/>
          <p:cNvSpPr/>
          <p:nvPr/>
        </p:nvSpPr>
        <p:spPr>
          <a:xfrm>
            <a:off x="9399960" y="553212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Organized &amp; connected information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5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ADD832-E100-45C1-A63B-EEA159F480DB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Project Objectives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What the proposed GymVerse database is intended to achieve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4827960" y="2258640"/>
            <a:ext cx="2514240" cy="2011320"/>
          </a:xfrm>
          <a:prstGeom prst="ellipse">
            <a:avLst/>
          </a:prstGeom>
          <a:solidFill>
            <a:srgbClr val="0B1F33"/>
          </a:solidFill>
          <a:ln w="254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69280" y="256032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4"/>
          <p:cNvSpPr/>
          <p:nvPr/>
        </p:nvSpPr>
        <p:spPr>
          <a:xfrm>
            <a:off x="5203080" y="3346560"/>
            <a:ext cx="17827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CENTRALIZED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GYM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40080" y="135324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95600" y="1517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6"/>
          <p:cNvSpPr/>
          <p:nvPr/>
        </p:nvSpPr>
        <p:spPr>
          <a:xfrm>
            <a:off x="1170360" y="144468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Centralize Information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1170360" y="171900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 members, trainers, plans, payments, attendance, classes, progress, and equipment together.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8394120" y="135324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49640" y="1517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9"/>
          <p:cNvSpPr/>
          <p:nvPr/>
        </p:nvSpPr>
        <p:spPr>
          <a:xfrm>
            <a:off x="8924400" y="144468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Reduce Duplication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8924400" y="171900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Avoid repeating the same information in multiple records and tables.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640080" y="258768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FFF4DD"/>
          </a:solidFill>
          <a:ln w="12700">
            <a:solidFill>
              <a:srgbClr val="FFF4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95600" y="275220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2"/>
          <p:cNvSpPr/>
          <p:nvPr/>
        </p:nvSpPr>
        <p:spPr>
          <a:xfrm>
            <a:off x="1170360" y="267912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Track Memberships &amp; Payments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1170360" y="295344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Connect plans, subscriptions, dates, renewals, and payment history.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8394120" y="258768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F1EBFF"/>
          </a:solidFill>
          <a:ln w="12700">
            <a:solidFill>
              <a:srgbClr val="F1E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549640" y="275220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5"/>
          <p:cNvSpPr/>
          <p:nvPr/>
        </p:nvSpPr>
        <p:spPr>
          <a:xfrm>
            <a:off x="8924400" y="267912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Connect Trainers &amp; Plans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8924400" y="295344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Relate trainers with members, workouts, diets, and progress records.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640080" y="382212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FCEEF3"/>
          </a:solidFill>
          <a:ln w="12700">
            <a:solidFill>
              <a:srgbClr val="FCEE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95600" y="39866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8"/>
          <p:cNvSpPr/>
          <p:nvPr/>
        </p:nvSpPr>
        <p:spPr>
          <a:xfrm>
            <a:off x="1170360" y="391356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Manage Attendance &amp; Classes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1170360" y="418788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 visits, schedules, capacity, bookings, and class trainers.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8394120" y="382212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EAF8EF"/>
          </a:solidFill>
          <a:ln w="12700">
            <a:solidFill>
              <a:srgbClr val="EAF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549640" y="39866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1"/>
          <p:cNvSpPr/>
          <p:nvPr/>
        </p:nvSpPr>
        <p:spPr>
          <a:xfrm>
            <a:off x="8924400" y="391356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Track Progress &amp; Diet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8924400" y="418788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Maintain measurements, fitness history, nutrition targets, and meals.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640080" y="505656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FFF7D6"/>
          </a:solidFill>
          <a:ln w="12700">
            <a:solidFill>
              <a:srgbClr val="FFF7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95600" y="522108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24"/>
          <p:cNvSpPr/>
          <p:nvPr/>
        </p:nvSpPr>
        <p:spPr>
          <a:xfrm>
            <a:off x="1170360" y="514800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Manage Equipment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1170360" y="542232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Record availability, condition, repair history, costs, and service dates.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6"/>
          <p:cNvSpPr/>
          <p:nvPr/>
        </p:nvSpPr>
        <p:spPr>
          <a:xfrm>
            <a:off x="8394120" y="5056560"/>
            <a:ext cx="3154320" cy="959760"/>
          </a:xfrm>
          <a:prstGeom prst="roundRect">
            <a:avLst>
              <a:gd name="adj" fmla="val 7619"/>
            </a:avLst>
          </a:prstGeom>
          <a:solidFill>
            <a:srgbClr val="EAF0F8"/>
          </a:solidFill>
          <a:ln w="12700">
            <a:solidFill>
              <a:srgbClr val="EAF0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549640" y="522108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27"/>
          <p:cNvSpPr/>
          <p:nvPr/>
        </p:nvSpPr>
        <p:spPr>
          <a:xfrm>
            <a:off x="8924400" y="514800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Protect Data Integrity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8924400" y="5422320"/>
            <a:ext cx="2495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keys, relationships, constraints, and SQL for reliable retrieval.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9"/>
          <p:cNvSpPr/>
          <p:nvPr/>
        </p:nvSpPr>
        <p:spPr>
          <a:xfrm>
            <a:off x="3794760" y="1828800"/>
            <a:ext cx="1033200" cy="96012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0"/>
          <p:cNvSpPr/>
          <p:nvPr/>
        </p:nvSpPr>
        <p:spPr>
          <a:xfrm flipH="1">
            <a:off x="7342560" y="1828800"/>
            <a:ext cx="1051560" cy="96012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1"/>
          <p:cNvSpPr/>
          <p:nvPr/>
        </p:nvSpPr>
        <p:spPr>
          <a:xfrm flipV="1">
            <a:off x="3794760" y="3063240"/>
            <a:ext cx="1033200" cy="900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2"/>
          <p:cNvSpPr/>
          <p:nvPr/>
        </p:nvSpPr>
        <p:spPr>
          <a:xfrm flipH="1" flipV="1">
            <a:off x="7342560" y="3063240"/>
            <a:ext cx="1051560" cy="900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3"/>
          <p:cNvSpPr/>
          <p:nvPr/>
        </p:nvSpPr>
        <p:spPr>
          <a:xfrm flipV="1">
            <a:off x="3794760" y="3611880"/>
            <a:ext cx="1033200" cy="68580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4"/>
          <p:cNvSpPr/>
          <p:nvPr/>
        </p:nvSpPr>
        <p:spPr>
          <a:xfrm flipH="1" flipV="1">
            <a:off x="7342560" y="3611880"/>
            <a:ext cx="1051560" cy="68580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5"/>
          <p:cNvSpPr/>
          <p:nvPr/>
        </p:nvSpPr>
        <p:spPr>
          <a:xfrm flipV="1">
            <a:off x="3794760" y="3977640"/>
            <a:ext cx="1033200" cy="155448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6"/>
          <p:cNvSpPr/>
          <p:nvPr/>
        </p:nvSpPr>
        <p:spPr>
          <a:xfrm flipH="1" flipV="1">
            <a:off x="7342560" y="3977640"/>
            <a:ext cx="1051560" cy="1554480"/>
          </a:xfrm>
          <a:prstGeom prst="line">
            <a:avLst/>
          </a:prstGeom>
          <a:ln w="13970">
            <a:solidFill>
              <a:srgbClr val="8DB9C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7"/>
          <p:cNvSpPr/>
          <p:nvPr/>
        </p:nvSpPr>
        <p:spPr>
          <a:xfrm>
            <a:off x="3662100" y="5934600"/>
            <a:ext cx="4887540" cy="592725"/>
          </a:xfrm>
          <a:prstGeom prst="roundRect">
            <a:avLst>
              <a:gd name="adj" fmla="val 23529"/>
            </a:avLst>
          </a:prstGeom>
          <a:solidFill>
            <a:srgbClr val="0B1F33"/>
          </a:solidFill>
          <a:ln w="12700">
            <a:solidFill>
              <a:srgbClr val="0B1F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9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3913560" y="617220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38"/>
          <p:cNvSpPr/>
          <p:nvPr/>
        </p:nvSpPr>
        <p:spPr>
          <a:xfrm>
            <a:off x="4187880" y="6172200"/>
            <a:ext cx="4041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Novelty: one normalized schema connects memberships, payments, trainers, workouts, diet, attendance, progress, classes, and maintenance.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Num" idx="6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65F1F0-5B2A-4C6A-9CF3-337A84C5BB79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Technology Stack and Feasibility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Why the proposed database is practical for a small student team and a local gym context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621720" y="12618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Database-design workflow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65844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FFF4DD"/>
          </a:solidFill>
          <a:ln w="12700">
            <a:solidFill>
              <a:srgbClr val="FFF4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4344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5"/>
          <p:cNvSpPr/>
          <p:nvPr/>
        </p:nvSpPr>
        <p:spPr>
          <a:xfrm>
            <a:off x="73152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Requirements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240280" y="1847160"/>
            <a:ext cx="20088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hape 6"/>
          <p:cNvSpPr/>
          <p:nvPr/>
        </p:nvSpPr>
        <p:spPr>
          <a:xfrm>
            <a:off x="253296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11796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7"/>
          <p:cNvSpPr/>
          <p:nvPr/>
        </p:nvSpPr>
        <p:spPr>
          <a:xfrm>
            <a:off x="260604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ER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114800" y="1847160"/>
            <a:ext cx="20088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Shape 8"/>
          <p:cNvSpPr/>
          <p:nvPr/>
        </p:nvSpPr>
        <p:spPr>
          <a:xfrm>
            <a:off x="440748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99248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9"/>
          <p:cNvSpPr/>
          <p:nvPr/>
        </p:nvSpPr>
        <p:spPr>
          <a:xfrm>
            <a:off x="448056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Relational Schema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89320" y="1847160"/>
            <a:ext cx="20088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hape 10"/>
          <p:cNvSpPr/>
          <p:nvPr/>
        </p:nvSpPr>
        <p:spPr>
          <a:xfrm>
            <a:off x="628200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F1EBFF"/>
          </a:solidFill>
          <a:ln w="12700">
            <a:solidFill>
              <a:srgbClr val="F1E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86700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11"/>
          <p:cNvSpPr/>
          <p:nvPr/>
        </p:nvSpPr>
        <p:spPr>
          <a:xfrm>
            <a:off x="635508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Normalization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63840" y="1847160"/>
            <a:ext cx="20088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12"/>
          <p:cNvSpPr/>
          <p:nvPr/>
        </p:nvSpPr>
        <p:spPr>
          <a:xfrm>
            <a:off x="815652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EAF8EF"/>
          </a:solidFill>
          <a:ln w="12700">
            <a:solidFill>
              <a:srgbClr val="EAF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74152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3"/>
          <p:cNvSpPr/>
          <p:nvPr/>
        </p:nvSpPr>
        <p:spPr>
          <a:xfrm>
            <a:off x="822960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MySQL Tables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9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738360" y="1847160"/>
            <a:ext cx="200880" cy="1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Shape 14"/>
          <p:cNvSpPr/>
          <p:nvPr/>
        </p:nvSpPr>
        <p:spPr>
          <a:xfrm>
            <a:off x="10031040" y="1609200"/>
            <a:ext cx="1481040" cy="758520"/>
          </a:xfrm>
          <a:prstGeom prst="roundRect">
            <a:avLst>
              <a:gd name="adj" fmla="val 9639"/>
            </a:avLst>
          </a:prstGeom>
          <a:solidFill>
            <a:srgbClr val="FFF7D6"/>
          </a:solidFill>
          <a:ln w="12700">
            <a:solidFill>
              <a:srgbClr val="FFF7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1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616040" y="17463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15"/>
          <p:cNvSpPr/>
          <p:nvPr/>
        </p:nvSpPr>
        <p:spPr>
          <a:xfrm>
            <a:off x="10104120" y="208476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SQL Queries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621720" y="265176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Tools used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7"/>
          <p:cNvSpPr/>
          <p:nvPr/>
        </p:nvSpPr>
        <p:spPr>
          <a:xfrm>
            <a:off x="658440" y="2962800"/>
            <a:ext cx="2331360" cy="1352880"/>
          </a:xfrm>
          <a:prstGeom prst="roundRect">
            <a:avLst>
              <a:gd name="adj" fmla="val 5882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813960" y="31730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1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23400" y="328284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19"/>
          <p:cNvSpPr/>
          <p:nvPr/>
        </p:nvSpPr>
        <p:spPr>
          <a:xfrm>
            <a:off x="1371600" y="31089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TerraER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1371600" y="3410640"/>
            <a:ext cx="14079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Models entities, attributes, relationships, and cardinalities.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1"/>
          <p:cNvSpPr/>
          <p:nvPr/>
        </p:nvSpPr>
        <p:spPr>
          <a:xfrm>
            <a:off x="3493080" y="2962800"/>
            <a:ext cx="2331360" cy="1416600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2"/>
          <p:cNvSpPr/>
          <p:nvPr/>
        </p:nvSpPr>
        <p:spPr>
          <a:xfrm>
            <a:off x="3648600" y="31730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1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758040" y="328284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23"/>
          <p:cNvSpPr/>
          <p:nvPr/>
        </p:nvSpPr>
        <p:spPr>
          <a:xfrm>
            <a:off x="4206240" y="31089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MySQL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4206240" y="3410640"/>
            <a:ext cx="14079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Stores tables, keys, constraints, sample records, and related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6327720" y="2962800"/>
            <a:ext cx="2331360" cy="1416600"/>
          </a:xfrm>
          <a:prstGeom prst="roundRect">
            <a:avLst>
              <a:gd name="adj" fmla="val 5882"/>
            </a:avLst>
          </a:prstGeom>
          <a:solidFill>
            <a:srgbClr val="FFF4DD"/>
          </a:solidFill>
          <a:ln w="12700">
            <a:solidFill>
              <a:srgbClr val="FFF4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6483240" y="31730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1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592680" y="328284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27"/>
          <p:cNvSpPr/>
          <p:nvPr/>
        </p:nvSpPr>
        <p:spPr>
          <a:xfrm>
            <a:off x="7040880" y="31089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MySQL Workbench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7040880" y="3410640"/>
            <a:ext cx="14079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Creates tables, executes SQL, and inspects the schema.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9"/>
          <p:cNvSpPr/>
          <p:nvPr/>
        </p:nvSpPr>
        <p:spPr>
          <a:xfrm>
            <a:off x="9162360" y="2962800"/>
            <a:ext cx="2331360" cy="1352880"/>
          </a:xfrm>
          <a:prstGeom prst="roundRect">
            <a:avLst>
              <a:gd name="adj" fmla="val 5882"/>
            </a:avLst>
          </a:prstGeom>
          <a:solidFill>
            <a:srgbClr val="F1EBFF"/>
          </a:solidFill>
          <a:ln w="12700">
            <a:solidFill>
              <a:srgbClr val="F1E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0"/>
          <p:cNvSpPr/>
          <p:nvPr/>
        </p:nvSpPr>
        <p:spPr>
          <a:xfrm>
            <a:off x="9317880" y="31730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1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427320" y="328284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31"/>
          <p:cNvSpPr/>
          <p:nvPr/>
        </p:nvSpPr>
        <p:spPr>
          <a:xfrm>
            <a:off x="9875520" y="31089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SQL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2"/>
          <p:cNvSpPr/>
          <p:nvPr/>
        </p:nvSpPr>
        <p:spPr>
          <a:xfrm>
            <a:off x="9875520" y="3410640"/>
            <a:ext cx="14079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Defines, updates, joins, filters, and retrieves gym records.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3"/>
          <p:cNvSpPr/>
          <p:nvPr/>
        </p:nvSpPr>
        <p:spPr>
          <a:xfrm>
            <a:off x="621720" y="44622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Project feasibility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4"/>
          <p:cNvSpPr/>
          <p:nvPr/>
        </p:nvSpPr>
        <p:spPr>
          <a:xfrm>
            <a:off x="658440" y="4800600"/>
            <a:ext cx="2331360" cy="1609560"/>
          </a:xfrm>
          <a:prstGeom prst="roundRect">
            <a:avLst>
              <a:gd name="adj" fmla="val 5405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822960" y="49924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35"/>
          <p:cNvSpPr/>
          <p:nvPr/>
        </p:nvSpPr>
        <p:spPr>
          <a:xfrm>
            <a:off x="1225440" y="4910400"/>
            <a:ext cx="157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Technical Feasibility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822960" y="5367600"/>
            <a:ext cx="197460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TerraER, MySQL, Workbench, and SQL are sufficient for the full database-design scope.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7"/>
          <p:cNvSpPr/>
          <p:nvPr/>
        </p:nvSpPr>
        <p:spPr>
          <a:xfrm>
            <a:off x="3493080" y="4800600"/>
            <a:ext cx="2331360" cy="1673280"/>
          </a:xfrm>
          <a:prstGeom prst="roundRect">
            <a:avLst>
              <a:gd name="adj" fmla="val 5405"/>
            </a:avLst>
          </a:prstGeom>
          <a:solidFill>
            <a:srgbClr val="EAF8EF"/>
          </a:solidFill>
          <a:ln w="12700">
            <a:solidFill>
              <a:srgbClr val="EAF8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1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3657600" y="49924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38"/>
          <p:cNvSpPr/>
          <p:nvPr/>
        </p:nvSpPr>
        <p:spPr>
          <a:xfrm>
            <a:off x="4060080" y="4910400"/>
            <a:ext cx="157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Economic Feasibility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9"/>
          <p:cNvSpPr/>
          <p:nvPr/>
        </p:nvSpPr>
        <p:spPr>
          <a:xfrm>
            <a:off x="3657600" y="5367600"/>
            <a:ext cx="197460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selected tools are free or available for academic use, so the project needs minimal cost.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0"/>
          <p:cNvSpPr/>
          <p:nvPr/>
        </p:nvSpPr>
        <p:spPr>
          <a:xfrm>
            <a:off x="6327720" y="4800600"/>
            <a:ext cx="2331360" cy="1609560"/>
          </a:xfrm>
          <a:prstGeom prst="roundRect">
            <a:avLst>
              <a:gd name="adj" fmla="val 5405"/>
            </a:avLst>
          </a:prstGeom>
          <a:solidFill>
            <a:srgbClr val="FFF4DD"/>
          </a:solidFill>
          <a:ln w="12700">
            <a:solidFill>
              <a:srgbClr val="FFF4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1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6492240" y="49924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41"/>
          <p:cNvSpPr/>
          <p:nvPr/>
        </p:nvSpPr>
        <p:spPr>
          <a:xfrm>
            <a:off x="6894720" y="4910400"/>
            <a:ext cx="157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Operational Feasibility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2"/>
          <p:cNvSpPr/>
          <p:nvPr/>
        </p:nvSpPr>
        <p:spPr>
          <a:xfrm>
            <a:off x="6492240" y="5367600"/>
            <a:ext cx="197460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The schema uses familiar gym records and can be understood and maintained with basic SQL knowledge.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3"/>
          <p:cNvSpPr/>
          <p:nvPr/>
        </p:nvSpPr>
        <p:spPr>
          <a:xfrm>
            <a:off x="9162360" y="4800600"/>
            <a:ext cx="2331360" cy="1609560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1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9326880" y="499248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44"/>
          <p:cNvSpPr/>
          <p:nvPr/>
        </p:nvSpPr>
        <p:spPr>
          <a:xfrm>
            <a:off x="9729360" y="4910400"/>
            <a:ext cx="157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Schedule Feasibility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5"/>
          <p:cNvSpPr/>
          <p:nvPr/>
        </p:nvSpPr>
        <p:spPr>
          <a:xfrm>
            <a:off x="9326880" y="5367600"/>
            <a:ext cx="197460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limited database-only scope can be completed by a small team within four weeks.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7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70A12-6215-4D74-AE08-C272FE03373E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4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Expected Outcome and Societal Relevance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How the proposed database improves gym record management and supports local fitness </a:t>
            </a:r>
            <a:r>
              <a:rPr lang="en-US" b="0" u="none" strike="noStrike" dirty="0" err="1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centres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612720" y="1298520"/>
            <a:ext cx="3035520" cy="3986280"/>
          </a:xfrm>
          <a:prstGeom prst="roundRect">
            <a:avLst>
              <a:gd name="adj" fmla="val 2410"/>
            </a:avLst>
          </a:prstGeom>
          <a:solidFill>
            <a:srgbClr val="FFF4F0"/>
          </a:solidFill>
          <a:ln w="12700">
            <a:solidFill>
              <a:srgbClr val="F3C8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804600" y="1554480"/>
            <a:ext cx="2651400" cy="347040"/>
          </a:xfrm>
          <a:prstGeom prst="roundRect">
            <a:avLst>
              <a:gd name="adj" fmla="val 21053"/>
            </a:avLst>
          </a:prstGeom>
          <a:solidFill>
            <a:srgbClr val="FDE4DB"/>
          </a:solidFill>
          <a:ln w="12700">
            <a:solidFill>
              <a:srgbClr val="FDE4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804600" y="1533495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B5472D"/>
                </a:solidFill>
                <a:effectLst/>
                <a:uFillTx/>
                <a:latin typeface="Aptos"/>
              </a:rPr>
              <a:t>BEFORE: DISCONNECTED RECORDS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64720" y="207576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6"/>
          <p:cNvSpPr/>
          <p:nvPr/>
        </p:nvSpPr>
        <p:spPr>
          <a:xfrm>
            <a:off x="932760" y="2834640"/>
            <a:ext cx="239544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Repeated member details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Unclear membership status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Payments stored separately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Manual attendance registers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Scattered trainer and workout records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Incomplete maintenance history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49480" y="3008520"/>
            <a:ext cx="4384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Shape 7"/>
          <p:cNvSpPr/>
          <p:nvPr/>
        </p:nvSpPr>
        <p:spPr>
          <a:xfrm>
            <a:off x="4498920" y="1298520"/>
            <a:ext cx="7067880" cy="3986280"/>
          </a:xfrm>
          <a:prstGeom prst="roundRect">
            <a:avLst>
              <a:gd name="adj" fmla="val 1835"/>
            </a:avLst>
          </a:prstGeom>
          <a:solidFill>
            <a:srgbClr val="F0FBFA"/>
          </a:solidFill>
          <a:ln w="12700">
            <a:solidFill>
              <a:srgbClr val="B8E7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4773240" y="1554480"/>
            <a:ext cx="3017160" cy="347040"/>
          </a:xfrm>
          <a:prstGeom prst="roundRect">
            <a:avLst>
              <a:gd name="adj" fmla="val 21053"/>
            </a:avLst>
          </a:prstGeom>
          <a:solidFill>
            <a:srgbClr val="D9F6F3"/>
          </a:solidFill>
          <a:ln w="12700">
            <a:solidFill>
              <a:srgbClr val="D9F6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4773240" y="156348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8A6A8"/>
                </a:solidFill>
                <a:effectLst/>
                <a:uFillTx/>
                <a:latin typeface="Aptos"/>
              </a:rPr>
              <a:t>AFTER: GYMVERSE DATABASE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158840" y="151776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hape 10"/>
          <p:cNvSpPr/>
          <p:nvPr/>
        </p:nvSpPr>
        <p:spPr>
          <a:xfrm>
            <a:off x="4754880" y="211212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919400" y="2277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11"/>
          <p:cNvSpPr/>
          <p:nvPr/>
        </p:nvSpPr>
        <p:spPr>
          <a:xfrm>
            <a:off x="5321880" y="221292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Centralized member records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5321880" y="249624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One connected record for each member.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7992000" y="211212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156520" y="2277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14"/>
          <p:cNvSpPr/>
          <p:nvPr/>
        </p:nvSpPr>
        <p:spPr>
          <a:xfrm>
            <a:off x="8558640" y="221292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Accurate membership tracking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8558640" y="249624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Clear plan, subscription, renewal, and expiry data.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4754880" y="286200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19400" y="3026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7"/>
          <p:cNvSpPr/>
          <p:nvPr/>
        </p:nvSpPr>
        <p:spPr>
          <a:xfrm>
            <a:off x="5321880" y="296280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Organized payment history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5321880" y="324612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Payments linked to the correct member and subscription.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7992000" y="286200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156520" y="3026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20"/>
          <p:cNvSpPr/>
          <p:nvPr/>
        </p:nvSpPr>
        <p:spPr>
          <a:xfrm>
            <a:off x="8558640" y="296280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Clear trainer assignments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8558640" y="324612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Easy identification of trainer-member responsibility.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4754880" y="361188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919400" y="3776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3"/>
          <p:cNvSpPr/>
          <p:nvPr/>
        </p:nvSpPr>
        <p:spPr>
          <a:xfrm>
            <a:off x="5321880" y="371232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Better attendance &amp; classes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5321880" y="399600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Visits, schedules, bookings, trainers, and capacity connected.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5"/>
          <p:cNvSpPr/>
          <p:nvPr/>
        </p:nvSpPr>
        <p:spPr>
          <a:xfrm>
            <a:off x="7992000" y="361188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156520" y="3776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26"/>
          <p:cNvSpPr/>
          <p:nvPr/>
        </p:nvSpPr>
        <p:spPr>
          <a:xfrm>
            <a:off x="8558640" y="371232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Progress and diet history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7"/>
          <p:cNvSpPr/>
          <p:nvPr/>
        </p:nvSpPr>
        <p:spPr>
          <a:xfrm>
            <a:off x="8558640" y="399600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Measurements, goals, diets, and meals stored over 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8"/>
          <p:cNvSpPr/>
          <p:nvPr/>
        </p:nvSpPr>
        <p:spPr>
          <a:xfrm>
            <a:off x="4754880" y="436176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9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919400" y="4526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29"/>
          <p:cNvSpPr/>
          <p:nvPr/>
        </p:nvSpPr>
        <p:spPr>
          <a:xfrm>
            <a:off x="5321880" y="446220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Maintenance tracking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0"/>
          <p:cNvSpPr/>
          <p:nvPr/>
        </p:nvSpPr>
        <p:spPr>
          <a:xfrm>
            <a:off x="5321880" y="474588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Condition, repair cost, and service dates available.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1"/>
          <p:cNvSpPr/>
          <p:nvPr/>
        </p:nvSpPr>
        <p:spPr>
          <a:xfrm>
            <a:off x="7992000" y="4361760"/>
            <a:ext cx="2989800" cy="603000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1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8156520" y="4526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32"/>
          <p:cNvSpPr/>
          <p:nvPr/>
        </p:nvSpPr>
        <p:spPr>
          <a:xfrm>
            <a:off x="8558640" y="446220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Faster information retrieval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8558640" y="4745880"/>
            <a:ext cx="229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SQL queries can find useful gym information quickly.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4"/>
          <p:cNvSpPr/>
          <p:nvPr/>
        </p:nvSpPr>
        <p:spPr>
          <a:xfrm>
            <a:off x="612720" y="5468040"/>
            <a:ext cx="10954080" cy="849960"/>
          </a:xfrm>
          <a:prstGeom prst="roundRect">
            <a:avLst>
              <a:gd name="adj" fmla="val 8602"/>
            </a:avLst>
          </a:prstGeom>
          <a:solidFill>
            <a:srgbClr val="0B1F33"/>
          </a:solidFill>
          <a:ln w="12700">
            <a:solidFill>
              <a:srgbClr val="0B1F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1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59680" y="56692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35"/>
          <p:cNvSpPr/>
          <p:nvPr/>
        </p:nvSpPr>
        <p:spPr>
          <a:xfrm>
            <a:off x="1389960" y="55594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Societal relevance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6"/>
          <p:cNvSpPr/>
          <p:nvPr/>
        </p:nvSpPr>
        <p:spPr>
          <a:xfrm>
            <a:off x="2907720" y="5550480"/>
            <a:ext cx="82018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Helps small and local gyms move away from paper-based records, reduce errors and repeated work, support trainers with organized member histories, and maintain safer equipment-service records.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7"/>
          <p:cNvSpPr/>
          <p:nvPr/>
        </p:nvSpPr>
        <p:spPr>
          <a:xfrm>
            <a:off x="1389960" y="5952600"/>
            <a:ext cx="9673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CE9E7"/>
                </a:solidFill>
                <a:effectLst/>
                <a:uFillTx/>
                <a:latin typeface="Aptos"/>
              </a:rPr>
              <a:t>Practical need addressed: simple, low-cost, reliable digital record organization for accessible fitness services.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Num" idx="8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33EF5-B56A-41B3-B657-D9CA54BC252A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5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GymVerse Database Modules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Nine groups of related entities that solve specific gym-management problems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567000" y="133488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E8F8F7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567000" y="1334880"/>
            <a:ext cx="63720" cy="1371240"/>
          </a:xfrm>
          <a:prstGeom prst="rect">
            <a:avLst/>
          </a:prstGeom>
          <a:solidFill>
            <a:srgbClr val="18A6A8"/>
          </a:solidFill>
          <a:ln w="12700">
            <a:solidFill>
              <a:srgbClr val="18A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22520" y="1481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5"/>
          <p:cNvSpPr/>
          <p:nvPr/>
        </p:nvSpPr>
        <p:spPr>
          <a:xfrm>
            <a:off x="1078920" y="1435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Member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731520" y="177408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A6A8"/>
                </a:solidFill>
                <a:effectLst/>
                <a:uFillTx/>
                <a:latin typeface="Aptos"/>
              </a:rPr>
              <a:t>MEMBER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731520" y="210312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Stores profiles, contact details, joining date, and status.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4123800" y="133488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FFF4DD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9"/>
          <p:cNvSpPr/>
          <p:nvPr/>
        </p:nvSpPr>
        <p:spPr>
          <a:xfrm>
            <a:off x="4123800" y="1334880"/>
            <a:ext cx="63720" cy="1371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52320" y="140553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0"/>
          <p:cNvSpPr/>
          <p:nvPr/>
        </p:nvSpPr>
        <p:spPr>
          <a:xfrm>
            <a:off x="4636080" y="1435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Membership &amp; Payment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4288680" y="177408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59E0B"/>
                </a:solidFill>
                <a:effectLst/>
                <a:uFillTx/>
                <a:latin typeface="Aptos"/>
              </a:rPr>
              <a:t>MEMBERSHIP_PLAN • SUBSCRIPTION • PAYMENT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2"/>
          <p:cNvSpPr/>
          <p:nvPr/>
        </p:nvSpPr>
        <p:spPr>
          <a:xfrm>
            <a:off x="4288680" y="210312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Connects plans, dates, discounts, renewals, and payment history.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3"/>
          <p:cNvSpPr/>
          <p:nvPr/>
        </p:nvSpPr>
        <p:spPr>
          <a:xfrm>
            <a:off x="7680960" y="133488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F1EBFF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4"/>
          <p:cNvSpPr/>
          <p:nvPr/>
        </p:nvSpPr>
        <p:spPr>
          <a:xfrm>
            <a:off x="7680960" y="1334880"/>
            <a:ext cx="63720" cy="1371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36480" y="1481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15"/>
          <p:cNvSpPr/>
          <p:nvPr/>
        </p:nvSpPr>
        <p:spPr>
          <a:xfrm>
            <a:off x="8192880" y="1435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Trainer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6"/>
          <p:cNvSpPr/>
          <p:nvPr/>
        </p:nvSpPr>
        <p:spPr>
          <a:xfrm>
            <a:off x="7845480" y="177408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TRAINER • TRAINER_ASSIGNMENT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7845480" y="210312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Stores trainer details and member-trainer assignments.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530280" y="299916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9"/>
          <p:cNvSpPr/>
          <p:nvPr/>
        </p:nvSpPr>
        <p:spPr>
          <a:xfrm>
            <a:off x="567000" y="3017520"/>
            <a:ext cx="63720" cy="1371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2520" y="3087615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20"/>
          <p:cNvSpPr/>
          <p:nvPr/>
        </p:nvSpPr>
        <p:spPr>
          <a:xfrm>
            <a:off x="1078920" y="3117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Workout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731520" y="345636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3B82F6"/>
                </a:solidFill>
                <a:effectLst/>
                <a:uFillTx/>
                <a:latin typeface="Aptos"/>
              </a:rPr>
              <a:t>WORKOUT_PLAN • EXERCISE • WORKOUT_PLAN_EXERCISE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731520" y="378576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Organizes personalized workout plans and plan-specific exercise details.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3"/>
          <p:cNvSpPr/>
          <p:nvPr/>
        </p:nvSpPr>
        <p:spPr>
          <a:xfrm>
            <a:off x="4087080" y="299916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FCEEF3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4"/>
          <p:cNvSpPr/>
          <p:nvPr/>
        </p:nvSpPr>
        <p:spPr>
          <a:xfrm>
            <a:off x="4123800" y="3017520"/>
            <a:ext cx="63720" cy="1371240"/>
          </a:xfrm>
          <a:prstGeom prst="rect">
            <a:avLst/>
          </a:prstGeom>
          <a:solidFill>
            <a:srgbClr val="D94680"/>
          </a:solidFill>
          <a:ln w="12700">
            <a:solidFill>
              <a:srgbClr val="D946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279320" y="3163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25"/>
          <p:cNvSpPr/>
          <p:nvPr/>
        </p:nvSpPr>
        <p:spPr>
          <a:xfrm>
            <a:off x="4636080" y="3053520"/>
            <a:ext cx="255996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Class Management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6"/>
          <p:cNvSpPr/>
          <p:nvPr/>
        </p:nvSpPr>
        <p:spPr>
          <a:xfrm>
            <a:off x="4714874" y="3537540"/>
            <a:ext cx="2426445" cy="147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D94680"/>
                </a:solidFill>
                <a:effectLst/>
                <a:uFillTx/>
                <a:latin typeface="Aptos"/>
              </a:rPr>
              <a:t>FITNESS_CLASS • CLASS_SCHEDULE • CLASS_BOOKING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7"/>
          <p:cNvSpPr/>
          <p:nvPr/>
        </p:nvSpPr>
        <p:spPr>
          <a:xfrm>
            <a:off x="4288680" y="3894840"/>
            <a:ext cx="2852640" cy="40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Stores class types, sessions, trainers, capacity, and bookings.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8"/>
          <p:cNvSpPr/>
          <p:nvPr/>
        </p:nvSpPr>
        <p:spPr>
          <a:xfrm>
            <a:off x="7680960" y="301752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E8F8F7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9"/>
          <p:cNvSpPr/>
          <p:nvPr/>
        </p:nvSpPr>
        <p:spPr>
          <a:xfrm>
            <a:off x="7680960" y="3017520"/>
            <a:ext cx="63720" cy="1371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36480" y="3163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30"/>
          <p:cNvSpPr/>
          <p:nvPr/>
        </p:nvSpPr>
        <p:spPr>
          <a:xfrm>
            <a:off x="8192880" y="3117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Attendance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7845480" y="345636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ATTENDANCE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7845480" y="378576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Stores attendance date, check-in time, and check-out time.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3"/>
          <p:cNvSpPr/>
          <p:nvPr/>
        </p:nvSpPr>
        <p:spPr>
          <a:xfrm>
            <a:off x="567000" y="470016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EAF8EF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4"/>
          <p:cNvSpPr/>
          <p:nvPr/>
        </p:nvSpPr>
        <p:spPr>
          <a:xfrm>
            <a:off x="567000" y="4700160"/>
            <a:ext cx="63720" cy="1371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22520" y="4782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35"/>
          <p:cNvSpPr/>
          <p:nvPr/>
        </p:nvSpPr>
        <p:spPr>
          <a:xfrm>
            <a:off x="1078920" y="48006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Progress &amp; Diet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6"/>
          <p:cNvSpPr/>
          <p:nvPr/>
        </p:nvSpPr>
        <p:spPr>
          <a:xfrm>
            <a:off x="731520" y="513900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C55E"/>
                </a:solidFill>
                <a:effectLst/>
                <a:uFillTx/>
                <a:latin typeface="Aptos"/>
              </a:rPr>
              <a:t>PROGRESS_RECORD • DIET_PLAN • DIET_MEAL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7"/>
          <p:cNvSpPr/>
          <p:nvPr/>
        </p:nvSpPr>
        <p:spPr>
          <a:xfrm>
            <a:off x="731520" y="546804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Connects measurements, progress history, nutrition targets, and meals.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8"/>
          <p:cNvSpPr/>
          <p:nvPr/>
        </p:nvSpPr>
        <p:spPr>
          <a:xfrm>
            <a:off x="4123800" y="470016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FFF7D6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9"/>
          <p:cNvSpPr/>
          <p:nvPr/>
        </p:nvSpPr>
        <p:spPr>
          <a:xfrm>
            <a:off x="4123800" y="4700160"/>
            <a:ext cx="63720" cy="13712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7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279320" y="4736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40"/>
          <p:cNvSpPr/>
          <p:nvPr/>
        </p:nvSpPr>
        <p:spPr>
          <a:xfrm>
            <a:off x="4636080" y="48006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Equipment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1"/>
          <p:cNvSpPr/>
          <p:nvPr/>
        </p:nvSpPr>
        <p:spPr>
          <a:xfrm>
            <a:off x="4288680" y="513900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7791F"/>
                </a:solidFill>
                <a:effectLst/>
                <a:uFillTx/>
                <a:latin typeface="Aptos"/>
              </a:rPr>
              <a:t>EQUIPMENT • EQUIPMENT_MAINTENANCE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2"/>
          <p:cNvSpPr/>
          <p:nvPr/>
        </p:nvSpPr>
        <p:spPr>
          <a:xfrm>
            <a:off x="4288680" y="546804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Tracks equipment, condition, availability, repairs, and service history.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3"/>
          <p:cNvSpPr/>
          <p:nvPr/>
        </p:nvSpPr>
        <p:spPr>
          <a:xfrm>
            <a:off x="7680960" y="4700160"/>
            <a:ext cx="3181680" cy="1371240"/>
          </a:xfrm>
          <a:prstGeom prst="roundRect">
            <a:avLst>
              <a:gd name="adj" fmla="val 5333"/>
            </a:avLst>
          </a:prstGeom>
          <a:solidFill>
            <a:srgbClr val="FDECE7"/>
          </a:solidFill>
          <a:ln w="127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4"/>
          <p:cNvSpPr/>
          <p:nvPr/>
        </p:nvSpPr>
        <p:spPr>
          <a:xfrm>
            <a:off x="7680960" y="4700160"/>
            <a:ext cx="63720" cy="1371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 8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836480" y="4846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45"/>
          <p:cNvSpPr/>
          <p:nvPr/>
        </p:nvSpPr>
        <p:spPr>
          <a:xfrm>
            <a:off x="8192880" y="48006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Feedback &amp; Notifications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6"/>
          <p:cNvSpPr/>
          <p:nvPr/>
        </p:nvSpPr>
        <p:spPr>
          <a:xfrm>
            <a:off x="7845480" y="5139000"/>
            <a:ext cx="2852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76F51"/>
                </a:solidFill>
                <a:effectLst/>
                <a:uFillTx/>
                <a:latin typeface="Aptos"/>
              </a:rPr>
              <a:t>FEEDBACK • NOTIFICATION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7"/>
          <p:cNvSpPr/>
          <p:nvPr/>
        </p:nvSpPr>
        <p:spPr>
          <a:xfrm>
            <a:off x="7845480" y="5468040"/>
            <a:ext cx="285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Stores member feedback, reminders, notices, and communication history.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8"/>
          <p:cNvSpPr/>
          <p:nvPr/>
        </p:nvSpPr>
        <p:spPr>
          <a:xfrm>
            <a:off x="4837320" y="6144840"/>
            <a:ext cx="2514240" cy="310680"/>
          </a:xfrm>
          <a:prstGeom prst="roundRect">
            <a:avLst>
              <a:gd name="adj" fmla="val 23529"/>
            </a:avLst>
          </a:prstGeom>
          <a:solidFill>
            <a:srgbClr val="0B1F33"/>
          </a:solidFill>
          <a:ln w="12700">
            <a:solidFill>
              <a:srgbClr val="0B1F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9"/>
          <p:cNvSpPr/>
          <p:nvPr/>
        </p:nvSpPr>
        <p:spPr>
          <a:xfrm>
            <a:off x="4956120" y="61995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All modules connect through shared keys and relationships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Num" idx="9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8C4E7B-ECBC-4D57-AF96-2E287ED388AA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557712" y="329328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Project Plan and Implementation Timeline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566928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Four-week database-first process from problem analysis to SQL testing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594360" y="1389960"/>
            <a:ext cx="2413800" cy="4160160"/>
          </a:xfrm>
          <a:prstGeom prst="roundRect">
            <a:avLst>
              <a:gd name="adj" fmla="val 3030"/>
            </a:avLst>
          </a:prstGeom>
          <a:solidFill>
            <a:srgbClr val="FFF4DD"/>
          </a:solidFill>
          <a:ln w="12700">
            <a:solidFill>
              <a:srgbClr val="FFF4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758880" y="1600200"/>
            <a:ext cx="502560" cy="502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758880" y="16732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277000" y="15728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6"/>
          <p:cNvSpPr/>
          <p:nvPr/>
        </p:nvSpPr>
        <p:spPr>
          <a:xfrm>
            <a:off x="1371600" y="16459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59E0B"/>
                </a:solidFill>
                <a:effectLst/>
                <a:uFillTx/>
                <a:latin typeface="Aptos"/>
              </a:rPr>
              <a:t>TASK 1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758880" y="2277000"/>
            <a:ext cx="2084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Requirement Analysis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8"/>
          <p:cNvSpPr/>
          <p:nvPr/>
        </p:nvSpPr>
        <p:spPr>
          <a:xfrm>
            <a:off x="822960" y="2971800"/>
            <a:ext cx="19656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Study gym record-management problems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Define scope and data requirements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Identify major entities and attributes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9"/>
          <p:cNvSpPr/>
          <p:nvPr/>
        </p:nvSpPr>
        <p:spPr>
          <a:xfrm>
            <a:off x="822960" y="4535280"/>
            <a:ext cx="1938240" cy="360"/>
          </a:xfrm>
          <a:prstGeom prst="line">
            <a:avLst/>
          </a:prstGeom>
          <a:ln w="12700">
            <a:solidFill>
              <a:srgbClr val="C7D4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831960" y="464508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59E0B"/>
                </a:solidFill>
                <a:effectLst/>
                <a:uFillTx/>
                <a:latin typeface="Aptos"/>
              </a:rPr>
              <a:t>Outcome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1"/>
          <p:cNvSpPr/>
          <p:nvPr/>
        </p:nvSpPr>
        <p:spPr>
          <a:xfrm>
            <a:off x="831960" y="487368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Clear understanding of what the database must manage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3456360" y="1389960"/>
            <a:ext cx="2413800" cy="4160160"/>
          </a:xfrm>
          <a:prstGeom prst="roundRect">
            <a:avLst>
              <a:gd name="adj" fmla="val 3030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3"/>
          <p:cNvSpPr/>
          <p:nvPr/>
        </p:nvSpPr>
        <p:spPr>
          <a:xfrm>
            <a:off x="3620880" y="1600200"/>
            <a:ext cx="502560" cy="502560"/>
          </a:xfrm>
          <a:prstGeom prst="ellipse">
            <a:avLst/>
          </a:prstGeom>
          <a:solidFill>
            <a:srgbClr val="18A6A8"/>
          </a:solidFill>
          <a:ln w="12700">
            <a:solidFill>
              <a:srgbClr val="18A6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4"/>
          <p:cNvSpPr/>
          <p:nvPr/>
        </p:nvSpPr>
        <p:spPr>
          <a:xfrm>
            <a:off x="3620880" y="16732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139000" y="15728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15"/>
          <p:cNvSpPr/>
          <p:nvPr/>
        </p:nvSpPr>
        <p:spPr>
          <a:xfrm>
            <a:off x="4233600" y="16459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8A6A8"/>
                </a:solidFill>
                <a:effectLst/>
                <a:uFillTx/>
                <a:latin typeface="Aptos"/>
              </a:rPr>
              <a:t>TASK 2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3620880" y="2277000"/>
            <a:ext cx="2084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Conceptual ER Design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7"/>
          <p:cNvSpPr/>
          <p:nvPr/>
        </p:nvSpPr>
        <p:spPr>
          <a:xfrm>
            <a:off x="3684960" y="2971800"/>
            <a:ext cx="19656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Finalize entities and attributes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Choose keys, relationships, and cardinalities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Create the ER model in </a:t>
            </a:r>
            <a:r>
              <a:rPr lang="en-US" sz="1400" b="0" u="none" strike="noStrike" dirty="0" err="1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TerraER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8"/>
          <p:cNvSpPr/>
          <p:nvPr/>
        </p:nvSpPr>
        <p:spPr>
          <a:xfrm>
            <a:off x="3684960" y="4535280"/>
            <a:ext cx="1938600" cy="360"/>
          </a:xfrm>
          <a:prstGeom prst="line">
            <a:avLst/>
          </a:prstGeom>
          <a:ln w="12700">
            <a:solidFill>
              <a:srgbClr val="C7D4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3694320" y="464508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8A6A8"/>
                </a:solidFill>
                <a:effectLst/>
                <a:uFillTx/>
                <a:latin typeface="Aptos"/>
              </a:rPr>
              <a:t>Outcome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0"/>
          <p:cNvSpPr/>
          <p:nvPr/>
        </p:nvSpPr>
        <p:spPr>
          <a:xfrm>
            <a:off x="3694320" y="487368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Conceptual representation of connected gym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1"/>
          <p:cNvSpPr/>
          <p:nvPr/>
        </p:nvSpPr>
        <p:spPr>
          <a:xfrm>
            <a:off x="6318360" y="1389960"/>
            <a:ext cx="2413800" cy="4160160"/>
          </a:xfrm>
          <a:prstGeom prst="roundRect">
            <a:avLst>
              <a:gd name="adj" fmla="val 3030"/>
            </a:avLst>
          </a:prstGeom>
          <a:solidFill>
            <a:srgbClr val="F1EBFF"/>
          </a:solidFill>
          <a:ln w="12700">
            <a:solidFill>
              <a:srgbClr val="F1E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2"/>
          <p:cNvSpPr/>
          <p:nvPr/>
        </p:nvSpPr>
        <p:spPr>
          <a:xfrm>
            <a:off x="6483240" y="1600200"/>
            <a:ext cx="502560" cy="502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3"/>
          <p:cNvSpPr/>
          <p:nvPr/>
        </p:nvSpPr>
        <p:spPr>
          <a:xfrm>
            <a:off x="6483240" y="16732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01000" y="15728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24"/>
          <p:cNvSpPr/>
          <p:nvPr/>
        </p:nvSpPr>
        <p:spPr>
          <a:xfrm>
            <a:off x="7095600" y="16459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7C3AED"/>
                </a:solidFill>
                <a:effectLst/>
                <a:uFillTx/>
                <a:latin typeface="Aptos"/>
              </a:rPr>
              <a:t>TASK 3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5"/>
          <p:cNvSpPr/>
          <p:nvPr/>
        </p:nvSpPr>
        <p:spPr>
          <a:xfrm>
            <a:off x="6483240" y="2277000"/>
            <a:ext cx="2084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Schema &amp; Normalization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6"/>
          <p:cNvSpPr/>
          <p:nvPr/>
        </p:nvSpPr>
        <p:spPr>
          <a:xfrm>
            <a:off x="6546960" y="2971800"/>
            <a:ext cx="19656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Convert entities into relations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Resolve M:N relationships with junction tables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Normalize the schema up to 3NF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7"/>
          <p:cNvSpPr/>
          <p:nvPr/>
        </p:nvSpPr>
        <p:spPr>
          <a:xfrm>
            <a:off x="6546960" y="4535280"/>
            <a:ext cx="1938600" cy="360"/>
          </a:xfrm>
          <a:prstGeom prst="line">
            <a:avLst/>
          </a:prstGeom>
          <a:ln w="12700">
            <a:solidFill>
              <a:srgbClr val="C7D4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8"/>
          <p:cNvSpPr/>
          <p:nvPr/>
        </p:nvSpPr>
        <p:spPr>
          <a:xfrm>
            <a:off x="6556320" y="464508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Outcome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9"/>
          <p:cNvSpPr/>
          <p:nvPr/>
        </p:nvSpPr>
        <p:spPr>
          <a:xfrm>
            <a:off x="6556320" y="487368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Structured relational design with reduced redundancy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0"/>
          <p:cNvSpPr/>
          <p:nvPr/>
        </p:nvSpPr>
        <p:spPr>
          <a:xfrm>
            <a:off x="9180720" y="1389960"/>
            <a:ext cx="2413800" cy="4160160"/>
          </a:xfrm>
          <a:prstGeom prst="roundRect">
            <a:avLst>
              <a:gd name="adj" fmla="val 303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1"/>
          <p:cNvSpPr/>
          <p:nvPr/>
        </p:nvSpPr>
        <p:spPr>
          <a:xfrm>
            <a:off x="9345240" y="1600200"/>
            <a:ext cx="502560" cy="5025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2"/>
          <p:cNvSpPr/>
          <p:nvPr/>
        </p:nvSpPr>
        <p:spPr>
          <a:xfrm>
            <a:off x="9345240" y="16732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863000" y="15728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 33"/>
          <p:cNvSpPr/>
          <p:nvPr/>
        </p:nvSpPr>
        <p:spPr>
          <a:xfrm>
            <a:off x="9957960" y="1645920"/>
            <a:ext cx="731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3B82F6"/>
                </a:solidFill>
                <a:effectLst/>
                <a:uFillTx/>
                <a:latin typeface="Aptos"/>
              </a:rPr>
              <a:t>TASK 4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4"/>
          <p:cNvSpPr/>
          <p:nvPr/>
        </p:nvSpPr>
        <p:spPr>
          <a:xfrm>
            <a:off x="9345240" y="2277000"/>
            <a:ext cx="2084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SQL Design &amp; Testing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5"/>
          <p:cNvSpPr/>
          <p:nvPr/>
        </p:nvSpPr>
        <p:spPr>
          <a:xfrm>
            <a:off x="9409320" y="2971800"/>
            <a:ext cx="1965600" cy="144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B82F6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Create tables, keys, and constraints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B82F6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Insert a small set of sample records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B82F6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Run basic SQL queries and verify 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6"/>
          <p:cNvSpPr/>
          <p:nvPr/>
        </p:nvSpPr>
        <p:spPr>
          <a:xfrm>
            <a:off x="9408960" y="4535280"/>
            <a:ext cx="1938600" cy="360"/>
          </a:xfrm>
          <a:prstGeom prst="line">
            <a:avLst/>
          </a:prstGeom>
          <a:ln w="12700">
            <a:solidFill>
              <a:srgbClr val="C7D4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7"/>
          <p:cNvSpPr/>
          <p:nvPr/>
        </p:nvSpPr>
        <p:spPr>
          <a:xfrm>
            <a:off x="9418320" y="4645080"/>
            <a:ext cx="685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B82F6"/>
                </a:solidFill>
                <a:effectLst/>
                <a:uFillTx/>
                <a:latin typeface="Aptos"/>
              </a:rPr>
              <a:t>Outcome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8"/>
          <p:cNvSpPr/>
          <p:nvPr/>
        </p:nvSpPr>
        <p:spPr>
          <a:xfrm>
            <a:off x="9418320" y="487368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Tested database structure for GymVerse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173040" y="3246120"/>
            <a:ext cx="22824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035040" y="3246120"/>
            <a:ext cx="22824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Image 6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897040" y="3246120"/>
            <a:ext cx="22824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39"/>
          <p:cNvSpPr/>
          <p:nvPr/>
        </p:nvSpPr>
        <p:spPr>
          <a:xfrm>
            <a:off x="594360" y="5751720"/>
            <a:ext cx="10999800" cy="45684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0"/>
          <p:cNvSpPr/>
          <p:nvPr/>
        </p:nvSpPr>
        <p:spPr>
          <a:xfrm>
            <a:off x="868680" y="5852160"/>
            <a:ext cx="104238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Gym problems  →  Data requirements  →  ER model  →  Relational schema  →  Normalized tables  →  SQL testing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sldNum" idx="10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BE633E-C76A-4941-803E-9BBDD365874C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7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530280" y="311040"/>
            <a:ext cx="6949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1F33"/>
                </a:solidFill>
                <a:effectLst/>
                <a:uFillTx/>
                <a:latin typeface="Aptos Display"/>
                <a:ea typeface="Aptos Display"/>
              </a:rPr>
              <a:t>ER Model Overview — Appendix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48640" y="758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How the main GymVerse records are connected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"/>
          <p:cNvSpPr/>
          <p:nvPr/>
        </p:nvSpPr>
        <p:spPr>
          <a:xfrm>
            <a:off x="548640" y="1078920"/>
            <a:ext cx="1104588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/mnt/data/gymverse_relationship_overview.png"/>
          <p:cNvPicPr/>
          <p:nvPr/>
        </p:nvPicPr>
        <p:blipFill>
          <a:blip r:embed="rId3"/>
          <a:stretch/>
        </p:blipFill>
        <p:spPr>
          <a:xfrm>
            <a:off x="1954860" y="1230172"/>
            <a:ext cx="5524500" cy="516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Shape 4"/>
          <p:cNvSpPr/>
          <p:nvPr/>
        </p:nvSpPr>
        <p:spPr>
          <a:xfrm>
            <a:off x="9235440" y="1243440"/>
            <a:ext cx="2331360" cy="5166000"/>
          </a:xfrm>
          <a:prstGeom prst="roundRect">
            <a:avLst>
              <a:gd name="adj" fmla="val 3137"/>
            </a:avLst>
          </a:prstGeom>
          <a:solidFill>
            <a:srgbClr val="F1F6FA"/>
          </a:solidFill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5"/>
          <p:cNvSpPr/>
          <p:nvPr/>
        </p:nvSpPr>
        <p:spPr>
          <a:xfrm>
            <a:off x="9464040" y="148140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0B1F33"/>
                </a:solidFill>
                <a:effectLst/>
                <a:uFillTx/>
                <a:latin typeface="Aptos"/>
              </a:rPr>
              <a:t>Key relationship rules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6"/>
          <p:cNvSpPr/>
          <p:nvPr/>
        </p:nvSpPr>
        <p:spPr>
          <a:xfrm>
            <a:off x="9464040" y="1729904"/>
            <a:ext cx="1965600" cy="2722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A member can have many subscriptions over time.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Each subscription selects one membership plan.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A subscription can have multiple payment records.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Workout–exercise M:N is resolved through WORKOUT_PLAN_EXERCISE.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Member–class M:N is resolved through CLASS_BOOKING.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Member–trainer M:N is resolved through TRAINER_ASSIGNMENT.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8A6A8"/>
                </a:solidFill>
                <a:effectLst/>
                <a:uFillTx/>
                <a:latin typeface="Aptos"/>
                <a:ea typeface="Aptos"/>
              </a:rPr>
              <a:t>● </a:t>
            </a:r>
            <a:r>
              <a:rPr lang="en-US" sz="1050" b="0" u="none" strike="noStrike" dirty="0">
                <a:solidFill>
                  <a:srgbClr val="1F2937"/>
                </a:solidFill>
                <a:effectLst/>
                <a:uFillTx/>
                <a:latin typeface="Aptos"/>
                <a:ea typeface="Aptos"/>
              </a:rPr>
              <a:t>Equipment can have many maintenance records.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7"/>
          <p:cNvSpPr/>
          <p:nvPr/>
        </p:nvSpPr>
        <p:spPr>
          <a:xfrm>
            <a:off x="9464040" y="4727160"/>
            <a:ext cx="1828800" cy="360"/>
          </a:xfrm>
          <a:prstGeom prst="line">
            <a:avLst/>
          </a:prstGeom>
          <a:ln w="12700">
            <a:solidFill>
              <a:srgbClr val="D8E1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8"/>
          <p:cNvSpPr/>
          <p:nvPr/>
        </p:nvSpPr>
        <p:spPr>
          <a:xfrm>
            <a:off x="9464040" y="485532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F33"/>
                </a:solidFill>
                <a:effectLst/>
                <a:uFillTx/>
                <a:latin typeface="Aptos"/>
              </a:rPr>
              <a:t>Notation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9"/>
          <p:cNvSpPr/>
          <p:nvPr/>
        </p:nvSpPr>
        <p:spPr>
          <a:xfrm>
            <a:off x="9528120" y="5193720"/>
            <a:ext cx="438480" cy="219240"/>
          </a:xfrm>
          <a:prstGeom prst="roundRect">
            <a:avLst>
              <a:gd name="adj" fmla="val 33333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0"/>
          <p:cNvSpPr/>
          <p:nvPr/>
        </p:nvSpPr>
        <p:spPr>
          <a:xfrm>
            <a:off x="9528120" y="520308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18A6A8"/>
                </a:solidFill>
                <a:effectLst/>
                <a:uFillTx/>
                <a:latin typeface="Aptos"/>
              </a:rPr>
              <a:t>1:N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1"/>
          <p:cNvSpPr/>
          <p:nvPr/>
        </p:nvSpPr>
        <p:spPr>
          <a:xfrm>
            <a:off x="10058400" y="5203080"/>
            <a:ext cx="117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One-to-many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2"/>
          <p:cNvSpPr/>
          <p:nvPr/>
        </p:nvSpPr>
        <p:spPr>
          <a:xfrm>
            <a:off x="9528120" y="5477400"/>
            <a:ext cx="438480" cy="219240"/>
          </a:xfrm>
          <a:prstGeom prst="roundRect">
            <a:avLst>
              <a:gd name="adj" fmla="val 33333"/>
            </a:avLst>
          </a:prstGeom>
          <a:solidFill>
            <a:srgbClr val="E8F8F7"/>
          </a:solidFill>
          <a:ln w="12700">
            <a:solidFill>
              <a:srgbClr val="E8F8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3"/>
          <p:cNvSpPr/>
          <p:nvPr/>
        </p:nvSpPr>
        <p:spPr>
          <a:xfrm>
            <a:off x="9528120" y="54864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18A6A8"/>
                </a:solidFill>
                <a:effectLst/>
                <a:uFillTx/>
                <a:latin typeface="Aptos"/>
              </a:rPr>
              <a:t>M:N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10058400" y="5486400"/>
            <a:ext cx="117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Many-to-many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5"/>
          <p:cNvSpPr/>
          <p:nvPr/>
        </p:nvSpPr>
        <p:spPr>
          <a:xfrm>
            <a:off x="9528120" y="5760720"/>
            <a:ext cx="438480" cy="219240"/>
          </a:xfrm>
          <a:prstGeom prst="roundRect">
            <a:avLst>
              <a:gd name="adj" fmla="val 33333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6"/>
          <p:cNvSpPr/>
          <p:nvPr/>
        </p:nvSpPr>
        <p:spPr>
          <a:xfrm>
            <a:off x="9528120" y="576972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3B82F6"/>
                </a:solidFill>
                <a:effectLst/>
                <a:uFillTx/>
                <a:latin typeface="Aptos"/>
              </a:rPr>
              <a:t>PK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10058400" y="5769720"/>
            <a:ext cx="117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Primary key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8"/>
          <p:cNvSpPr/>
          <p:nvPr/>
        </p:nvSpPr>
        <p:spPr>
          <a:xfrm>
            <a:off x="9528120" y="6044040"/>
            <a:ext cx="438480" cy="219240"/>
          </a:xfrm>
          <a:prstGeom prst="roundRect">
            <a:avLst>
              <a:gd name="adj" fmla="val 33333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9"/>
          <p:cNvSpPr/>
          <p:nvPr/>
        </p:nvSpPr>
        <p:spPr>
          <a:xfrm>
            <a:off x="9528120" y="60534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dirty="0">
                <a:solidFill>
                  <a:srgbClr val="3B82F6"/>
                </a:solidFill>
                <a:effectLst/>
                <a:uFillTx/>
                <a:latin typeface="Aptos"/>
              </a:rPr>
              <a:t>FK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0"/>
          <p:cNvSpPr/>
          <p:nvPr/>
        </p:nvSpPr>
        <p:spPr>
          <a:xfrm>
            <a:off x="10058400" y="6053400"/>
            <a:ext cx="117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Foreign key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1"/>
          <p:cNvSpPr/>
          <p:nvPr/>
        </p:nvSpPr>
        <p:spPr>
          <a:xfrm>
            <a:off x="9436680" y="6035040"/>
            <a:ext cx="1938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7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 type="sldNum" idx="11"/>
          </p:nvPr>
        </p:nvSpPr>
        <p:spPr>
          <a:xfrm>
            <a:off x="11685960" y="651060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08375-8602-40A3-95A4-FEE41747F6D4}" type="slidenum">
              <a:rPr lang="en-US" sz="800" b="0" u="none" strike="noStrike">
                <a:solidFill>
                  <a:srgbClr val="5B677A"/>
                </a:solidFill>
                <a:effectLst/>
                <a:uFillTx/>
                <a:latin typeface="Aptos"/>
              </a:rPr>
              <a:t>8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DB12D7-B6AD-F7E4-F3E2-0F4942CC3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040" y="1127654"/>
            <a:ext cx="7742080" cy="5418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1266</Words>
  <Application>Microsoft Office PowerPoint</Application>
  <PresentationFormat>Widescreen</PresentationFormat>
  <Paragraphs>222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</cp:lastModifiedBy>
  <cp:revision>7</cp:revision>
  <dcterms:modified xsi:type="dcterms:W3CDTF">2026-08-03T09:08:48Z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2026-08-02T11:31:03Z</dcterms:created>
  <dc:creator>OpenAI</dc:creator>
  <dc:description/>
  <dc:language>en-US</dc:language>
  <cp:lastModifiedBy>OpenAI</cp:lastModifiedBy>
  <dcterms:modified xsi:type="dcterms:W3CDTF">2026-08-02T11:31:03Z</dcterms:modified>
  <cp:revision>1</cp:revision>
  <dc:subject>GymVerse DBMS Mini Project</dc:subject>
  <dc:title>GymVerse - The Digital Transformation of Fitness Management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