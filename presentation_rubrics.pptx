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xlsx" ContentType="application/vnd.openxmlformats-officedocument.spreadsheetml.sheet"/>
  <Override PartName="/ppt/slideLayouts/slideLayout10.xml" ContentType="application/vnd.openxmlformats-officedocument.presentationml.slideLayout+xml"/>
  <Override PartName="/ppt/presentation.xml" ContentType="application/vnd.openxmlformats-officedocument.presentationml.presentation.main+xml"/>
  <Override PartName="/ppt/notesSlides/notesSlide9.xml" ContentType="application/vnd.openxmlformats-officedocument.presentationml.notesSlide+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3"/>
  </p:notesMasterIdLst>
  <p:sldIdLst>
    <p:sldId id="256" r:id="rId4"/>
    <p:sldId id="257" r:id="rId5"/>
    <p:sldId id="258" r:id="rId6"/>
    <p:sldId id="259" r:id="rId7"/>
    <p:sldId id="260" r:id="rId8"/>
    <p:sldId id="261" r:id="rId9"/>
    <p:sldId id="262" r:id="rId10"/>
    <p:sldId id="263" r:id="rId11"/>
    <p:sldId id="264" r:id="rId12"/>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presProps" Target="presProps.xml" /><Relationship Id="rId15" Type="http://schemas.openxmlformats.org/officeDocument/2006/relationships/tableStyles" Target="tableStyles.xml" /><Relationship Id="rId16"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0"/>
  <mc:AlternateContent>
    <mc:Choice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No indexes</c:v>
                </c:pt>
              </c:strCache>
            </c:strRef>
          </c:tx>
          <c:spPr bwMode="auto">
            <a:prstGeom prst="rect">
              <a:avLst/>
            </a:prstGeom>
            <a:solidFill>
              <a:srgbClr val="D1D5DB"/>
            </a:solidFill>
            <a:ln>
              <a:noFill/>
            </a:ln>
          </c:spPr>
          <c:cat>
            <c:strRef>
              <c:f>Sheet1!$A$2:$A$5</c:f>
              <c:strCache>
                <c:ptCount val="4"/>
                <c:pt idx="0">
                  <c:v>Payment history</c:v>
                </c:pt>
                <c:pt idx="1">
                  <c:v>Subscriptions list</c:v>
                </c:pt>
                <c:pt idx="2">
                  <c:v>Attendance log</c:v>
                </c:pt>
                <c:pt idx="3">
                  <c:v>Member search</c:v>
                </c:pt>
              </c:strCache>
            </c:strRef>
          </c:cat>
          <c:val>
            <c:numRef>
              <c:f>Sheet1!$B$2:$B$5</c:f>
              <c:numCache>
                <c:formatCode>General</c:formatCode>
                <c:ptCount val="4"/>
                <c:pt idx="0">
                  <c:v>99.052</c:v>
                </c:pt>
                <c:pt idx="1">
                  <c:v>170.561</c:v>
                </c:pt>
                <c:pt idx="2">
                  <c:v>277.291</c:v>
                </c:pt>
                <c:pt idx="3">
                  <c:v>214.884</c:v>
                </c:pt>
              </c:numCache>
            </c:numRef>
          </c:val>
        </c:ser>
        <c:ser>
          <c:idx val="1"/>
          <c:order val="1"/>
          <c:tx>
            <c:strRef>
              <c:f>Sheet1!$C$1</c:f>
              <c:strCache>
                <c:ptCount val="1"/>
                <c:pt idx="0">
                  <c:v>Original indexes</c:v>
                </c:pt>
              </c:strCache>
            </c:strRef>
          </c:tx>
          <c:spPr bwMode="auto">
            <a:prstGeom prst="rect">
              <a:avLst/>
            </a:prstGeom>
            <a:solidFill>
              <a:srgbClr val="9CA3AF"/>
            </a:solidFill>
            <a:ln>
              <a:noFill/>
            </a:ln>
          </c:spPr>
          <c:cat>
            <c:strRef>
              <c:f>Sheet1!$A$2:$A$5</c:f>
              <c:strCache>
                <c:ptCount val="4"/>
                <c:pt idx="0">
                  <c:v>Payment history</c:v>
                </c:pt>
                <c:pt idx="1">
                  <c:v>Subscriptions list</c:v>
                </c:pt>
                <c:pt idx="2">
                  <c:v>Attendance log</c:v>
                </c:pt>
                <c:pt idx="3">
                  <c:v>Member search</c:v>
                </c:pt>
              </c:strCache>
            </c:strRef>
          </c:cat>
          <c:val>
            <c:numRef>
              <c:f>Sheet1!$C$2:$C$5</c:f>
              <c:numCache>
                <c:formatCode>General</c:formatCode>
                <c:ptCount val="4"/>
                <c:pt idx="0">
                  <c:v>1.654</c:v>
                </c:pt>
                <c:pt idx="1">
                  <c:v>147.185</c:v>
                </c:pt>
                <c:pt idx="2">
                  <c:v>374.443</c:v>
                </c:pt>
                <c:pt idx="3">
                  <c:v>225.905</c:v>
                </c:pt>
              </c:numCache>
            </c:numRef>
          </c:val>
        </c:ser>
        <c:ser>
          <c:idx val="2"/>
          <c:order val="2"/>
          <c:tx>
            <c:strRef>
              <c:f>Sheet1!$D$1</c:f>
              <c:strCache>
                <c:ptCount val="1"/>
                <c:pt idx="0">
                  <c:v>Optimised (GymVerse)</c:v>
                </c:pt>
              </c:strCache>
            </c:strRef>
          </c:tx>
          <c:spPr bwMode="auto">
            <a:prstGeom prst="rect">
              <a:avLst/>
            </a:prstGeom>
            <a:solidFill>
              <a:srgbClr val="2563EB"/>
            </a:solidFill>
            <a:ln>
              <a:noFill/>
            </a:ln>
          </c:spPr>
          <c:dLbls>
            <c:dLblPos val="outEnd"/>
            <c:numFmt formatCode="0.0&quot; ms&quot;" sourceLinked="0"/>
            <c:showBubbleSize val="0"/>
            <c:showCatName val="0"/>
            <c:showLeaderLines val="1"/>
            <c:showLegendKey val="0"/>
            <c:showPercent val="0"/>
            <c:showSerName val="0"/>
            <c:showVal val="1"/>
            <c:txPr>
              <a:bodyPr/>
              <a:lstStyle/>
              <a:p>
                <a:pPr>
                  <a:defRPr sz="1600" b="1">
                    <a:solidFill>
                      <a:srgbClr val="2563EB"/>
                    </a:solidFill>
                  </a:defRPr>
                </a:pPr>
                <a:endParaRPr/>
              </a:p>
            </c:txPr>
          </c:dLbls>
          <c:cat>
            <c:strRef>
              <c:f>Sheet1!$A$2:$A$5</c:f>
              <c:strCache>
                <c:ptCount val="4"/>
                <c:pt idx="0">
                  <c:v>Payment history</c:v>
                </c:pt>
                <c:pt idx="1">
                  <c:v>Subscriptions list</c:v>
                </c:pt>
                <c:pt idx="2">
                  <c:v>Attendance log</c:v>
                </c:pt>
                <c:pt idx="3">
                  <c:v>Member search</c:v>
                </c:pt>
              </c:strCache>
            </c:strRef>
          </c:cat>
          <c:val>
            <c:numRef>
              <c:f>Sheet1!$D$2:$D$5</c:f>
              <c:numCache>
                <c:formatCode>General</c:formatCode>
                <c:ptCount val="4"/>
                <c:pt idx="0">
                  <c:v>0.367</c:v>
                </c:pt>
                <c:pt idx="1">
                  <c:v>2.742</c:v>
                </c:pt>
                <c:pt idx="2">
                  <c:v>8.369</c:v>
                </c:pt>
                <c:pt idx="3">
                  <c:v>2.784</c:v>
                </c:pt>
              </c:numCache>
            </c:numRef>
          </c:val>
        </c:ser>
        <c:dLbls>
          <c:showBubbleSize val="0"/>
          <c:showCatName val="0"/>
          <c:showLegendKey val="0"/>
          <c:showPercent val="0"/>
          <c:showSerName val="0"/>
          <c:showVal val="0"/>
        </c:dLbls>
        <c:gapWidth val="60"/>
        <c:overlap val="-10"/>
        <c:axId val="-2068027336"/>
        <c:axId val="-2113994440"/>
      </c:barChart>
      <c:catAx>
        <c:axId val="-2068027336"/>
        <c:scaling>
          <c:orientation val="minMax"/>
        </c:scaling>
        <c:delete val="0"/>
        <c:axPos val="b"/>
        <c:majorTickMark val="out"/>
        <c:minorTickMark val="none"/>
        <c:tickLblPos val="nextTo"/>
        <c:spPr bwMode="auto">
          <a:prstGeom prst="rect">
            <a:avLst/>
          </a:prstGeom>
          <a:ln>
            <a:solidFill>
              <a:srgbClr val="D1D5DB"/>
            </a:solidFill>
          </a:ln>
        </c:spPr>
        <c:txPr>
          <a:bodyPr/>
          <a:lstStyle/>
          <a:p>
            <a:pPr>
              <a:defRPr sz="1800"/>
            </a:pPr>
            <a:endParaRPr/>
          </a:p>
        </c:txPr>
        <c:crossAx val="-2113994440"/>
        <c:crosses val="min"/>
        <c:auto val="1"/>
        <c:lblAlgn val="ctr"/>
        <c:lblOffset val="100"/>
        <c:noMultiLvlLbl val="0"/>
      </c:catAx>
      <c:valAx>
        <c:axId val="-2113994440"/>
        <c:scaling>
          <c:logBase val="10.000000"/>
          <c:max val="1000.000000"/>
          <c:min val="0.100000"/>
        </c:scaling>
        <c:delete val="0"/>
        <c:axPos val="l"/>
        <c:majorGridlines>
          <c:spPr bwMode="auto">
            <a:prstGeom prst="rect">
              <a:avLst/>
            </a:prstGeom>
            <a:ln>
              <a:solidFill>
                <a:srgbClr val="F3F4F6"/>
              </a:solidFill>
            </a:ln>
          </c:spPr>
        </c:majorGridlines>
        <c:title>
          <c:tx>
            <c:rich>
              <a:bodyPr/>
              <a:lstStyle/>
              <a:p>
                <a:pPr>
                  <a:defRPr/>
                </a:pPr>
                <a:r>
                  <a:rPr sz="1600">
                    <a:solidFill>
                      <a:srgbClr val="6B7280"/>
                    </a:solidFill>
                  </a:rPr>
                  <a:t>Median time (ms, log scale)</a:t>
                </a:r>
                <a:endParaRPr/>
              </a:p>
            </c:rich>
          </c:tx>
          <c:layout/>
          <c:overlay val="0"/>
        </c:title>
        <c:majorTickMark val="out"/>
        <c:minorTickMark val="none"/>
        <c:tickLblPos val="nextTo"/>
        <c:spPr bwMode="auto">
          <a:prstGeom prst="rect">
            <a:avLst/>
          </a:prstGeom>
          <a:ln>
            <a:noFill/>
          </a:ln>
        </c:spPr>
        <c:txPr>
          <a:bodyPr/>
          <a:lstStyle/>
          <a:p>
            <a:pPr>
              <a:defRPr sz="1600">
                <a:solidFill>
                  <a:srgbClr val="6B7280"/>
                </a:solidFill>
              </a:defRPr>
            </a:pPr>
            <a:endParaRPr/>
          </a:p>
        </c:txPr>
        <c:crossAx val="-2068027336"/>
        <c:crosses val="autoZero"/>
        <c:crossBetween val="between"/>
      </c:valAx>
    </c:plotArea>
    <c:legend>
      <c:legendPos val="b"/>
      <c:layout/>
      <c:overlay val="0"/>
      <c:txPr>
        <a:bodyPr/>
        <a:lstStyle/>
        <a:p>
          <a:pPr>
            <a:defRPr sz="1800"/>
          </a:pPr>
          <a:endParaRPr/>
        </a:p>
      </c:txPr>
    </c:legend>
    <c:dispBlanksAs val="gap"/>
    <c:showDLblsOverMax val="0"/>
  </c:chart>
  <c:spPr bwMode="auto">
    <a:xfrm rot="0">
      <a:off x="457200" y="1645920"/>
      <a:ext cx="8138160" cy="4617720"/>
    </a:xfrm>
  </c:spPr>
  <c:txPr>
    <a:bodyPr/>
    <a:lstStyle/>
    <a:p>
      <a:pPr>
        <a:defRPr sz="1800">
          <a:solidFill>
            <a:srgbClr val="374151"/>
          </a:solidFill>
          <a:latin typeface="Segoe UI"/>
        </a:defRPr>
      </a:pPr>
      <a:endParaRPr lang="en-US"/>
    </a:p>
  </c:txPr>
  <c:externalData r:id="rId1">
    <c:autoUpdate val="1"/>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0"/>
  <mc:AlternateContent>
    <mc:Choice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Checks passed</c:v>
                </c:pt>
              </c:strCache>
            </c:strRef>
          </c:tx>
          <c:spPr bwMode="auto">
            <a:prstGeom prst="rect">
              <a:avLst/>
            </a:prstGeom>
            <a:solidFill>
              <a:srgbClr val="2563EB"/>
            </a:solidFill>
            <a:ln>
              <a:noFill/>
            </a:ln>
          </c:spPr>
          <c:dLbls>
            <c:dLblPos val="outEnd"/>
            <c:showBubbleSize val="0"/>
            <c:showCatName val="0"/>
            <c:showLeaderLines val="1"/>
            <c:showLegendKey val="0"/>
            <c:showPercent val="0"/>
            <c:showSerName val="0"/>
            <c:showVal val="1"/>
            <c:txPr>
              <a:bodyPr/>
              <a:lstStyle/>
              <a:p>
                <a:pPr>
                  <a:defRPr sz="1800" b="1">
                    <a:solidFill>
                      <a:srgbClr val="111827"/>
                    </a:solidFill>
                  </a:defRPr>
                </a:pPr>
                <a:endParaRPr/>
              </a:p>
            </c:txPr>
          </c:dLbls>
          <c:cat>
            <c:strRef>
              <c:f>Sheet1!$A$2:$A$7</c:f>
              <c:strCache>
                <c:ptCount val="6"/>
                <c:pt idx="0">
                  <c:v>Accounts &amp; security</c:v>
                </c:pt>
                <c:pt idx="1">
                  <c:v>Training &amp; classes</c:v>
                </c:pt>
                <c:pt idx="2">
                  <c:v>Dashboards, health &amp; UI</c:v>
                </c:pt>
                <c:pt idx="3">
                  <c:v>Members &amp; plans</c:v>
                </c:pt>
                <c:pt idx="4">
                  <c:v>Payments &amp; subscriptions</c:v>
                </c:pt>
                <c:pt idx="5">
                  <c:v>Attendance &amp; rosters</c:v>
                </c:pt>
              </c:strCache>
            </c:strRef>
          </c:cat>
          <c:val>
            <c:numRef>
              <c:f>Sheet1!$B$2:$B$7</c:f>
              <c:numCache>
                <c:formatCode>General</c:formatCode>
                <c:ptCount val="6"/>
                <c:pt idx="0">
                  <c:v>37</c:v>
                </c:pt>
                <c:pt idx="1">
                  <c:v>28</c:v>
                </c:pt>
                <c:pt idx="2">
                  <c:v>14</c:v>
                </c:pt>
                <c:pt idx="3">
                  <c:v>13</c:v>
                </c:pt>
                <c:pt idx="4">
                  <c:v>12</c:v>
                </c:pt>
                <c:pt idx="5">
                  <c:v>12</c:v>
                </c:pt>
              </c:numCache>
            </c:numRef>
          </c:val>
        </c:ser>
        <c:dLbls>
          <c:showBubbleSize val="0"/>
          <c:showCatName val="0"/>
          <c:showLegendKey val="0"/>
          <c:showPercent val="0"/>
          <c:showSerName val="0"/>
          <c:showVal val="0"/>
        </c:dLbls>
        <c:gapWidth val="55"/>
        <c:axId val="-2068027336"/>
        <c:axId val="-2113994440"/>
      </c:barChart>
      <c:catAx>
        <c:axId val="-2068027336"/>
        <c:scaling>
          <c:orientation val="maxMin"/>
        </c:scaling>
        <c:delete val="0"/>
        <c:axPos val="l"/>
        <c:majorTickMark val="out"/>
        <c:minorTickMark val="none"/>
        <c:tickLblPos val="nextTo"/>
        <c:spPr bwMode="auto">
          <a:prstGeom prst="rect">
            <a:avLst/>
          </a:prstGeom>
          <a:ln>
            <a:solidFill>
              <a:srgbClr val="D1D5DB"/>
            </a:solidFill>
          </a:ln>
        </c:spPr>
        <c:txPr>
          <a:bodyPr/>
          <a:lstStyle/>
          <a:p>
            <a:pPr>
              <a:defRPr sz="1800"/>
            </a:pPr>
            <a:endParaRPr/>
          </a:p>
        </c:txPr>
        <c:crossAx val="-2113994440"/>
        <c:crosses val="min"/>
        <c:auto val="1"/>
        <c:lblAlgn val="ctr"/>
        <c:lblOffset val="100"/>
        <c:noMultiLvlLbl val="0"/>
      </c:catAx>
      <c:valAx>
        <c:axId val="-2113994440"/>
        <c:scaling>
          <c:max val="44.400000"/>
          <c:min val="0.000000"/>
        </c:scaling>
        <c:delete val="0"/>
        <c:axPos val="b"/>
        <c:majorTickMark val="out"/>
        <c:minorTickMark val="none"/>
        <c:tickLblPos val="nextTo"/>
        <c:crossAx val="-2068027336"/>
        <c:crosses val="autoZero"/>
        <c:crossBetween val="between"/>
      </c:valAx>
    </c:plotArea>
    <c:dispBlanksAs val="gap"/>
    <c:showDLblsOverMax val="0"/>
  </c:chart>
  <c:spPr bwMode="auto">
    <a:xfrm rot="0">
      <a:off x="457200" y="1691640"/>
      <a:ext cx="7223760" cy="4526280"/>
    </a:xfrm>
  </c:spPr>
  <c:txPr>
    <a:bodyPr/>
    <a:lstStyle/>
    <a:p>
      <a:pPr>
        <a:defRPr sz="1800">
          <a:solidFill>
            <a:srgbClr val="374151"/>
          </a:solidFill>
          <a:latin typeface="Segoe UI"/>
        </a:defRPr>
      </a:pPr>
      <a:endParaRPr lang="en-US"/>
    </a:p>
  </c:txPr>
  <c:externalData r:id="rId1">
    <c:autoUpdate val="1"/>
  </c:externalData>
</c:chartSpace>
</file>

<file path=ppt/embeddings/_rels/Microsoft_Excel_Worksheet1.xlsx.rels><?xml version="1.0" encoding="UTF-8" standalone="yes"?><Relationships xmlns="http://schemas.openxmlformats.org/package/2006/relationships"></Relationships>
</file>

<file path=ppt/embeddings/_rels/Microsoft_Excel_Worksheet2.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7241337" name="Slide Image Placeholder 1"/>
          <p:cNvSpPr>
            <a:spLocks noGrp="1"/>
          </p:cNvSpPr>
          <p:nvPr>
            <p:ph type="sldImg" idx="2"/>
          </p:nvPr>
        </p:nvSpPr>
        <p:spPr bwMode="auto"/>
      </p:sp>
      <p:sp>
        <p:nvSpPr>
          <p:cNvPr id="1215076766" name="Notes Placeholder 2"/>
          <p:cNvSpPr>
            <a:spLocks noGrp="1"/>
          </p:cNvSpPr>
          <p:nvPr>
            <p:ph type="body" sz="quarter" idx="3"/>
          </p:nvPr>
        </p:nvSpPr>
        <p:spPr bwMode="auto"/>
        <p:txBody>
          <a:bodyPr/>
          <a:lstStyle/>
          <a:p>
            <a:pPr>
              <a:defRPr/>
            </a:pPr>
            <a:r>
              <a:rPr/>
              <a:t>GymVerse: a PostgreSQL-backed gym management system with a web app and an AI assistant. This deck is organised by the four evaluation rubrics; the coloured tag on each slide names its rubric.</a:t>
            </a:r>
            <a:endParaRPr/>
          </a:p>
        </p:txBody>
      </p:sp>
      <p:sp>
        <p:nvSpPr>
          <p:cNvPr id="317398883"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8579284" name="Slide Image Placeholder 1"/>
          <p:cNvSpPr>
            <a:spLocks noGrp="1"/>
          </p:cNvSpPr>
          <p:nvPr>
            <p:ph type="sldImg" idx="2"/>
          </p:nvPr>
        </p:nvSpPr>
        <p:spPr bwMode="auto"/>
      </p:sp>
      <p:sp>
        <p:nvSpPr>
          <p:cNvPr id="1277433172" name="Notes Placeholder 2"/>
          <p:cNvSpPr>
            <a:spLocks noGrp="1"/>
          </p:cNvSpPr>
          <p:nvPr>
            <p:ph type="body" sz="quarter" idx="3"/>
          </p:nvPr>
        </p:nvSpPr>
        <p:spPr bwMode="auto"/>
        <p:txBody>
          <a:bodyPr/>
          <a:lstStyle/>
          <a:p>
            <a:pPr>
              <a:defRPr/>
            </a:pPr>
            <a:r>
              <a:rPr/>
              <a:t>Rows are approaches; columns are capabilities. 'Partial' for spreadsheets: data validation, sheet-level sharing and version history exist but do not enforce gym rules or per-record access. [ADD APPROACH]: add another existing system you compared against, and fill in its row.</a:t>
            </a:r>
            <a:endParaRPr/>
          </a:p>
        </p:txBody>
      </p:sp>
      <p:sp>
        <p:nvSpPr>
          <p:cNvPr id="1244330368"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7619273" name="Slide Image Placeholder 1"/>
          <p:cNvSpPr>
            <a:spLocks noGrp="1"/>
          </p:cNvSpPr>
          <p:nvPr>
            <p:ph type="sldImg" idx="2"/>
          </p:nvPr>
        </p:nvSpPr>
        <p:spPr bwMode="auto"/>
      </p:sp>
      <p:sp>
        <p:nvSpPr>
          <p:cNvPr id="1618364697" name="Notes Placeholder 2"/>
          <p:cNvSpPr>
            <a:spLocks noGrp="1"/>
          </p:cNvSpPr>
          <p:nvPr>
            <p:ph type="body" sz="quarter" idx="3"/>
          </p:nvPr>
        </p:nvSpPr>
        <p:spPr bwMode="auto"/>
        <p:txBody>
          <a:bodyPr/>
          <a:lstStyle/>
          <a:p>
            <a:pPr>
              <a:defRPr/>
            </a:pPr>
            <a:r>
              <a:rPr/>
              <a:t>Every request passes rate limiting, a session check (JWT plus server-side revocation), role and per-record access, and input validation; controllers run multi-row writes in transactions. The numbered badges mark our contributions. 1) Rules live in the database: partial unique indexes (one active subscription, one open check-in), row locks for bookings and subscriptions, triggers for capacity and auditing. 2) Four roles checked per record: a member reaches only their own data, a trainer only their roster. 3) The AI assistant reads the live plan catalogue and falls back across Gemini models, then Groq. Chat history in MongoDB is optional.</a:t>
            </a:r>
            <a:endParaRPr/>
          </a:p>
        </p:txBody>
      </p:sp>
      <p:sp>
        <p:nvSpPr>
          <p:cNvPr id="1986763447"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1591923" name="Slide Image Placeholder 1"/>
          <p:cNvSpPr>
            <a:spLocks noGrp="1"/>
          </p:cNvSpPr>
          <p:nvPr>
            <p:ph type="sldImg" idx="2"/>
          </p:nvPr>
        </p:nvSpPr>
        <p:spPr bwMode="auto"/>
      </p:sp>
      <p:sp>
        <p:nvSpPr>
          <p:cNvPr id="2119680856" name="Notes Placeholder 2"/>
          <p:cNvSpPr>
            <a:spLocks noGrp="1"/>
          </p:cNvSpPr>
          <p:nvPr>
            <p:ph type="body" sz="quarter" idx="3"/>
          </p:nvPr>
        </p:nvSpPr>
        <p:spPr bwMode="auto"/>
        <p:txBody>
          <a:bodyPr/>
          <a:lstStyle/>
          <a:p>
            <a:pPr>
              <a:defRPr/>
            </a:pPr>
            <a:r>
              <a:rPr/>
              <a:t>The method models generic concepts rather than gym-only ones: people, plans and subscriptions, sessions with capacity and bookings, a check-in log, and staff who see only their own clients. The table shows how each maps onto other businesses by renaming. Deployment scales from one PC (AI assistant, email and chat history can all be switched off) to a hosted server, where one Node process can serve both the API and the built web app. The benchmark shows every optimised key query stays under 9 ms at 1,000,000 check-ins. Plans, AI models, email, chat history and production mode are configuration; integrity rules, record access and the audit trail stay the same everywhere.</a:t>
            </a:r>
            <a:endParaRPr/>
          </a:p>
        </p:txBody>
      </p:sp>
      <p:sp>
        <p:nvSpPr>
          <p:cNvPr id="833940339"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2495021" name="Slide Image Placeholder 1"/>
          <p:cNvSpPr>
            <a:spLocks noGrp="1"/>
          </p:cNvSpPr>
          <p:nvPr>
            <p:ph type="sldImg" idx="2"/>
          </p:nvPr>
        </p:nvSpPr>
        <p:spPr bwMode="auto"/>
      </p:sp>
      <p:sp>
        <p:nvSpPr>
          <p:cNvPr id="207377005" name="Notes Placeholder 2"/>
          <p:cNvSpPr>
            <a:spLocks noGrp="1"/>
          </p:cNvSpPr>
          <p:nvPr>
            <p:ph type="body" sz="quarter" idx="3"/>
          </p:nvPr>
        </p:nvSpPr>
        <p:spPr bwMode="auto"/>
        <p:txBody>
          <a:bodyPr/>
          <a:lstStyle/>
          <a:p>
            <a:pPr>
              <a:defRPr/>
            </a:pPr>
            <a:r>
              <a:rPr/>
              <a:t>1) Performance: the app's own list and search queries, run against three index setups (no indexes, the original indexes, and our optimised indexes) on a synthetic database of 50,000 members and 1,000,000 check-ins; each ran 15 times under EXPLAIN ANALYZE and we report the median. 2) Live end-to-end: 116 checks drove every feature through the real API as each role, and every write was confirmed with a direct database query. 3) Automated tests: Jest unit and route tests, Vitest frontend tests, and a stack check that builds a fresh database from the SQL scripts. Raw results are kept in bench-results.json and e2e-results.json.</a:t>
            </a:r>
            <a:endParaRPr/>
          </a:p>
        </p:txBody>
      </p:sp>
      <p:sp>
        <p:nvSpPr>
          <p:cNvPr id="1865668908"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5564528" name="Slide Image Placeholder 1"/>
          <p:cNvSpPr>
            <a:spLocks noGrp="1"/>
          </p:cNvSpPr>
          <p:nvPr>
            <p:ph type="sldImg" idx="2"/>
          </p:nvPr>
        </p:nvSpPr>
        <p:spPr bwMode="auto"/>
      </p:sp>
      <p:sp>
        <p:nvSpPr>
          <p:cNvPr id="965667945" name="Notes Placeholder 2"/>
          <p:cNvSpPr>
            <a:spLocks noGrp="1"/>
          </p:cNvSpPr>
          <p:nvPr>
            <p:ph type="body" sz="quarter" idx="3"/>
          </p:nvPr>
        </p:nvSpPr>
        <p:spPr bwMode="auto"/>
        <p:txBody>
          <a:bodyPr/>
          <a:lstStyle/>
          <a:p>
            <a:pPr>
              <a:defRPr/>
            </a:pPr>
            <a:r>
              <a:rPr/>
              <a:t>Setup: a throwaway PostgreSQL 18.6 database with synthetic volumes (50,000 members, 150,000 subscriptions, 300,000 payments, 1,000,000 check-ins) on one Windows PC. Each query ran 15 times per index setup; medians on a log scale. No indexes / original indexes / optimised indexes: Payment history: 99.1 / 1.7 / 0.37 ms. Subscriptions list: 170.6 / 147.2 / 2.74 ms. Attendance log: 277.3 / 374.4 / 8.37 ms. Member search: 214.9 / 225.9 / 2.78 ms. The original indexes and no indexes both used a full scan for the attendance log, so that gap is timing noise.</a:t>
            </a:r>
            <a:endParaRPr/>
          </a:p>
        </p:txBody>
      </p:sp>
      <p:sp>
        <p:nvSpPr>
          <p:cNvPr id="1913051961"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4117700" name="Slide Image Placeholder 1"/>
          <p:cNvSpPr>
            <a:spLocks noGrp="1"/>
          </p:cNvSpPr>
          <p:nvPr>
            <p:ph type="sldImg" idx="2"/>
          </p:nvPr>
        </p:nvSpPr>
        <p:spPr bwMode="auto"/>
      </p:sp>
      <p:sp>
        <p:nvSpPr>
          <p:cNvPr id="816048746" name="Notes Placeholder 2"/>
          <p:cNvSpPr>
            <a:spLocks noGrp="1"/>
          </p:cNvSpPr>
          <p:nvPr>
            <p:ph type="body" sz="quarter" idx="3"/>
          </p:nvPr>
        </p:nvSpPr>
        <p:spPr bwMode="auto"/>
        <p:txBody>
          <a:bodyPr/>
          <a:lstStyle/>
          <a:p>
            <a:pPr>
              <a:defRPr/>
            </a:pPr>
            <a:r>
              <a:rPr/>
              <a:t>Live run against the real database: 116 of 116 checks, each write confirmed with a direct database query. Unit and route tests: 235 passed, 1 skipped. The stack check builds a fresh database from the SQL scripts and passes 71 of 71. Frontend tests: 7 of 7. No 5xx responses during the run.</a:t>
            </a:r>
            <a:endParaRPr/>
          </a:p>
        </p:txBody>
      </p:sp>
      <p:sp>
        <p:nvSpPr>
          <p:cNvPr id="802463564"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2327965" name="Slide Image Placeholder 1"/>
          <p:cNvSpPr>
            <a:spLocks noGrp="1"/>
          </p:cNvSpPr>
          <p:nvPr>
            <p:ph type="sldImg" idx="2"/>
          </p:nvPr>
        </p:nvSpPr>
        <p:spPr bwMode="auto"/>
      </p:sp>
      <p:sp>
        <p:nvSpPr>
          <p:cNvPr id="2057056649" name="Notes Placeholder 2"/>
          <p:cNvSpPr>
            <a:spLocks noGrp="1"/>
          </p:cNvSpPr>
          <p:nvPr>
            <p:ph type="body" sz="quarter" idx="3"/>
          </p:nvPr>
        </p:nvSpPr>
        <p:spPr bwMode="auto"/>
        <p:txBody>
          <a:bodyPr/>
          <a:lstStyle/>
          <a:p>
            <a:pPr>
              <a:defRPr/>
            </a:pPr>
            <a:r>
              <a:rPr/>
              <a:t>Code: the repository link and QR code are placeholders until the code is pushed. Documentation: PROJECT_GUIDE.md explains every part of the system; the backend README and CHAT_HISTORY.md cover setup and the optional MongoDB history; Swagger API docs are served at /api-docs. Database design: the ER model opens in TerraER (gymverse_er_model.xml) and is exported as a PNG; build_database.ps1 / build_database.sh create the whole database with sample data in one command. Reproduce: build the database, copy .env.example to .env in gymverse-backend, then npm install and npm run dev in the backend and frontend. Add the licence and any paper, demo or talk links before presenting.</a:t>
            </a:r>
            <a:endParaRPr/>
          </a:p>
        </p:txBody>
      </p:sp>
      <p:sp>
        <p:nvSpPr>
          <p:cNvPr id="2095582658"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5368281" name="Slide Image Placeholder 1"/>
          <p:cNvSpPr>
            <a:spLocks noGrp="1"/>
          </p:cNvSpPr>
          <p:nvPr>
            <p:ph type="sldImg" idx="2"/>
          </p:nvPr>
        </p:nvSpPr>
        <p:spPr bwMode="auto"/>
      </p:sp>
      <p:sp>
        <p:nvSpPr>
          <p:cNvPr id="33804287" name="Notes Placeholder 2"/>
          <p:cNvSpPr>
            <a:spLocks noGrp="1"/>
          </p:cNvSpPr>
          <p:nvPr>
            <p:ph type="body" sz="quarter" idx="3"/>
          </p:nvPr>
        </p:nvSpPr>
        <p:spPr bwMode="auto"/>
        <p:txBody>
          <a:bodyPr/>
          <a:lstStyle/>
          <a:p>
            <a:pPr>
              <a:defRPr/>
            </a:pPr>
            <a:r>
              <a:rPr/>
              <a:t>For people at the gym: nothing to install beyond a web browser; four role-specific views (admin, receptionist, trainer, member) show each person only what they need; accounts are self-service with email verification and forgotten-password reset; signed-in users can ask the AI assistant in plain language. Interactive controls carry ARIA labels and roles, and Escape closes dialogs. For developers: interactive API docs at /api-docs; one Node server can host both the API and the built web app; the optional services (AI, email, MongoDB chat history) can be left out and the core still runs.</a:t>
            </a:r>
            <a:endParaRPr/>
          </a:p>
        </p:txBody>
      </p:sp>
      <p:sp>
        <p:nvSpPr>
          <p:cNvPr id="315610012"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31845746"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630603346"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47022861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81637102" name="Footer Placeholder 4"/>
          <p:cNvSpPr>
            <a:spLocks noGrp="1"/>
          </p:cNvSpPr>
          <p:nvPr>
            <p:ph type="ftr" sz="quarter" idx="11"/>
          </p:nvPr>
        </p:nvSpPr>
        <p:spPr bwMode="auto"/>
        <p:txBody>
          <a:bodyPr/>
          <a:lstStyle/>
          <a:p>
            <a:pPr>
              <a:defRPr/>
            </a:pPr>
            <a:endParaRPr lang="en-US"/>
          </a:p>
        </p:txBody>
      </p:sp>
      <p:sp>
        <p:nvSpPr>
          <p:cNvPr id="125686837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777888203" name="Title 1"/>
          <p:cNvSpPr>
            <a:spLocks noGrp="1"/>
          </p:cNvSpPr>
          <p:nvPr>
            <p:ph type="title"/>
          </p:nvPr>
        </p:nvSpPr>
        <p:spPr bwMode="auto"/>
        <p:txBody>
          <a:bodyPr/>
          <a:lstStyle/>
          <a:p>
            <a:pPr>
              <a:defRPr/>
            </a:pPr>
            <a:r>
              <a:rPr lang="en-US"/>
              <a:t>Click to edit Master title style</a:t>
            </a:r>
            <a:endParaRPr lang="en-US"/>
          </a:p>
        </p:txBody>
      </p:sp>
      <p:sp>
        <p:nvSpPr>
          <p:cNvPr id="195519034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4227493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28014674" name="Footer Placeholder 4"/>
          <p:cNvSpPr>
            <a:spLocks noGrp="1"/>
          </p:cNvSpPr>
          <p:nvPr>
            <p:ph type="ftr" sz="quarter" idx="11"/>
          </p:nvPr>
        </p:nvSpPr>
        <p:spPr bwMode="auto"/>
        <p:txBody>
          <a:bodyPr/>
          <a:lstStyle/>
          <a:p>
            <a:pPr>
              <a:defRPr/>
            </a:pPr>
            <a:endParaRPr lang="en-US"/>
          </a:p>
        </p:txBody>
      </p:sp>
      <p:sp>
        <p:nvSpPr>
          <p:cNvPr id="121785753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716145693"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891970879"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63479334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70695141" name="Footer Placeholder 4"/>
          <p:cNvSpPr>
            <a:spLocks noGrp="1"/>
          </p:cNvSpPr>
          <p:nvPr>
            <p:ph type="ftr" sz="quarter" idx="11"/>
          </p:nvPr>
        </p:nvSpPr>
        <p:spPr bwMode="auto"/>
        <p:txBody>
          <a:bodyPr/>
          <a:lstStyle/>
          <a:p>
            <a:pPr>
              <a:defRPr/>
            </a:pPr>
            <a:endParaRPr lang="en-US"/>
          </a:p>
        </p:txBody>
      </p:sp>
      <p:sp>
        <p:nvSpPr>
          <p:cNvPr id="56296255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166727883" name="Title 1"/>
          <p:cNvSpPr>
            <a:spLocks noGrp="1"/>
          </p:cNvSpPr>
          <p:nvPr>
            <p:ph type="title"/>
          </p:nvPr>
        </p:nvSpPr>
        <p:spPr bwMode="auto"/>
        <p:txBody>
          <a:bodyPr/>
          <a:lstStyle/>
          <a:p>
            <a:pPr>
              <a:defRPr/>
            </a:pPr>
            <a:r>
              <a:rPr lang="en-US"/>
              <a:t>Click to edit Master title style</a:t>
            </a:r>
            <a:endParaRPr lang="en-US"/>
          </a:p>
        </p:txBody>
      </p:sp>
      <p:sp>
        <p:nvSpPr>
          <p:cNvPr id="1339725555"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45134059"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76484067"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38639469" name="Footer Placeholder 5"/>
          <p:cNvSpPr>
            <a:spLocks noGrp="1"/>
          </p:cNvSpPr>
          <p:nvPr>
            <p:ph type="ftr" sz="quarter" idx="11"/>
          </p:nvPr>
        </p:nvSpPr>
        <p:spPr bwMode="auto"/>
        <p:txBody>
          <a:bodyPr/>
          <a:lstStyle/>
          <a:p>
            <a:pPr>
              <a:defRPr/>
            </a:pPr>
            <a:endParaRPr lang="en-US"/>
          </a:p>
        </p:txBody>
      </p:sp>
      <p:sp>
        <p:nvSpPr>
          <p:cNvPr id="842306165"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98170453"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908699240"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20263388"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64393150"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70875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49755235"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76593706" name="Footer Placeholder 7"/>
          <p:cNvSpPr>
            <a:spLocks noGrp="1"/>
          </p:cNvSpPr>
          <p:nvPr>
            <p:ph type="ftr" sz="quarter" idx="11"/>
          </p:nvPr>
        </p:nvSpPr>
        <p:spPr bwMode="auto"/>
        <p:txBody>
          <a:bodyPr/>
          <a:lstStyle/>
          <a:p>
            <a:pPr>
              <a:defRPr/>
            </a:pPr>
            <a:endParaRPr lang="en-US"/>
          </a:p>
        </p:txBody>
      </p:sp>
      <p:sp>
        <p:nvSpPr>
          <p:cNvPr id="1724072925"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488053895" name="Title 1"/>
          <p:cNvSpPr>
            <a:spLocks noGrp="1"/>
          </p:cNvSpPr>
          <p:nvPr>
            <p:ph type="title"/>
          </p:nvPr>
        </p:nvSpPr>
        <p:spPr bwMode="auto"/>
        <p:txBody>
          <a:bodyPr/>
          <a:lstStyle/>
          <a:p>
            <a:pPr>
              <a:defRPr/>
            </a:pPr>
            <a:r>
              <a:rPr lang="en-US"/>
              <a:t>Click to edit Master title style</a:t>
            </a:r>
            <a:endParaRPr lang="en-US"/>
          </a:p>
        </p:txBody>
      </p:sp>
      <p:sp>
        <p:nvSpPr>
          <p:cNvPr id="953089593"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326377290" name="Footer Placeholder 3"/>
          <p:cNvSpPr>
            <a:spLocks noGrp="1"/>
          </p:cNvSpPr>
          <p:nvPr>
            <p:ph type="ftr" sz="quarter" idx="11"/>
          </p:nvPr>
        </p:nvSpPr>
        <p:spPr bwMode="auto"/>
        <p:txBody>
          <a:bodyPr/>
          <a:lstStyle/>
          <a:p>
            <a:pPr>
              <a:defRPr/>
            </a:pPr>
            <a:endParaRPr lang="en-US"/>
          </a:p>
        </p:txBody>
      </p:sp>
      <p:sp>
        <p:nvSpPr>
          <p:cNvPr id="610076491"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370046265"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04393007" name="Footer Placeholder 2"/>
          <p:cNvSpPr>
            <a:spLocks noGrp="1"/>
          </p:cNvSpPr>
          <p:nvPr>
            <p:ph type="ftr" sz="quarter" idx="11"/>
          </p:nvPr>
        </p:nvSpPr>
        <p:spPr bwMode="auto"/>
        <p:txBody>
          <a:bodyPr/>
          <a:lstStyle/>
          <a:p>
            <a:pPr>
              <a:defRPr/>
            </a:pPr>
            <a:endParaRPr lang="en-US"/>
          </a:p>
        </p:txBody>
      </p:sp>
      <p:sp>
        <p:nvSpPr>
          <p:cNvPr id="2000920935"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505039316"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388724666"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46086142"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21947694"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78090547" name="Footer Placeholder 5"/>
          <p:cNvSpPr>
            <a:spLocks noGrp="1"/>
          </p:cNvSpPr>
          <p:nvPr>
            <p:ph type="ftr" sz="quarter" idx="11"/>
          </p:nvPr>
        </p:nvSpPr>
        <p:spPr bwMode="auto"/>
        <p:txBody>
          <a:bodyPr/>
          <a:lstStyle/>
          <a:p>
            <a:pPr>
              <a:defRPr/>
            </a:pPr>
            <a:endParaRPr lang="en-US"/>
          </a:p>
        </p:txBody>
      </p:sp>
      <p:sp>
        <p:nvSpPr>
          <p:cNvPr id="87363232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839150311"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968821482"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650456676"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49347041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58322050" name="Footer Placeholder 5"/>
          <p:cNvSpPr>
            <a:spLocks noGrp="1"/>
          </p:cNvSpPr>
          <p:nvPr>
            <p:ph type="ftr" sz="quarter" idx="11"/>
          </p:nvPr>
        </p:nvSpPr>
        <p:spPr bwMode="auto"/>
        <p:txBody>
          <a:bodyPr/>
          <a:lstStyle/>
          <a:p>
            <a:pPr>
              <a:defRPr/>
            </a:pPr>
            <a:endParaRPr lang="en-US"/>
          </a:p>
        </p:txBody>
      </p:sp>
      <p:sp>
        <p:nvSpPr>
          <p:cNvPr id="704135350"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92053959" name="Title 1"/>
          <p:cNvSpPr>
            <a:spLocks noGrp="1"/>
          </p:cNvSpPr>
          <p:nvPr>
            <p:ph type="title"/>
          </p:nvPr>
        </p:nvSpPr>
        <p:spPr bwMode="auto"/>
        <p:txBody>
          <a:bodyPr/>
          <a:lstStyle/>
          <a:p>
            <a:pPr>
              <a:defRPr/>
            </a:pPr>
            <a:r>
              <a:rPr lang="en-US"/>
              <a:t>Click to edit Master title style</a:t>
            </a:r>
            <a:endParaRPr lang="en-US"/>
          </a:p>
        </p:txBody>
      </p:sp>
      <p:sp>
        <p:nvSpPr>
          <p:cNvPr id="213607944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792840"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777643679" name="Footer Placeholder 4"/>
          <p:cNvSpPr>
            <a:spLocks noGrp="1"/>
          </p:cNvSpPr>
          <p:nvPr>
            <p:ph type="ftr" sz="quarter" idx="11"/>
          </p:nvPr>
        </p:nvSpPr>
        <p:spPr bwMode="auto"/>
        <p:txBody>
          <a:bodyPr/>
          <a:lstStyle/>
          <a:p>
            <a:pPr>
              <a:defRPr/>
            </a:pPr>
            <a:endParaRPr lang="en-US"/>
          </a:p>
        </p:txBody>
      </p:sp>
      <p:sp>
        <p:nvSpPr>
          <p:cNvPr id="5225486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79714190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381860778"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1484137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44444264" name="Footer Placeholder 4"/>
          <p:cNvSpPr>
            <a:spLocks noGrp="1"/>
          </p:cNvSpPr>
          <p:nvPr>
            <p:ph type="ftr" sz="quarter" idx="11"/>
          </p:nvPr>
        </p:nvSpPr>
        <p:spPr bwMode="auto"/>
        <p:txBody>
          <a:bodyPr/>
          <a:lstStyle/>
          <a:p>
            <a:pPr>
              <a:defRPr/>
            </a:pPr>
            <a:endParaRPr lang="en-US"/>
          </a:p>
        </p:txBody>
      </p:sp>
      <p:sp>
        <p:nvSpPr>
          <p:cNvPr id="23283490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366515250"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741520564"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45504873"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755985453"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595802554"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 /></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 /></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0583384" name="TextBox 1"/>
          <p:cNvSpPr txBox="1"/>
          <p:nvPr/>
        </p:nvSpPr>
        <p:spPr bwMode="auto">
          <a:xfrm>
            <a:off x="731520" y="731520"/>
            <a:ext cx="6766560" cy="45720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2563EB"/>
                </a:solidFill>
                <a:latin typeface="Segoe UI"/>
              </a:rPr>
              <a:t>DATABASE MANAGEMENT SYSTEMS · MINI PROJECT</a:t>
            </a:r>
            <a:endParaRPr/>
          </a:p>
        </p:txBody>
      </p:sp>
      <p:sp>
        <p:nvSpPr>
          <p:cNvPr id="2017411504" name="TextBox 2"/>
          <p:cNvSpPr txBox="1"/>
          <p:nvPr/>
        </p:nvSpPr>
        <p:spPr bwMode="auto">
          <a:xfrm>
            <a:off x="731520" y="1188720"/>
            <a:ext cx="6766560" cy="1188720"/>
          </a:xfrm>
          <a:prstGeom prst="rect">
            <a:avLst/>
          </a:prstGeom>
          <a:noFill/>
        </p:spPr>
        <p:txBody>
          <a:bodyPr wrap="square" lIns="36576" tIns="18288" rIns="36576" bIns="18288" anchor="t">
            <a:spAutoFit/>
          </a:bodyPr>
          <a:lstStyle/>
          <a:p>
            <a:pPr algn="l">
              <a:lnSpc>
                <a:spcPct val="100000"/>
              </a:lnSpc>
              <a:spcAft>
                <a:spcPts val="0"/>
              </a:spcAft>
              <a:defRPr/>
            </a:pPr>
            <a:r>
              <a:rPr sz="6600" b="1">
                <a:solidFill>
                  <a:srgbClr val="111827"/>
                </a:solidFill>
                <a:latin typeface="Segoe UI"/>
              </a:rPr>
              <a:t>GymVerse</a:t>
            </a:r>
            <a:endParaRPr/>
          </a:p>
        </p:txBody>
      </p:sp>
      <p:sp>
        <p:nvSpPr>
          <p:cNvPr id="294578195" name="TextBox 3"/>
          <p:cNvSpPr txBox="1"/>
          <p:nvPr/>
        </p:nvSpPr>
        <p:spPr bwMode="auto">
          <a:xfrm>
            <a:off x="731520" y="2423160"/>
            <a:ext cx="6766560" cy="1005840"/>
          </a:xfrm>
          <a:prstGeom prst="rect">
            <a:avLst/>
          </a:prstGeom>
          <a:noFill/>
        </p:spPr>
        <p:txBody>
          <a:bodyPr wrap="square" lIns="36576" tIns="18288" rIns="36576" bIns="18288" anchor="t">
            <a:spAutoFit/>
          </a:bodyPr>
          <a:lstStyle/>
          <a:p>
            <a:pPr algn="l">
              <a:lnSpc>
                <a:spcPct val="100000"/>
              </a:lnSpc>
              <a:spcAft>
                <a:spcPts val="0"/>
              </a:spcAft>
              <a:defRPr/>
            </a:pPr>
            <a:r>
              <a:rPr sz="2800" b="0">
                <a:solidFill>
                  <a:srgbClr val="111827"/>
                </a:solidFill>
                <a:latin typeface="Segoe UI"/>
              </a:rPr>
              <a:t>The Digital Transformation of Fitness Management</a:t>
            </a:r>
            <a:endParaRPr/>
          </a:p>
        </p:txBody>
      </p:sp>
      <p:sp>
        <p:nvSpPr>
          <p:cNvPr id="1948619974" name="Rounded Rectangle 4"/>
          <p:cNvSpPr/>
          <p:nvPr/>
        </p:nvSpPr>
        <p:spPr bwMode="auto">
          <a:xfrm>
            <a:off x="731520" y="3611880"/>
            <a:ext cx="201168" cy="201168"/>
          </a:xfrm>
          <a:prstGeom prst="roundRect">
            <a:avLst>
              <a:gd name="adj" fmla="val 25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7239949" name="TextBox 5"/>
          <p:cNvSpPr txBox="1"/>
          <p:nvPr/>
        </p:nvSpPr>
        <p:spPr bwMode="auto">
          <a:xfrm>
            <a:off x="1097280" y="3520440"/>
            <a:ext cx="475488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111827"/>
                </a:solidFill>
                <a:latin typeface="Segoe UI"/>
              </a:rPr>
              <a:t>Novelty of developed methodology</a:t>
            </a:r>
            <a:endParaRPr/>
          </a:p>
        </p:txBody>
      </p:sp>
      <p:sp>
        <p:nvSpPr>
          <p:cNvPr id="1498768387" name="TextBox 6"/>
          <p:cNvSpPr txBox="1"/>
          <p:nvPr/>
        </p:nvSpPr>
        <p:spPr bwMode="auto">
          <a:xfrm>
            <a:off x="5852160" y="3520440"/>
            <a:ext cx="1280160" cy="411480"/>
          </a:xfrm>
          <a:prstGeom prst="rect">
            <a:avLst/>
          </a:prstGeom>
          <a:noFill/>
        </p:spPr>
        <p:txBody>
          <a:bodyPr wrap="square" lIns="36576" tIns="18288" rIns="36576" bIns="18288" anchor="t">
            <a:spAutoFit/>
          </a:bodyPr>
          <a:lstStyle/>
          <a:p>
            <a:pPr algn="r">
              <a:lnSpc>
                <a:spcPct val="100000"/>
              </a:lnSpc>
              <a:spcAft>
                <a:spcPts val="0"/>
              </a:spcAft>
              <a:defRPr/>
            </a:pPr>
            <a:r>
              <a:rPr sz="1800" b="0">
                <a:solidFill>
                  <a:srgbClr val="6B7280"/>
                </a:solidFill>
                <a:latin typeface="Segoe UI"/>
              </a:rPr>
              <a:t>slide 2–3</a:t>
            </a:r>
            <a:endParaRPr/>
          </a:p>
        </p:txBody>
      </p:sp>
      <p:sp>
        <p:nvSpPr>
          <p:cNvPr id="1048094793" name="Rounded Rectangle 7"/>
          <p:cNvSpPr/>
          <p:nvPr/>
        </p:nvSpPr>
        <p:spPr bwMode="auto">
          <a:xfrm>
            <a:off x="731520" y="4142231"/>
            <a:ext cx="201168" cy="201168"/>
          </a:xfrm>
          <a:prstGeom prst="roundRect">
            <a:avLst>
              <a:gd name="adj" fmla="val 25000"/>
            </a:avLst>
          </a:prstGeom>
          <a:solidFill>
            <a:srgbClr val="2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04855950" name="TextBox 8"/>
          <p:cNvSpPr txBox="1"/>
          <p:nvPr/>
        </p:nvSpPr>
        <p:spPr bwMode="auto">
          <a:xfrm>
            <a:off x="1097280" y="4050791"/>
            <a:ext cx="475488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111827"/>
                </a:solidFill>
                <a:latin typeface="Segoe UI"/>
              </a:rPr>
              <a:t>Adaptability of methodology</a:t>
            </a:r>
            <a:endParaRPr/>
          </a:p>
        </p:txBody>
      </p:sp>
      <p:sp>
        <p:nvSpPr>
          <p:cNvPr id="1069703385" name="TextBox 9"/>
          <p:cNvSpPr txBox="1"/>
          <p:nvPr/>
        </p:nvSpPr>
        <p:spPr bwMode="auto">
          <a:xfrm>
            <a:off x="5852160" y="4050791"/>
            <a:ext cx="1280160" cy="411480"/>
          </a:xfrm>
          <a:prstGeom prst="rect">
            <a:avLst/>
          </a:prstGeom>
          <a:noFill/>
        </p:spPr>
        <p:txBody>
          <a:bodyPr wrap="square" lIns="36576" tIns="18288" rIns="36576" bIns="18288" anchor="t">
            <a:spAutoFit/>
          </a:bodyPr>
          <a:lstStyle/>
          <a:p>
            <a:pPr algn="r">
              <a:lnSpc>
                <a:spcPct val="100000"/>
              </a:lnSpc>
              <a:spcAft>
                <a:spcPts val="0"/>
              </a:spcAft>
              <a:defRPr/>
            </a:pPr>
            <a:r>
              <a:rPr sz="1800" b="0">
                <a:solidFill>
                  <a:srgbClr val="6B7280"/>
                </a:solidFill>
                <a:latin typeface="Segoe UI"/>
              </a:rPr>
              <a:t>slide 4</a:t>
            </a:r>
            <a:endParaRPr/>
          </a:p>
        </p:txBody>
      </p:sp>
      <p:sp>
        <p:nvSpPr>
          <p:cNvPr id="252569765" name="Rounded Rectangle 10"/>
          <p:cNvSpPr/>
          <p:nvPr/>
        </p:nvSpPr>
        <p:spPr bwMode="auto">
          <a:xfrm>
            <a:off x="731520" y="4672582"/>
            <a:ext cx="201168" cy="201168"/>
          </a:xfrm>
          <a:prstGeom prst="roundRect">
            <a:avLst>
              <a:gd name="adj" fmla="val 25000"/>
            </a:avLst>
          </a:prstGeom>
          <a:solidFill>
            <a:srgbClr val="B048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8610288" name="TextBox 11"/>
          <p:cNvSpPr txBox="1"/>
          <p:nvPr/>
        </p:nvSpPr>
        <p:spPr bwMode="auto">
          <a:xfrm>
            <a:off x="1097280" y="4581144"/>
            <a:ext cx="475488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111827"/>
                </a:solidFill>
                <a:latin typeface="Segoe UI"/>
              </a:rPr>
              <a:t>Methodology evaluation</a:t>
            </a:r>
            <a:endParaRPr/>
          </a:p>
        </p:txBody>
      </p:sp>
      <p:sp>
        <p:nvSpPr>
          <p:cNvPr id="485851726" name="TextBox 12"/>
          <p:cNvSpPr txBox="1"/>
          <p:nvPr/>
        </p:nvSpPr>
        <p:spPr bwMode="auto">
          <a:xfrm>
            <a:off x="5852160" y="4581144"/>
            <a:ext cx="1280160" cy="411480"/>
          </a:xfrm>
          <a:prstGeom prst="rect">
            <a:avLst/>
          </a:prstGeom>
          <a:noFill/>
        </p:spPr>
        <p:txBody>
          <a:bodyPr wrap="square" lIns="36576" tIns="18288" rIns="36576" bIns="18288" anchor="t">
            <a:spAutoFit/>
          </a:bodyPr>
          <a:lstStyle/>
          <a:p>
            <a:pPr algn="r">
              <a:lnSpc>
                <a:spcPct val="100000"/>
              </a:lnSpc>
              <a:spcAft>
                <a:spcPts val="0"/>
              </a:spcAft>
              <a:defRPr/>
            </a:pPr>
            <a:r>
              <a:rPr sz="1800" b="0">
                <a:solidFill>
                  <a:srgbClr val="6B7280"/>
                </a:solidFill>
                <a:latin typeface="Segoe UI"/>
              </a:rPr>
              <a:t>slide 5–7</a:t>
            </a:r>
            <a:endParaRPr/>
          </a:p>
        </p:txBody>
      </p:sp>
      <p:sp>
        <p:nvSpPr>
          <p:cNvPr id="1522865768" name="Rounded Rectangle 13"/>
          <p:cNvSpPr/>
          <p:nvPr/>
        </p:nvSpPr>
        <p:spPr bwMode="auto">
          <a:xfrm>
            <a:off x="731520" y="5202936"/>
            <a:ext cx="201168" cy="201168"/>
          </a:xfrm>
          <a:prstGeom prst="roundRect">
            <a:avLst>
              <a:gd name="adj" fmla="val 25000"/>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42792841" name="TextBox 14"/>
          <p:cNvSpPr txBox="1"/>
          <p:nvPr/>
        </p:nvSpPr>
        <p:spPr bwMode="auto">
          <a:xfrm>
            <a:off x="1097280" y="5111496"/>
            <a:ext cx="475488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111827"/>
                </a:solidFill>
                <a:latin typeface="Segoe UI"/>
              </a:rPr>
              <a:t>Dissemination &amp; accessibility</a:t>
            </a:r>
            <a:endParaRPr/>
          </a:p>
        </p:txBody>
      </p:sp>
      <p:sp>
        <p:nvSpPr>
          <p:cNvPr id="1901023104" name="TextBox 15"/>
          <p:cNvSpPr txBox="1"/>
          <p:nvPr/>
        </p:nvSpPr>
        <p:spPr bwMode="auto">
          <a:xfrm>
            <a:off x="5852160" y="5111496"/>
            <a:ext cx="1280160" cy="411480"/>
          </a:xfrm>
          <a:prstGeom prst="rect">
            <a:avLst/>
          </a:prstGeom>
          <a:noFill/>
        </p:spPr>
        <p:txBody>
          <a:bodyPr wrap="square" lIns="36576" tIns="18288" rIns="36576" bIns="18288" anchor="t">
            <a:spAutoFit/>
          </a:bodyPr>
          <a:lstStyle/>
          <a:p>
            <a:pPr algn="r">
              <a:lnSpc>
                <a:spcPct val="100000"/>
              </a:lnSpc>
              <a:spcAft>
                <a:spcPts val="0"/>
              </a:spcAft>
              <a:defRPr/>
            </a:pPr>
            <a:r>
              <a:rPr sz="1800" b="0">
                <a:solidFill>
                  <a:srgbClr val="6B7280"/>
                </a:solidFill>
                <a:latin typeface="Segoe UI"/>
              </a:rPr>
              <a:t>slide 8–9</a:t>
            </a:r>
            <a:endParaRPr/>
          </a:p>
        </p:txBody>
      </p:sp>
      <p:sp>
        <p:nvSpPr>
          <p:cNvPr id="1544467317" name="Rounded Rectangle 16"/>
          <p:cNvSpPr/>
          <p:nvPr/>
        </p:nvSpPr>
        <p:spPr bwMode="auto">
          <a:xfrm>
            <a:off x="7635240" y="731520"/>
            <a:ext cx="4023360" cy="4663440"/>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69388489" name="TextBox 17"/>
          <p:cNvSpPr txBox="1"/>
          <p:nvPr/>
        </p:nvSpPr>
        <p:spPr bwMode="auto">
          <a:xfrm>
            <a:off x="7955279" y="960120"/>
            <a:ext cx="3474720" cy="457200"/>
          </a:xfrm>
          <a:prstGeom prst="rect">
            <a:avLst/>
          </a:prstGeom>
          <a:noFill/>
        </p:spPr>
        <p:txBody>
          <a:bodyPr wrap="square" lIns="36576" tIns="18288" rIns="36576" bIns="18288" anchor="t">
            <a:spAutoFit/>
          </a:bodyPr>
          <a:lstStyle/>
          <a:p>
            <a:pPr algn="l">
              <a:lnSpc>
                <a:spcPct val="100000"/>
              </a:lnSpc>
              <a:spcAft>
                <a:spcPts val="0"/>
              </a:spcAft>
              <a:defRPr/>
            </a:pPr>
            <a:r>
              <a:rPr sz="2000" b="1">
                <a:solidFill>
                  <a:srgbClr val="111827"/>
                </a:solidFill>
                <a:latin typeface="Segoe UI"/>
              </a:rPr>
              <a:t>Team</a:t>
            </a:r>
            <a:endParaRPr/>
          </a:p>
        </p:txBody>
      </p:sp>
      <p:sp>
        <p:nvSpPr>
          <p:cNvPr id="1335008927" name="TextBox 18"/>
          <p:cNvSpPr txBox="1"/>
          <p:nvPr/>
        </p:nvSpPr>
        <p:spPr bwMode="auto">
          <a:xfrm>
            <a:off x="7955279" y="1554480"/>
            <a:ext cx="35661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NYASHADAM SRIKAR</a:t>
            </a:r>
            <a:endParaRPr/>
          </a:p>
        </p:txBody>
      </p:sp>
      <p:sp>
        <p:nvSpPr>
          <p:cNvPr id="148339531" name="TextBox 19"/>
          <p:cNvSpPr txBox="1"/>
          <p:nvPr/>
        </p:nvSpPr>
        <p:spPr bwMode="auto">
          <a:xfrm>
            <a:off x="7955279" y="1920240"/>
            <a:ext cx="356616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6B7280"/>
                </a:solidFill>
                <a:latin typeface="Segoe UI"/>
              </a:rPr>
              <a:t>2510030006</a:t>
            </a:r>
            <a:endParaRPr/>
          </a:p>
        </p:txBody>
      </p:sp>
      <p:sp>
        <p:nvSpPr>
          <p:cNvPr id="1869842674" name="TextBox 20"/>
          <p:cNvSpPr txBox="1"/>
          <p:nvPr/>
        </p:nvSpPr>
        <p:spPr bwMode="auto">
          <a:xfrm>
            <a:off x="7955279" y="2487168"/>
            <a:ext cx="35661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MALLALA SRI CHARAN</a:t>
            </a:r>
            <a:endParaRPr/>
          </a:p>
        </p:txBody>
      </p:sp>
      <p:sp>
        <p:nvSpPr>
          <p:cNvPr id="328250849" name="TextBox 21"/>
          <p:cNvSpPr txBox="1"/>
          <p:nvPr/>
        </p:nvSpPr>
        <p:spPr bwMode="auto">
          <a:xfrm>
            <a:off x="7955279" y="2852927"/>
            <a:ext cx="356616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6B7280"/>
                </a:solidFill>
                <a:latin typeface="Segoe UI"/>
              </a:rPr>
              <a:t>2510030246</a:t>
            </a:r>
            <a:endParaRPr/>
          </a:p>
        </p:txBody>
      </p:sp>
      <p:sp>
        <p:nvSpPr>
          <p:cNvPr id="148324447" name="TextBox 22"/>
          <p:cNvSpPr txBox="1"/>
          <p:nvPr/>
        </p:nvSpPr>
        <p:spPr bwMode="auto">
          <a:xfrm>
            <a:off x="7955279" y="3419856"/>
            <a:ext cx="35661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YOGENDRA UNGARALA</a:t>
            </a:r>
            <a:endParaRPr/>
          </a:p>
        </p:txBody>
      </p:sp>
      <p:sp>
        <p:nvSpPr>
          <p:cNvPr id="1177880885" name="TextBox 23"/>
          <p:cNvSpPr txBox="1"/>
          <p:nvPr/>
        </p:nvSpPr>
        <p:spPr bwMode="auto">
          <a:xfrm>
            <a:off x="7955279" y="3785616"/>
            <a:ext cx="356616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6B7280"/>
                </a:solidFill>
                <a:latin typeface="Segoe UI"/>
              </a:rPr>
              <a:t>2510030147</a:t>
            </a:r>
            <a:endParaRPr/>
          </a:p>
        </p:txBody>
      </p:sp>
      <p:sp>
        <p:nvSpPr>
          <p:cNvPr id="1533170174" name="TextBox 24"/>
          <p:cNvSpPr txBox="1"/>
          <p:nvPr/>
        </p:nvSpPr>
        <p:spPr bwMode="auto">
          <a:xfrm>
            <a:off x="7955278" y="4352544"/>
            <a:ext cx="3569400" cy="311255"/>
          </a:xfrm>
          <a:prstGeom prst="rect">
            <a:avLst/>
          </a:prstGeom>
          <a:noFill/>
        </p:spPr>
        <p:txBody>
          <a:bodyPr wrap="square" lIns="36576" tIns="18288" rIns="36576" bIns="18288" anchor="t">
            <a:spAutoFit/>
          </a:bodyPr>
          <a:lstStyle/>
          <a:p>
            <a:pPr algn="l">
              <a:lnSpc>
                <a:spcPct val="100000"/>
              </a:lnSpc>
              <a:spcAft>
                <a:spcPts val="0"/>
              </a:spcAft>
              <a:defRPr/>
            </a:pPr>
            <a:r>
              <a:rPr lang="en-IN" sz="1800" b="1">
                <a:solidFill>
                  <a:srgbClr val="111827"/>
                </a:solidFill>
                <a:latin typeface="Segoe UI"/>
              </a:rPr>
              <a:t>GORANTLA </a:t>
            </a:r>
            <a:r>
              <a:rPr sz="1800" b="1">
                <a:solidFill>
                  <a:srgbClr val="111827"/>
                </a:solidFill>
                <a:latin typeface="Segoe UI"/>
              </a:rPr>
              <a:t>PRANAV</a:t>
            </a:r>
            <a:endParaRPr/>
          </a:p>
        </p:txBody>
      </p:sp>
      <p:sp>
        <p:nvSpPr>
          <p:cNvPr id="1985136629" name="TextBox 25"/>
          <p:cNvSpPr txBox="1"/>
          <p:nvPr/>
        </p:nvSpPr>
        <p:spPr bwMode="auto">
          <a:xfrm>
            <a:off x="7955279" y="4718304"/>
            <a:ext cx="356616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6B7280"/>
                </a:solidFill>
                <a:latin typeface="Segoe UI"/>
              </a:rPr>
              <a:t>2510030008</a:t>
            </a:r>
            <a:endParaRPr/>
          </a:p>
        </p:txBody>
      </p:sp>
      <p:sp>
        <p:nvSpPr>
          <p:cNvPr id="2003135233" name="Rectangle 26"/>
          <p:cNvSpPr/>
          <p:nvPr/>
        </p:nvSpPr>
        <p:spPr bwMode="auto">
          <a:xfrm>
            <a:off x="731520" y="5715000"/>
            <a:ext cx="10927079" cy="2743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9839936" name="TextBox 27"/>
          <p:cNvSpPr txBox="1"/>
          <p:nvPr/>
        </p:nvSpPr>
        <p:spPr bwMode="auto">
          <a:xfrm>
            <a:off x="731520" y="5852160"/>
            <a:ext cx="10881360" cy="45720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6B7280"/>
                </a:solidFill>
                <a:latin typeface="Segoe UI"/>
              </a:rPr>
              <a:t>Department of CSE  ·  KLH  ·  Faculty Guide: P LALITHA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1460600" name="Rectangle 1"/>
          <p:cNvSpPr/>
          <p:nvPr/>
        </p:nvSpPr>
        <p:spPr bwMode="auto">
          <a:xfrm>
            <a:off x="347472" y="502920"/>
            <a:ext cx="73152" cy="5669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157229" name="TextBox 2"/>
          <p:cNvSpPr txBox="1"/>
          <p:nvPr/>
        </p:nvSpPr>
        <p:spPr bwMode="auto">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defRPr/>
            </a:pPr>
            <a:r>
              <a:rPr sz="3400" b="1">
                <a:solidFill>
                  <a:srgbClr val="111827"/>
                </a:solidFill>
                <a:latin typeface="Segoe UI"/>
              </a:rPr>
              <a:t>Only GymVerse enforces gym rules inside the database</a:t>
            </a:r>
            <a:endParaRPr/>
          </a:p>
        </p:txBody>
      </p:sp>
      <p:sp>
        <p:nvSpPr>
          <p:cNvPr id="1811141416" name="Rounded Rectangle 3"/>
          <p:cNvSpPr/>
          <p:nvPr/>
        </p:nvSpPr>
        <p:spPr bwMode="auto">
          <a:xfrm>
            <a:off x="10058400" y="457200"/>
            <a:ext cx="1645920" cy="420624"/>
          </a:xfrm>
          <a:prstGeom prst="roundRect">
            <a:avLst>
              <a:gd name="adj" fmla="val 50000"/>
            </a:avLst>
          </a:prstGeom>
          <a:solidFill>
            <a:srgbClr val="FFFFFF"/>
          </a:solidFill>
          <a:ln w="15875">
            <a:solidFill>
              <a:srgbClr val="DC2626"/>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400" b="1">
                <a:solidFill>
                  <a:srgbClr val="DC2626"/>
                </a:solidFill>
                <a:latin typeface="Segoe UI"/>
              </a:rPr>
              <a:t>Novelty</a:t>
            </a:r>
            <a:endParaRPr/>
          </a:p>
        </p:txBody>
      </p:sp>
      <p:sp>
        <p:nvSpPr>
          <p:cNvPr id="1148899137" name="TextBox 4"/>
          <p:cNvSpPr txBox="1"/>
          <p:nvPr/>
        </p:nvSpPr>
        <p:spPr bwMode="auto">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defRPr/>
            </a:pPr>
            <a:r>
              <a:rPr sz="1400" b="0">
                <a:solidFill>
                  <a:srgbClr val="6B7280"/>
                </a:solidFill>
                <a:latin typeface="Segoe UI"/>
              </a:rPr>
              <a:t>2</a:t>
            </a:r>
            <a:endParaRPr/>
          </a:p>
        </p:txBody>
      </p:sp>
      <p:graphicFrame>
        <p:nvGraphicFramePr>
          <p:cNvPr id="886549413" name="Table 5"/>
          <p:cNvGraphicFramePr>
            <a:graphicFrameLocks xmlns:a="http://schemas.openxmlformats.org/drawingml/2006/main" noGrp="1"/>
          </p:cNvGraphicFramePr>
          <p:nvPr/>
        </p:nvGraphicFramePr>
        <p:xfrm rot="0">
          <a:off x="548640" y="1737360"/>
          <a:ext cx="11064234" cy="4206240"/>
        </p:xfrm>
        <a:graphic>
          <a:graphicData uri="http://schemas.openxmlformats.org/drawingml/2006/table">
            <a:tbl>
              <a:tblPr firstRow="0" firstCol="0" lastRow="0" lastCol="0" bandRow="0" bandCol="0">
                <a:tableStyleId>{5C22544A-7EE6-4342-B048-85BDC9FD1C3A}</a:tableStyleId>
              </a:tblPr>
              <a:tblGrid>
                <a:gridCol w="2697480"/>
                <a:gridCol w="1394459"/>
                <a:gridCol w="1394459"/>
                <a:gridCol w="1394459"/>
                <a:gridCol w="1394459"/>
                <a:gridCol w="1394459"/>
                <a:gridCol w="1394459"/>
              </a:tblGrid>
              <a:tr h="1280160">
                <a:tc>
                  <a:txBody>
                    <a:bodyPr/>
                    <a:p>
                      <a:pPr algn="l">
                        <a:defRPr/>
                      </a:pPr>
                      <a:r>
                        <a:rPr sz="1800" b="1">
                          <a:solidFill>
                            <a:srgbClr val="111827"/>
                          </a:solidFill>
                          <a:latin typeface="Segoe UI"/>
                        </a:rPr>
                        <a:t>Approach</a:t>
                      </a:r>
                      <a:endParaRPr/>
                    </a:p>
                  </a:txBody>
                  <a:tcPr marL="91440" marR="91440" anchor="ctr">
                    <a:solidFill>
                      <a:srgbClr val="F3F4F6"/>
                    </a:solidFill>
                  </a:tcPr>
                </a:tc>
                <a:tc>
                  <a:txBody>
                    <a:bodyPr/>
                    <a:p>
                      <a:pPr algn="ctr">
                        <a:defRPr/>
                      </a:pPr>
                      <a:r>
                        <a:rPr sz="1800" b="1">
                          <a:solidFill>
                            <a:srgbClr val="111827"/>
                          </a:solidFill>
                          <a:latin typeface="Segoe UI"/>
                        </a:rPr>
                        <a:t>One source of truth</a:t>
                      </a:r>
                      <a:endParaRPr/>
                    </a:p>
                  </a:txBody>
                  <a:tcPr marL="91440" marR="91440" anchor="ctr">
                    <a:solidFill>
                      <a:srgbClr val="F3F4F6"/>
                    </a:solidFill>
                  </a:tcPr>
                </a:tc>
                <a:tc>
                  <a:txBody>
                    <a:bodyPr/>
                    <a:p>
                      <a:pPr algn="ctr">
                        <a:defRPr/>
                      </a:pPr>
                      <a:r>
                        <a:rPr sz="1800" b="1">
                          <a:solidFill>
                            <a:srgbClr val="111827"/>
                          </a:solidFill>
                          <a:latin typeface="Segoe UI"/>
                        </a:rPr>
                        <a:t>Rules enforced in database</a:t>
                      </a:r>
                      <a:endParaRPr/>
                    </a:p>
                  </a:txBody>
                  <a:tcPr marL="91440" marR="91440" anchor="ctr">
                    <a:solidFill>
                      <a:srgbClr val="F3F4F6"/>
                    </a:solidFill>
                  </a:tcPr>
                </a:tc>
                <a:tc>
                  <a:txBody>
                    <a:bodyPr/>
                    <a:p>
                      <a:pPr algn="ctr">
                        <a:defRPr/>
                      </a:pPr>
                      <a:r>
                        <a:rPr sz="1800" b="1">
                          <a:solidFill>
                            <a:srgbClr val="111827"/>
                          </a:solidFill>
                          <a:latin typeface="Segoe UI"/>
                        </a:rPr>
                        <a:t>Safe with concurrent users</a:t>
                      </a:r>
                      <a:endParaRPr/>
                    </a:p>
                  </a:txBody>
                  <a:tcPr marL="91440" marR="91440" anchor="ctr">
                    <a:solidFill>
                      <a:srgbClr val="F3F4F6"/>
                    </a:solidFill>
                  </a:tcPr>
                </a:tc>
                <a:tc>
                  <a:txBody>
                    <a:bodyPr/>
                    <a:p>
                      <a:pPr algn="ctr">
                        <a:defRPr/>
                      </a:pPr>
                      <a:r>
                        <a:rPr sz="1800" b="1">
                          <a:solidFill>
                            <a:srgbClr val="111827"/>
                          </a:solidFill>
                          <a:latin typeface="Segoe UI"/>
                        </a:rPr>
                        <a:t>Per-record access</a:t>
                      </a:r>
                      <a:endParaRPr/>
                    </a:p>
                  </a:txBody>
                  <a:tcPr marL="91440" marR="91440" anchor="ctr">
                    <a:solidFill>
                      <a:srgbClr val="F3F4F6"/>
                    </a:solidFill>
                  </a:tcPr>
                </a:tc>
                <a:tc>
                  <a:txBody>
                    <a:bodyPr/>
                    <a:p>
                      <a:pPr algn="ctr">
                        <a:defRPr/>
                      </a:pPr>
                      <a:r>
                        <a:rPr sz="1800" b="1">
                          <a:solidFill>
                            <a:srgbClr val="111827"/>
                          </a:solidFill>
                          <a:latin typeface="Segoe UI"/>
                        </a:rPr>
                        <a:t>Audit trail</a:t>
                      </a:r>
                      <a:endParaRPr/>
                    </a:p>
                  </a:txBody>
                  <a:tcPr marL="91440" marR="91440" anchor="ctr">
                    <a:solidFill>
                      <a:srgbClr val="F3F4F6"/>
                    </a:solidFill>
                  </a:tcPr>
                </a:tc>
                <a:tc>
                  <a:txBody>
                    <a:bodyPr/>
                    <a:p>
                      <a:pPr algn="ctr">
                        <a:defRPr/>
                      </a:pPr>
                      <a:r>
                        <a:rPr sz="1800" b="1">
                          <a:solidFill>
                            <a:srgbClr val="111827"/>
                          </a:solidFill>
                          <a:latin typeface="Segoe UI"/>
                        </a:rPr>
                        <a:t>AI on live data</a:t>
                      </a:r>
                      <a:endParaRPr/>
                    </a:p>
                  </a:txBody>
                  <a:tcPr marL="91440" marR="91440" anchor="ctr">
                    <a:solidFill>
                      <a:srgbClr val="F3F4F6"/>
                    </a:solidFill>
                  </a:tcPr>
                </a:tc>
              </a:tr>
              <a:tr h="731520">
                <a:tc>
                  <a:txBody>
                    <a:bodyPr/>
                    <a:p>
                      <a:pPr algn="l">
                        <a:defRPr/>
                      </a:pPr>
                      <a:r>
                        <a:rPr sz="2000" b="1">
                          <a:solidFill>
                            <a:srgbClr val="111827"/>
                          </a:solidFill>
                          <a:latin typeface="Segoe UI"/>
                        </a:rPr>
                        <a:t>Paper registers</a:t>
                      </a:r>
                      <a:endParaRPr/>
                    </a:p>
                  </a:txBody>
                  <a:tcPr marL="91440" marR="91440" anchor="ctr">
                    <a:solidFill>
                      <a:srgbClr val="FFFFFF"/>
                    </a:solidFill>
                  </a:tcPr>
                </a:tc>
                <a:tc>
                  <a:txBody>
                    <a:bodyPr/>
                    <a:p>
                      <a:pPr algn="ctr">
                        <a:defRPr/>
                      </a:pPr>
                      <a:r>
                        <a:rPr sz="2600" b="1">
                          <a:solidFill>
                            <a:srgbClr val="9CA3AF"/>
                          </a:solidFill>
                          <a:latin typeface="Segoe UI Symbol"/>
                        </a:rPr>
                        <a:t>✕</a:t>
                      </a:r>
                      <a:endParaRPr/>
                    </a:p>
                  </a:txBody>
                  <a:tcPr marL="91440" marR="91440" anchor="ctr">
                    <a:solidFill>
                      <a:srgbClr val="FFFFFF"/>
                    </a:solidFill>
                  </a:tcPr>
                </a:tc>
                <a:tc>
                  <a:txBody>
                    <a:bodyPr/>
                    <a:p>
                      <a:pPr algn="ctr">
                        <a:defRPr/>
                      </a:pPr>
                      <a:r>
                        <a:rPr sz="2600" b="1">
                          <a:solidFill>
                            <a:srgbClr val="9CA3AF"/>
                          </a:solidFill>
                          <a:latin typeface="Segoe UI Symbol"/>
                        </a:rPr>
                        <a:t>✕</a:t>
                      </a:r>
                      <a:endParaRPr/>
                    </a:p>
                  </a:txBody>
                  <a:tcPr marL="91440" marR="91440" anchor="ctr">
                    <a:solidFill>
                      <a:srgbClr val="FFFFFF"/>
                    </a:solidFill>
                  </a:tcPr>
                </a:tc>
                <a:tc>
                  <a:txBody>
                    <a:bodyPr/>
                    <a:p>
                      <a:pPr algn="ctr">
                        <a:defRPr/>
                      </a:pPr>
                      <a:r>
                        <a:rPr sz="2600" b="1">
                          <a:solidFill>
                            <a:srgbClr val="9CA3AF"/>
                          </a:solidFill>
                          <a:latin typeface="Segoe UI Symbol"/>
                        </a:rPr>
                        <a:t>✕</a:t>
                      </a:r>
                      <a:endParaRPr/>
                    </a:p>
                  </a:txBody>
                  <a:tcPr marL="91440" marR="91440" anchor="ctr">
                    <a:solidFill>
                      <a:srgbClr val="FFFFFF"/>
                    </a:solidFill>
                  </a:tcPr>
                </a:tc>
                <a:tc>
                  <a:txBody>
                    <a:bodyPr/>
                    <a:p>
                      <a:pPr algn="ctr">
                        <a:defRPr/>
                      </a:pPr>
                      <a:r>
                        <a:rPr sz="2600" b="1">
                          <a:solidFill>
                            <a:srgbClr val="9CA3AF"/>
                          </a:solidFill>
                          <a:latin typeface="Segoe UI Symbol"/>
                        </a:rPr>
                        <a:t>✕</a:t>
                      </a:r>
                      <a:endParaRPr/>
                    </a:p>
                  </a:txBody>
                  <a:tcPr marL="91440" marR="91440" anchor="ctr">
                    <a:solidFill>
                      <a:srgbClr val="FFFFFF"/>
                    </a:solidFill>
                  </a:tcPr>
                </a:tc>
                <a:tc>
                  <a:txBody>
                    <a:bodyPr/>
                    <a:p>
                      <a:pPr algn="ctr">
                        <a:defRPr/>
                      </a:pPr>
                      <a:r>
                        <a:rPr sz="2600" b="1">
                          <a:solidFill>
                            <a:srgbClr val="9CA3AF"/>
                          </a:solidFill>
                          <a:latin typeface="Segoe UI Symbol"/>
                        </a:rPr>
                        <a:t>✕</a:t>
                      </a:r>
                      <a:endParaRPr/>
                    </a:p>
                  </a:txBody>
                  <a:tcPr marL="91440" marR="91440" anchor="ctr">
                    <a:solidFill>
                      <a:srgbClr val="FFFFFF"/>
                    </a:solidFill>
                  </a:tcPr>
                </a:tc>
                <a:tc>
                  <a:txBody>
                    <a:bodyPr/>
                    <a:p>
                      <a:pPr algn="ctr">
                        <a:defRPr/>
                      </a:pPr>
                      <a:r>
                        <a:rPr sz="2600" b="1">
                          <a:solidFill>
                            <a:srgbClr val="9CA3AF"/>
                          </a:solidFill>
                          <a:latin typeface="Segoe UI Symbol"/>
                        </a:rPr>
                        <a:t>✕</a:t>
                      </a:r>
                      <a:endParaRPr/>
                    </a:p>
                  </a:txBody>
                  <a:tcPr marL="91440" marR="91440" anchor="ctr">
                    <a:solidFill>
                      <a:srgbClr val="FFFFFF"/>
                    </a:solidFill>
                  </a:tcPr>
                </a:tc>
              </a:tr>
              <a:tr h="731520">
                <a:tc>
                  <a:txBody>
                    <a:bodyPr/>
                    <a:p>
                      <a:pPr algn="l">
                        <a:defRPr/>
                      </a:pPr>
                      <a:r>
                        <a:rPr sz="2000" b="1">
                          <a:solidFill>
                            <a:srgbClr val="111827"/>
                          </a:solidFill>
                          <a:latin typeface="Segoe UI"/>
                        </a:rPr>
                        <a:t>Spreadsheets</a:t>
                      </a:r>
                      <a:endParaRPr/>
                    </a:p>
                  </a:txBody>
                  <a:tcPr marL="91440" marR="91440" anchor="ctr">
                    <a:solidFill>
                      <a:srgbClr val="FFFFFF"/>
                    </a:solidFill>
                  </a:tcPr>
                </a:tc>
                <a:tc>
                  <a:txBody>
                    <a:bodyPr/>
                    <a:p>
                      <a:pPr algn="ctr">
                        <a:defRPr/>
                      </a:pPr>
                      <a:r>
                        <a:rPr sz="2600" b="1">
                          <a:solidFill>
                            <a:srgbClr val="9CA3AF"/>
                          </a:solidFill>
                          <a:latin typeface="Segoe UI Symbol"/>
                        </a:rPr>
                        <a:t>✕</a:t>
                      </a:r>
                      <a:endParaRPr/>
                    </a:p>
                  </a:txBody>
                  <a:tcPr marL="91440" marR="91440" anchor="ctr">
                    <a:solidFill>
                      <a:srgbClr val="FFFFFF"/>
                    </a:solidFill>
                  </a:tcPr>
                </a:tc>
                <a:tc>
                  <a:txBody>
                    <a:bodyPr/>
                    <a:p>
                      <a:pPr algn="ctr">
                        <a:defRPr/>
                      </a:pPr>
                      <a:r>
                        <a:rPr sz="1800" b="0">
                          <a:solidFill>
                            <a:srgbClr val="374151"/>
                          </a:solidFill>
                          <a:latin typeface="Segoe UI"/>
                        </a:rPr>
                        <a:t>Partial</a:t>
                      </a:r>
                      <a:endParaRPr/>
                    </a:p>
                  </a:txBody>
                  <a:tcPr marL="91440" marR="91440" anchor="ctr">
                    <a:solidFill>
                      <a:srgbClr val="FFFFFF"/>
                    </a:solidFill>
                  </a:tcPr>
                </a:tc>
                <a:tc>
                  <a:txBody>
                    <a:bodyPr/>
                    <a:p>
                      <a:pPr algn="ctr">
                        <a:defRPr/>
                      </a:pPr>
                      <a:r>
                        <a:rPr sz="2600" b="1">
                          <a:solidFill>
                            <a:srgbClr val="9CA3AF"/>
                          </a:solidFill>
                          <a:latin typeface="Segoe UI Symbol"/>
                        </a:rPr>
                        <a:t>✕</a:t>
                      </a:r>
                      <a:endParaRPr/>
                    </a:p>
                  </a:txBody>
                  <a:tcPr marL="91440" marR="91440" anchor="ctr">
                    <a:solidFill>
                      <a:srgbClr val="FFFFFF"/>
                    </a:solidFill>
                  </a:tcPr>
                </a:tc>
                <a:tc>
                  <a:txBody>
                    <a:bodyPr/>
                    <a:p>
                      <a:pPr algn="ctr">
                        <a:defRPr/>
                      </a:pPr>
                      <a:r>
                        <a:rPr sz="1800" b="0">
                          <a:solidFill>
                            <a:srgbClr val="374151"/>
                          </a:solidFill>
                          <a:latin typeface="Segoe UI"/>
                        </a:rPr>
                        <a:t>Partial</a:t>
                      </a:r>
                      <a:endParaRPr/>
                    </a:p>
                  </a:txBody>
                  <a:tcPr marL="91440" marR="91440" anchor="ctr">
                    <a:solidFill>
                      <a:srgbClr val="FFFFFF"/>
                    </a:solidFill>
                  </a:tcPr>
                </a:tc>
                <a:tc>
                  <a:txBody>
                    <a:bodyPr/>
                    <a:p>
                      <a:pPr algn="ctr">
                        <a:defRPr/>
                      </a:pPr>
                      <a:r>
                        <a:rPr sz="1800" b="0">
                          <a:solidFill>
                            <a:srgbClr val="374151"/>
                          </a:solidFill>
                          <a:latin typeface="Segoe UI"/>
                        </a:rPr>
                        <a:t>Partial</a:t>
                      </a:r>
                      <a:endParaRPr/>
                    </a:p>
                  </a:txBody>
                  <a:tcPr marL="91440" marR="91440" anchor="ctr">
                    <a:solidFill>
                      <a:srgbClr val="FFFFFF"/>
                    </a:solidFill>
                  </a:tcPr>
                </a:tc>
                <a:tc>
                  <a:txBody>
                    <a:bodyPr/>
                    <a:p>
                      <a:pPr algn="ctr">
                        <a:defRPr/>
                      </a:pPr>
                      <a:r>
                        <a:rPr sz="2600" b="1">
                          <a:solidFill>
                            <a:srgbClr val="9CA3AF"/>
                          </a:solidFill>
                          <a:latin typeface="Segoe UI Symbol"/>
                        </a:rPr>
                        <a:t>✕</a:t>
                      </a:r>
                      <a:endParaRPr/>
                    </a:p>
                  </a:txBody>
                  <a:tcPr marL="91440" marR="91440" anchor="ctr">
                    <a:solidFill>
                      <a:srgbClr val="FFFFFF"/>
                    </a:solidFill>
                  </a:tcPr>
                </a:tc>
              </a:tr>
              <a:tr h="731520">
                <a:tc>
                  <a:txBody>
                    <a:bodyPr/>
                    <a:p>
                      <a:pPr algn="l">
                        <a:defRPr/>
                      </a:pPr>
                      <a:r>
                        <a:rPr sz="2000" b="1">
                          <a:solidFill>
                            <a:srgbClr val="111827"/>
                          </a:solidFill>
                          <a:latin typeface="Segoe UI"/>
                        </a:rPr>
                        <a:t>[ADD APPROACH]</a:t>
                      </a:r>
                      <a:endParaRPr/>
                    </a:p>
                  </a:txBody>
                  <a:tcPr marL="91440" marR="91440" anchor="ctr">
                    <a:solidFill>
                      <a:srgbClr val="FFFFFF"/>
                    </a:solidFill>
                  </a:tcPr>
                </a:tc>
                <a:tc>
                  <a:txBody>
                    <a:bodyPr/>
                    <a:p>
                      <a:pPr algn="ctr">
                        <a:defRPr/>
                      </a:pPr>
                      <a:r>
                        <a:rPr sz="1800" b="0">
                          <a:solidFill>
                            <a:srgbClr val="374151"/>
                          </a:solidFill>
                          <a:latin typeface="Segoe UI"/>
                        </a:rPr>
                        <a:t>[ADD]</a:t>
                      </a:r>
                      <a:endParaRPr/>
                    </a:p>
                  </a:txBody>
                  <a:tcPr marL="91440" marR="91440" anchor="ctr">
                    <a:solidFill>
                      <a:srgbClr val="FFFFFF"/>
                    </a:solidFill>
                  </a:tcPr>
                </a:tc>
                <a:tc>
                  <a:txBody>
                    <a:bodyPr/>
                    <a:p>
                      <a:pPr algn="ctr">
                        <a:defRPr/>
                      </a:pPr>
                      <a:r>
                        <a:rPr sz="1800" b="0">
                          <a:solidFill>
                            <a:srgbClr val="374151"/>
                          </a:solidFill>
                          <a:latin typeface="Segoe UI"/>
                        </a:rPr>
                        <a:t>[ADD]</a:t>
                      </a:r>
                      <a:endParaRPr/>
                    </a:p>
                  </a:txBody>
                  <a:tcPr marL="91440" marR="91440" anchor="ctr">
                    <a:solidFill>
                      <a:srgbClr val="FFFFFF"/>
                    </a:solidFill>
                  </a:tcPr>
                </a:tc>
                <a:tc>
                  <a:txBody>
                    <a:bodyPr/>
                    <a:p>
                      <a:pPr algn="ctr">
                        <a:defRPr/>
                      </a:pPr>
                      <a:r>
                        <a:rPr sz="1800" b="0">
                          <a:solidFill>
                            <a:srgbClr val="374151"/>
                          </a:solidFill>
                          <a:latin typeface="Segoe UI"/>
                        </a:rPr>
                        <a:t>[ADD]</a:t>
                      </a:r>
                      <a:endParaRPr/>
                    </a:p>
                  </a:txBody>
                  <a:tcPr marL="91440" marR="91440" anchor="ctr">
                    <a:solidFill>
                      <a:srgbClr val="FFFFFF"/>
                    </a:solidFill>
                  </a:tcPr>
                </a:tc>
                <a:tc>
                  <a:txBody>
                    <a:bodyPr/>
                    <a:p>
                      <a:pPr algn="ctr">
                        <a:defRPr/>
                      </a:pPr>
                      <a:r>
                        <a:rPr sz="1800" b="0">
                          <a:solidFill>
                            <a:srgbClr val="374151"/>
                          </a:solidFill>
                          <a:latin typeface="Segoe UI"/>
                        </a:rPr>
                        <a:t>[ADD]</a:t>
                      </a:r>
                      <a:endParaRPr/>
                    </a:p>
                  </a:txBody>
                  <a:tcPr marL="91440" marR="91440" anchor="ctr">
                    <a:solidFill>
                      <a:srgbClr val="FFFFFF"/>
                    </a:solidFill>
                  </a:tcPr>
                </a:tc>
                <a:tc>
                  <a:txBody>
                    <a:bodyPr/>
                    <a:p>
                      <a:pPr algn="ctr">
                        <a:defRPr/>
                      </a:pPr>
                      <a:r>
                        <a:rPr sz="1800" b="0">
                          <a:solidFill>
                            <a:srgbClr val="374151"/>
                          </a:solidFill>
                          <a:latin typeface="Segoe UI"/>
                        </a:rPr>
                        <a:t>[ADD]</a:t>
                      </a:r>
                      <a:endParaRPr/>
                    </a:p>
                  </a:txBody>
                  <a:tcPr marL="91440" marR="91440" anchor="ctr">
                    <a:solidFill>
                      <a:srgbClr val="FFFFFF"/>
                    </a:solidFill>
                  </a:tcPr>
                </a:tc>
                <a:tc>
                  <a:txBody>
                    <a:bodyPr/>
                    <a:p>
                      <a:pPr algn="ctr">
                        <a:defRPr/>
                      </a:pPr>
                      <a:r>
                        <a:rPr sz="1800" b="0">
                          <a:solidFill>
                            <a:srgbClr val="374151"/>
                          </a:solidFill>
                          <a:latin typeface="Segoe UI"/>
                        </a:rPr>
                        <a:t>[ADD]</a:t>
                      </a:r>
                      <a:endParaRPr/>
                    </a:p>
                  </a:txBody>
                  <a:tcPr marL="91440" marR="91440" anchor="ctr">
                    <a:solidFill>
                      <a:srgbClr val="FFFFFF"/>
                    </a:solidFill>
                  </a:tcPr>
                </a:tc>
              </a:tr>
              <a:tr h="731520">
                <a:tc>
                  <a:txBody>
                    <a:bodyPr/>
                    <a:p>
                      <a:pPr algn="l">
                        <a:defRPr/>
                      </a:pPr>
                      <a:r>
                        <a:rPr sz="2000" b="1">
                          <a:solidFill>
                            <a:srgbClr val="2563EB"/>
                          </a:solidFill>
                          <a:latin typeface="Segoe UI"/>
                        </a:rPr>
                        <a:t>GymVerse (ours)</a:t>
                      </a:r>
                      <a:endParaRPr/>
                    </a:p>
                  </a:txBody>
                  <a:tcPr marL="91440" marR="91440" anchor="ctr">
                    <a:solidFill>
                      <a:srgbClr val="DBEAFE"/>
                    </a:solidFill>
                  </a:tcPr>
                </a:tc>
                <a:tc>
                  <a:txBody>
                    <a:bodyPr/>
                    <a:p>
                      <a:pPr algn="ctr">
                        <a:defRPr/>
                      </a:pPr>
                      <a:r>
                        <a:rPr sz="2600" b="1">
                          <a:solidFill>
                            <a:srgbClr val="2563EB"/>
                          </a:solidFill>
                          <a:latin typeface="Segoe UI Symbol"/>
                        </a:rPr>
                        <a:t>✓</a:t>
                      </a:r>
                      <a:endParaRPr/>
                    </a:p>
                  </a:txBody>
                  <a:tcPr marL="91440" marR="91440" anchor="ctr">
                    <a:solidFill>
                      <a:srgbClr val="DBEAFE"/>
                    </a:solidFill>
                  </a:tcPr>
                </a:tc>
                <a:tc>
                  <a:txBody>
                    <a:bodyPr/>
                    <a:p>
                      <a:pPr algn="ctr">
                        <a:defRPr/>
                      </a:pPr>
                      <a:r>
                        <a:rPr sz="2600" b="1">
                          <a:solidFill>
                            <a:srgbClr val="2563EB"/>
                          </a:solidFill>
                          <a:latin typeface="Segoe UI Symbol"/>
                        </a:rPr>
                        <a:t>✓</a:t>
                      </a:r>
                      <a:endParaRPr/>
                    </a:p>
                  </a:txBody>
                  <a:tcPr marL="91440" marR="91440" anchor="ctr">
                    <a:solidFill>
                      <a:srgbClr val="DBEAFE"/>
                    </a:solidFill>
                  </a:tcPr>
                </a:tc>
                <a:tc>
                  <a:txBody>
                    <a:bodyPr/>
                    <a:p>
                      <a:pPr algn="ctr">
                        <a:defRPr/>
                      </a:pPr>
                      <a:r>
                        <a:rPr sz="2600" b="1">
                          <a:solidFill>
                            <a:srgbClr val="2563EB"/>
                          </a:solidFill>
                          <a:latin typeface="Segoe UI Symbol"/>
                        </a:rPr>
                        <a:t>✓</a:t>
                      </a:r>
                      <a:endParaRPr/>
                    </a:p>
                  </a:txBody>
                  <a:tcPr marL="91440" marR="91440" anchor="ctr">
                    <a:solidFill>
                      <a:srgbClr val="DBEAFE"/>
                    </a:solidFill>
                  </a:tcPr>
                </a:tc>
                <a:tc>
                  <a:txBody>
                    <a:bodyPr/>
                    <a:p>
                      <a:pPr algn="ctr">
                        <a:defRPr/>
                      </a:pPr>
                      <a:r>
                        <a:rPr sz="2600" b="1">
                          <a:solidFill>
                            <a:srgbClr val="2563EB"/>
                          </a:solidFill>
                          <a:latin typeface="Segoe UI Symbol"/>
                        </a:rPr>
                        <a:t>✓</a:t>
                      </a:r>
                      <a:endParaRPr/>
                    </a:p>
                  </a:txBody>
                  <a:tcPr marL="91440" marR="91440" anchor="ctr">
                    <a:solidFill>
                      <a:srgbClr val="DBEAFE"/>
                    </a:solidFill>
                  </a:tcPr>
                </a:tc>
                <a:tc>
                  <a:txBody>
                    <a:bodyPr/>
                    <a:p>
                      <a:pPr algn="ctr">
                        <a:defRPr/>
                      </a:pPr>
                      <a:r>
                        <a:rPr sz="2600" b="1">
                          <a:solidFill>
                            <a:srgbClr val="2563EB"/>
                          </a:solidFill>
                          <a:latin typeface="Segoe UI Symbol"/>
                        </a:rPr>
                        <a:t>✓</a:t>
                      </a:r>
                      <a:endParaRPr/>
                    </a:p>
                  </a:txBody>
                  <a:tcPr marL="91440" marR="91440" anchor="ctr">
                    <a:solidFill>
                      <a:srgbClr val="DBEAFE"/>
                    </a:solidFill>
                  </a:tcPr>
                </a:tc>
                <a:tc>
                  <a:txBody>
                    <a:bodyPr/>
                    <a:p>
                      <a:pPr algn="ctr">
                        <a:defRPr/>
                      </a:pPr>
                      <a:r>
                        <a:rPr sz="2600" b="1">
                          <a:solidFill>
                            <a:srgbClr val="2563EB"/>
                          </a:solidFill>
                          <a:latin typeface="Segoe UI Symbol"/>
                        </a:rPr>
                        <a:t>✓</a:t>
                      </a:r>
                      <a:endParaRPr/>
                    </a:p>
                  </a:txBody>
                  <a:tcPr marL="91440" marR="91440" anchor="ctr">
                    <a:solidFill>
                      <a:srgbClr val="DBEAFE"/>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1608928" name="Rectangle 1"/>
          <p:cNvSpPr/>
          <p:nvPr/>
        </p:nvSpPr>
        <p:spPr bwMode="auto">
          <a:xfrm>
            <a:off x="347472" y="502920"/>
            <a:ext cx="73152" cy="5669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5245205" name="TextBox 2"/>
          <p:cNvSpPr txBox="1"/>
          <p:nvPr/>
        </p:nvSpPr>
        <p:spPr bwMode="auto">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defRPr/>
            </a:pPr>
            <a:r>
              <a:rPr sz="3400" b="1">
                <a:solidFill>
                  <a:srgbClr val="111827"/>
                </a:solidFill>
                <a:latin typeface="Segoe UI"/>
              </a:rPr>
              <a:t>Three contributions, built into every request</a:t>
            </a:r>
            <a:endParaRPr/>
          </a:p>
        </p:txBody>
      </p:sp>
      <p:sp>
        <p:nvSpPr>
          <p:cNvPr id="145350149" name="Rounded Rectangle 3"/>
          <p:cNvSpPr/>
          <p:nvPr/>
        </p:nvSpPr>
        <p:spPr bwMode="auto">
          <a:xfrm>
            <a:off x="10058400" y="457200"/>
            <a:ext cx="1645920" cy="420624"/>
          </a:xfrm>
          <a:prstGeom prst="roundRect">
            <a:avLst>
              <a:gd name="adj" fmla="val 50000"/>
            </a:avLst>
          </a:prstGeom>
          <a:solidFill>
            <a:srgbClr val="FFFFFF"/>
          </a:solidFill>
          <a:ln w="15875">
            <a:solidFill>
              <a:srgbClr val="DC2626"/>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400" b="1">
                <a:solidFill>
                  <a:srgbClr val="DC2626"/>
                </a:solidFill>
                <a:latin typeface="Segoe UI"/>
              </a:rPr>
              <a:t>Novelty</a:t>
            </a:r>
            <a:endParaRPr/>
          </a:p>
        </p:txBody>
      </p:sp>
      <p:sp>
        <p:nvSpPr>
          <p:cNvPr id="759327631" name="TextBox 4"/>
          <p:cNvSpPr txBox="1"/>
          <p:nvPr/>
        </p:nvSpPr>
        <p:spPr bwMode="auto">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defRPr/>
            </a:pPr>
            <a:r>
              <a:rPr sz="1400" b="0">
                <a:solidFill>
                  <a:srgbClr val="6B7280"/>
                </a:solidFill>
                <a:latin typeface="Segoe UI"/>
              </a:rPr>
              <a:t>3</a:t>
            </a:r>
            <a:endParaRPr/>
          </a:p>
        </p:txBody>
      </p:sp>
      <p:sp>
        <p:nvSpPr>
          <p:cNvPr id="1991136612" name="Rounded Rectangle 5"/>
          <p:cNvSpPr/>
          <p:nvPr/>
        </p:nvSpPr>
        <p:spPr bwMode="auto">
          <a:xfrm>
            <a:off x="457200" y="1874519"/>
            <a:ext cx="1645920" cy="91440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374151"/>
                </a:solidFill>
                <a:latin typeface="Segoe UI"/>
              </a:rPr>
              <a:t>React app</a:t>
            </a:r>
            <a:endParaRPr/>
          </a:p>
        </p:txBody>
      </p:sp>
      <p:cxnSp>
        <p:nvCxnSpPr>
          <p:cNvPr id="361505702" name="Connector 6"/>
          <p:cNvCxnSpPr/>
          <p:nvPr/>
        </p:nvCxnSpPr>
        <p:spPr bwMode="auto">
          <a:xfrm>
            <a:off x="2121408" y="2331720"/>
            <a:ext cx="32918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2472749" name="Rounded Rectangle 7"/>
          <p:cNvSpPr/>
          <p:nvPr/>
        </p:nvSpPr>
        <p:spPr bwMode="auto">
          <a:xfrm>
            <a:off x="2468880" y="1874519"/>
            <a:ext cx="1463040" cy="91440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374151"/>
                </a:solidFill>
                <a:latin typeface="Segoe UI"/>
              </a:rPr>
              <a:t>Rate limit</a:t>
            </a:r>
            <a:endParaRPr/>
          </a:p>
        </p:txBody>
      </p:sp>
      <p:cxnSp>
        <p:nvCxnSpPr>
          <p:cNvPr id="641143275" name="Connector 8"/>
          <p:cNvCxnSpPr/>
          <p:nvPr/>
        </p:nvCxnSpPr>
        <p:spPr bwMode="auto">
          <a:xfrm>
            <a:off x="3950208" y="233172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75365078" name="Rounded Rectangle 9"/>
          <p:cNvSpPr/>
          <p:nvPr/>
        </p:nvSpPr>
        <p:spPr bwMode="auto">
          <a:xfrm>
            <a:off x="4160519" y="1874519"/>
            <a:ext cx="1463040" cy="91440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FFFFFF"/>
                </a:solidFill>
                <a:latin typeface="Segoe UI"/>
              </a:rPr>
              <a:t>Session check</a:t>
            </a:r>
            <a:endParaRPr/>
          </a:p>
        </p:txBody>
      </p:sp>
      <p:cxnSp>
        <p:nvCxnSpPr>
          <p:cNvPr id="1499693511" name="Connector 10"/>
          <p:cNvCxnSpPr/>
          <p:nvPr/>
        </p:nvCxnSpPr>
        <p:spPr bwMode="auto">
          <a:xfrm>
            <a:off x="5641848" y="233172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3074590" name="Rounded Rectangle 11"/>
          <p:cNvSpPr/>
          <p:nvPr/>
        </p:nvSpPr>
        <p:spPr bwMode="auto">
          <a:xfrm>
            <a:off x="5852160" y="1874519"/>
            <a:ext cx="1463040" cy="91440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FFFFFF"/>
                </a:solidFill>
                <a:latin typeface="Segoe UI"/>
              </a:rPr>
              <a:t>Role + record access</a:t>
            </a:r>
            <a:endParaRPr/>
          </a:p>
        </p:txBody>
      </p:sp>
      <p:cxnSp>
        <p:nvCxnSpPr>
          <p:cNvPr id="44513523" name="Connector 12"/>
          <p:cNvCxnSpPr/>
          <p:nvPr/>
        </p:nvCxnSpPr>
        <p:spPr bwMode="auto">
          <a:xfrm>
            <a:off x="7333488" y="233172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4938327" name="Rounded Rectangle 13"/>
          <p:cNvSpPr/>
          <p:nvPr/>
        </p:nvSpPr>
        <p:spPr bwMode="auto">
          <a:xfrm>
            <a:off x="7543800" y="1874519"/>
            <a:ext cx="1463040" cy="91440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374151"/>
                </a:solidFill>
                <a:latin typeface="Segoe UI"/>
              </a:rPr>
              <a:t>Input validation</a:t>
            </a:r>
            <a:endParaRPr/>
          </a:p>
        </p:txBody>
      </p:sp>
      <p:sp>
        <p:nvSpPr>
          <p:cNvPr id="1449183635" name="TextBox 14"/>
          <p:cNvSpPr txBox="1"/>
          <p:nvPr/>
        </p:nvSpPr>
        <p:spPr bwMode="auto">
          <a:xfrm>
            <a:off x="2468880" y="2852928"/>
            <a:ext cx="329184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6B7280"/>
                </a:solidFill>
                <a:latin typeface="Segoe UI"/>
              </a:rPr>
              <a:t>Express API: four guards</a:t>
            </a:r>
            <a:endParaRPr/>
          </a:p>
        </p:txBody>
      </p:sp>
      <p:cxnSp>
        <p:nvCxnSpPr>
          <p:cNvPr id="1648503026" name="Connector 15"/>
          <p:cNvCxnSpPr/>
          <p:nvPr/>
        </p:nvCxnSpPr>
        <p:spPr bwMode="auto">
          <a:xfrm>
            <a:off x="8275320" y="2807208"/>
            <a:ext cx="0" cy="603504"/>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1638735" name="Rounded Rectangle 16"/>
          <p:cNvSpPr/>
          <p:nvPr/>
        </p:nvSpPr>
        <p:spPr bwMode="auto">
          <a:xfrm>
            <a:off x="5852160" y="3429000"/>
            <a:ext cx="3154680" cy="77724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374151"/>
                </a:solidFill>
                <a:latin typeface="Segoe UI"/>
              </a:rPr>
              <a:t>Controllers + transactions</a:t>
            </a:r>
            <a:endParaRPr/>
          </a:p>
        </p:txBody>
      </p:sp>
      <p:sp>
        <p:nvSpPr>
          <p:cNvPr id="382793568" name="Rounded Rectangle 17"/>
          <p:cNvSpPr/>
          <p:nvPr/>
        </p:nvSpPr>
        <p:spPr bwMode="auto">
          <a:xfrm>
            <a:off x="9372600" y="1600200"/>
            <a:ext cx="2377440" cy="4251960"/>
          </a:xfrm>
          <a:prstGeom prst="roundRect">
            <a:avLst>
              <a:gd name="adj" fmla="val 5000"/>
            </a:avLst>
          </a:prstGeom>
          <a:solidFill>
            <a:srgbClr val="FFFFFF"/>
          </a:solidFill>
          <a:ln w="19050">
            <a:solidFill>
              <a:srgbClr val="1118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13778601" name="TextBox 18"/>
          <p:cNvSpPr txBox="1"/>
          <p:nvPr/>
        </p:nvSpPr>
        <p:spPr bwMode="auto">
          <a:xfrm>
            <a:off x="9372600" y="1664208"/>
            <a:ext cx="2377440" cy="457200"/>
          </a:xfrm>
          <a:prstGeom prst="rect">
            <a:avLst/>
          </a:prstGeom>
          <a:noFill/>
        </p:spPr>
        <p:txBody>
          <a:bodyPr wrap="square" lIns="36576" tIns="18288" rIns="36576" bIns="18288" anchor="t">
            <a:spAutoFit/>
          </a:bodyPr>
          <a:lstStyle/>
          <a:p>
            <a:pPr algn="ctr">
              <a:lnSpc>
                <a:spcPct val="100000"/>
              </a:lnSpc>
              <a:spcAft>
                <a:spcPts val="0"/>
              </a:spcAft>
              <a:defRPr/>
            </a:pPr>
            <a:r>
              <a:rPr sz="2000" b="1">
                <a:solidFill>
                  <a:srgbClr val="111827"/>
                </a:solidFill>
                <a:latin typeface="Segoe UI"/>
              </a:rPr>
              <a:t>PostgreSQL</a:t>
            </a:r>
            <a:endParaRPr/>
          </a:p>
        </p:txBody>
      </p:sp>
      <p:sp>
        <p:nvSpPr>
          <p:cNvPr id="22042424" name="Rounded Rectangle 19"/>
          <p:cNvSpPr/>
          <p:nvPr/>
        </p:nvSpPr>
        <p:spPr bwMode="auto">
          <a:xfrm>
            <a:off x="9509760" y="2194560"/>
            <a:ext cx="2103120" cy="73152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FFFFFF"/>
                </a:solidFill>
                <a:latin typeface="Segoe UI"/>
              </a:rPr>
              <a:t>Unique &amp; partial indexes</a:t>
            </a:r>
            <a:endParaRPr/>
          </a:p>
        </p:txBody>
      </p:sp>
      <p:sp>
        <p:nvSpPr>
          <p:cNvPr id="1767005614" name="Rounded Rectangle 20"/>
          <p:cNvSpPr/>
          <p:nvPr/>
        </p:nvSpPr>
        <p:spPr bwMode="auto">
          <a:xfrm>
            <a:off x="9509760" y="3081528"/>
            <a:ext cx="2103120" cy="73152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FFFFFF"/>
                </a:solidFill>
                <a:latin typeface="Segoe UI"/>
              </a:rPr>
              <a:t>Row locks</a:t>
            </a:r>
            <a:endParaRPr/>
          </a:p>
        </p:txBody>
      </p:sp>
      <p:sp>
        <p:nvSpPr>
          <p:cNvPr id="452761391" name="Rounded Rectangle 21"/>
          <p:cNvSpPr/>
          <p:nvPr/>
        </p:nvSpPr>
        <p:spPr bwMode="auto">
          <a:xfrm>
            <a:off x="9509760" y="3968496"/>
            <a:ext cx="2103120" cy="73152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FFFFFF"/>
                </a:solidFill>
                <a:latin typeface="Segoe UI"/>
              </a:rPr>
              <a:t>Audit + capacity triggers</a:t>
            </a:r>
            <a:endParaRPr/>
          </a:p>
        </p:txBody>
      </p:sp>
      <p:sp>
        <p:nvSpPr>
          <p:cNvPr id="1461152044" name="Rounded Rectangle 22"/>
          <p:cNvSpPr/>
          <p:nvPr/>
        </p:nvSpPr>
        <p:spPr bwMode="auto">
          <a:xfrm>
            <a:off x="9509760" y="4855464"/>
            <a:ext cx="2103120" cy="73152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374151"/>
                </a:solidFill>
                <a:latin typeface="Segoe UI"/>
              </a:rPr>
              <a:t>Views &amp; functions</a:t>
            </a:r>
            <a:endParaRPr/>
          </a:p>
        </p:txBody>
      </p:sp>
      <p:cxnSp>
        <p:nvCxnSpPr>
          <p:cNvPr id="310723629" name="Connector 23"/>
          <p:cNvCxnSpPr/>
          <p:nvPr/>
        </p:nvCxnSpPr>
        <p:spPr bwMode="auto">
          <a:xfrm>
            <a:off x="9025128" y="3813048"/>
            <a:ext cx="32918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20231443" name="Rounded Rectangle 24"/>
          <p:cNvSpPr/>
          <p:nvPr/>
        </p:nvSpPr>
        <p:spPr bwMode="auto">
          <a:xfrm>
            <a:off x="5852160" y="4800600"/>
            <a:ext cx="1508759" cy="82296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FFFFFF"/>
                </a:solidFill>
                <a:latin typeface="Segoe UI"/>
              </a:rPr>
              <a:t>AI model fallback</a:t>
            </a:r>
            <a:endParaRPr/>
          </a:p>
        </p:txBody>
      </p:sp>
      <p:sp>
        <p:nvSpPr>
          <p:cNvPr id="650712163" name="Rounded Rectangle 25"/>
          <p:cNvSpPr/>
          <p:nvPr/>
        </p:nvSpPr>
        <p:spPr bwMode="auto">
          <a:xfrm>
            <a:off x="7498079" y="4800600"/>
            <a:ext cx="1508759" cy="82296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374151"/>
                </a:solidFill>
                <a:latin typeface="Segoe UI"/>
              </a:rPr>
              <a:t>Chat history (MongoDB)</a:t>
            </a:r>
            <a:endParaRPr/>
          </a:p>
        </p:txBody>
      </p:sp>
      <p:cxnSp>
        <p:nvCxnSpPr>
          <p:cNvPr id="871155584" name="Connector 26"/>
          <p:cNvCxnSpPr/>
          <p:nvPr/>
        </p:nvCxnSpPr>
        <p:spPr bwMode="auto">
          <a:xfrm>
            <a:off x="6601968" y="4224528"/>
            <a:ext cx="0" cy="557784"/>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11498008" name="Connector 27"/>
          <p:cNvCxnSpPr/>
          <p:nvPr/>
        </p:nvCxnSpPr>
        <p:spPr bwMode="auto">
          <a:xfrm>
            <a:off x="8247888" y="4224528"/>
            <a:ext cx="0" cy="557784"/>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1491016" name="Rounded Rectangle 28"/>
          <p:cNvSpPr/>
          <p:nvPr/>
        </p:nvSpPr>
        <p:spPr bwMode="auto">
          <a:xfrm>
            <a:off x="3840480" y="4800600"/>
            <a:ext cx="1783080" cy="82296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800" b="1">
                <a:solidFill>
                  <a:srgbClr val="374151"/>
                </a:solidFill>
                <a:latin typeface="Segoe UI"/>
              </a:rPr>
              <a:t>Gemini → Groq</a:t>
            </a:r>
            <a:endParaRPr/>
          </a:p>
        </p:txBody>
      </p:sp>
      <p:cxnSp>
        <p:nvCxnSpPr>
          <p:cNvPr id="1931414971" name="Connector 29"/>
          <p:cNvCxnSpPr/>
          <p:nvPr/>
        </p:nvCxnSpPr>
        <p:spPr bwMode="auto">
          <a:xfrm flipH="1">
            <a:off x="5641848" y="521208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85377728" name="Oval 30"/>
          <p:cNvSpPr/>
          <p:nvPr/>
        </p:nvSpPr>
        <p:spPr bwMode="auto">
          <a:xfrm>
            <a:off x="11384280" y="2011680"/>
            <a:ext cx="384048" cy="384048"/>
          </a:xfrm>
          <a:prstGeom prst="ellipse">
            <a:avLst/>
          </a:prstGeom>
          <a:solidFill>
            <a:srgbClr val="FFFFFF"/>
          </a:solidFill>
          <a:ln w="25400">
            <a:solidFill>
              <a:srgbClr val="2563E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a:pPr>
            <a:r>
              <a:rPr sz="1600" b="1">
                <a:solidFill>
                  <a:srgbClr val="2563EB"/>
                </a:solidFill>
                <a:latin typeface="Segoe UI"/>
              </a:rPr>
              <a:t>1</a:t>
            </a:r>
            <a:endParaRPr/>
          </a:p>
        </p:txBody>
      </p:sp>
      <p:sp>
        <p:nvSpPr>
          <p:cNvPr id="631081935" name="Oval 31"/>
          <p:cNvSpPr/>
          <p:nvPr/>
        </p:nvSpPr>
        <p:spPr bwMode="auto">
          <a:xfrm>
            <a:off x="7114032" y="1682496"/>
            <a:ext cx="384048" cy="384048"/>
          </a:xfrm>
          <a:prstGeom prst="ellipse">
            <a:avLst/>
          </a:prstGeom>
          <a:solidFill>
            <a:srgbClr val="FFFFFF"/>
          </a:solidFill>
          <a:ln w="25400">
            <a:solidFill>
              <a:srgbClr val="2563E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a:pPr>
            <a:r>
              <a:rPr sz="1600" b="1">
                <a:solidFill>
                  <a:srgbClr val="2563EB"/>
                </a:solidFill>
                <a:latin typeface="Segoe UI"/>
              </a:rPr>
              <a:t>2</a:t>
            </a:r>
            <a:endParaRPr/>
          </a:p>
        </p:txBody>
      </p:sp>
      <p:sp>
        <p:nvSpPr>
          <p:cNvPr id="755674001" name="Oval 32"/>
          <p:cNvSpPr/>
          <p:nvPr/>
        </p:nvSpPr>
        <p:spPr bwMode="auto">
          <a:xfrm>
            <a:off x="7159752" y="4608576"/>
            <a:ext cx="384048" cy="384048"/>
          </a:xfrm>
          <a:prstGeom prst="ellipse">
            <a:avLst/>
          </a:prstGeom>
          <a:solidFill>
            <a:srgbClr val="FFFFFF"/>
          </a:solidFill>
          <a:ln w="25400">
            <a:solidFill>
              <a:srgbClr val="2563E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a:pPr>
            <a:r>
              <a:rPr sz="1600" b="1">
                <a:solidFill>
                  <a:srgbClr val="2563EB"/>
                </a:solidFill>
                <a:latin typeface="Segoe UI"/>
              </a:rPr>
              <a:t>3</a:t>
            </a:r>
            <a:endParaRPr/>
          </a:p>
        </p:txBody>
      </p:sp>
      <p:sp>
        <p:nvSpPr>
          <p:cNvPr id="1008800062" name="Rounded Rectangle 33"/>
          <p:cNvSpPr/>
          <p:nvPr/>
        </p:nvSpPr>
        <p:spPr bwMode="auto">
          <a:xfrm>
            <a:off x="457200" y="3337560"/>
            <a:ext cx="3200400" cy="192024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9556167" name="TextBox 34"/>
          <p:cNvSpPr txBox="1"/>
          <p:nvPr/>
        </p:nvSpPr>
        <p:spPr bwMode="auto">
          <a:xfrm>
            <a:off x="685800" y="3456432"/>
            <a:ext cx="2834640" cy="457200"/>
          </a:xfrm>
          <a:prstGeom prst="rect">
            <a:avLst/>
          </a:prstGeom>
          <a:noFill/>
        </p:spPr>
        <p:txBody>
          <a:bodyPr wrap="square" lIns="36576" tIns="18288" rIns="36576" bIns="18288" anchor="t">
            <a:spAutoFit/>
          </a:bodyPr>
          <a:lstStyle/>
          <a:p>
            <a:pPr algn="l">
              <a:lnSpc>
                <a:spcPct val="100000"/>
              </a:lnSpc>
              <a:spcAft>
                <a:spcPts val="0"/>
              </a:spcAft>
              <a:defRPr/>
            </a:pPr>
            <a:r>
              <a:rPr sz="2000" b="1">
                <a:solidFill>
                  <a:srgbClr val="2563EB"/>
                </a:solidFill>
                <a:latin typeface="Segoe UI"/>
              </a:rPr>
              <a:t>Key contributions</a:t>
            </a:r>
            <a:endParaRPr/>
          </a:p>
        </p:txBody>
      </p:sp>
      <p:sp>
        <p:nvSpPr>
          <p:cNvPr id="236805759" name="TextBox 35"/>
          <p:cNvSpPr txBox="1"/>
          <p:nvPr/>
        </p:nvSpPr>
        <p:spPr bwMode="auto">
          <a:xfrm>
            <a:off x="685800" y="3977639"/>
            <a:ext cx="32004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2563EB"/>
                </a:solidFill>
                <a:latin typeface="Segoe UI"/>
              </a:rPr>
              <a:t>1</a:t>
            </a:r>
            <a:endParaRPr/>
          </a:p>
        </p:txBody>
      </p:sp>
      <p:sp>
        <p:nvSpPr>
          <p:cNvPr id="89247676" name="TextBox 36"/>
          <p:cNvSpPr txBox="1"/>
          <p:nvPr/>
        </p:nvSpPr>
        <p:spPr bwMode="auto">
          <a:xfrm>
            <a:off x="1005840" y="3977639"/>
            <a:ext cx="256032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111827"/>
                </a:solidFill>
                <a:latin typeface="Segoe UI"/>
              </a:rPr>
              <a:t>Rules in the database</a:t>
            </a:r>
            <a:endParaRPr/>
          </a:p>
        </p:txBody>
      </p:sp>
      <p:sp>
        <p:nvSpPr>
          <p:cNvPr id="125105744" name="TextBox 37"/>
          <p:cNvSpPr txBox="1"/>
          <p:nvPr/>
        </p:nvSpPr>
        <p:spPr bwMode="auto">
          <a:xfrm>
            <a:off x="685800" y="4389120"/>
            <a:ext cx="32004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2563EB"/>
                </a:solidFill>
                <a:latin typeface="Segoe UI"/>
              </a:rPr>
              <a:t>2</a:t>
            </a:r>
            <a:endParaRPr/>
          </a:p>
        </p:txBody>
      </p:sp>
      <p:sp>
        <p:nvSpPr>
          <p:cNvPr id="537978702" name="TextBox 38"/>
          <p:cNvSpPr txBox="1"/>
          <p:nvPr/>
        </p:nvSpPr>
        <p:spPr bwMode="auto">
          <a:xfrm>
            <a:off x="1005840" y="4389120"/>
            <a:ext cx="256032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111827"/>
                </a:solidFill>
                <a:latin typeface="Segoe UI"/>
              </a:rPr>
              <a:t>Per-record access</a:t>
            </a:r>
            <a:endParaRPr/>
          </a:p>
        </p:txBody>
      </p:sp>
      <p:sp>
        <p:nvSpPr>
          <p:cNvPr id="1174390018" name="TextBox 39"/>
          <p:cNvSpPr txBox="1"/>
          <p:nvPr/>
        </p:nvSpPr>
        <p:spPr bwMode="auto">
          <a:xfrm>
            <a:off x="685800" y="4800600"/>
            <a:ext cx="32004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2563EB"/>
                </a:solidFill>
                <a:latin typeface="Segoe UI"/>
              </a:rPr>
              <a:t>3</a:t>
            </a:r>
            <a:endParaRPr/>
          </a:p>
        </p:txBody>
      </p:sp>
      <p:sp>
        <p:nvSpPr>
          <p:cNvPr id="234269092" name="TextBox 40"/>
          <p:cNvSpPr txBox="1"/>
          <p:nvPr/>
        </p:nvSpPr>
        <p:spPr bwMode="auto">
          <a:xfrm>
            <a:off x="1005840" y="4800600"/>
            <a:ext cx="256032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111827"/>
                </a:solidFill>
                <a:latin typeface="Segoe UI"/>
              </a:rPr>
              <a:t>AI with model fallback</a:t>
            </a:r>
            <a:endParaRPr/>
          </a:p>
        </p:txBody>
      </p:sp>
      <p:sp>
        <p:nvSpPr>
          <p:cNvPr id="753226339" name="Rounded Rectangle 41"/>
          <p:cNvSpPr/>
          <p:nvPr/>
        </p:nvSpPr>
        <p:spPr bwMode="auto">
          <a:xfrm>
            <a:off x="548640" y="5971032"/>
            <a:ext cx="274320" cy="27432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01695955" name="TextBox 42"/>
          <p:cNvSpPr txBox="1"/>
          <p:nvPr/>
        </p:nvSpPr>
        <p:spPr bwMode="auto">
          <a:xfrm>
            <a:off x="914400" y="5897880"/>
            <a:ext cx="256032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374151"/>
                </a:solidFill>
                <a:latin typeface="Segoe UI"/>
              </a:rPr>
              <a:t>Novel in GymVerse</a:t>
            </a:r>
            <a:endParaRPr/>
          </a:p>
        </p:txBody>
      </p:sp>
      <p:sp>
        <p:nvSpPr>
          <p:cNvPr id="1505340833" name="Rounded Rectangle 43"/>
          <p:cNvSpPr/>
          <p:nvPr/>
        </p:nvSpPr>
        <p:spPr bwMode="auto">
          <a:xfrm>
            <a:off x="3474720" y="5971032"/>
            <a:ext cx="274320" cy="274320"/>
          </a:xfrm>
          <a:prstGeom prst="roundRect">
            <a:avLst>
              <a:gd name="adj" fmla="val 2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60986012" name="TextBox 44"/>
          <p:cNvSpPr txBox="1"/>
          <p:nvPr/>
        </p:nvSpPr>
        <p:spPr bwMode="auto">
          <a:xfrm>
            <a:off x="3840480" y="5897880"/>
            <a:ext cx="2560320" cy="41148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374151"/>
                </a:solidFill>
                <a:latin typeface="Segoe UI"/>
              </a:rPr>
              <a:t>Standard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9020596" name="Rectangle 1"/>
          <p:cNvSpPr/>
          <p:nvPr/>
        </p:nvSpPr>
        <p:spPr bwMode="auto">
          <a:xfrm>
            <a:off x="347472" y="502920"/>
            <a:ext cx="73152" cy="566928"/>
          </a:xfrm>
          <a:prstGeom prst="rect">
            <a:avLst/>
          </a:prstGeom>
          <a:solidFill>
            <a:srgbClr val="2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95686406" name="TextBox 2"/>
          <p:cNvSpPr txBox="1"/>
          <p:nvPr/>
        </p:nvSpPr>
        <p:spPr bwMode="auto">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defRPr/>
            </a:pPr>
            <a:r>
              <a:rPr sz="3400" b="1">
                <a:solidFill>
                  <a:srgbClr val="111827"/>
                </a:solidFill>
                <a:latin typeface="Segoe UI"/>
              </a:rPr>
              <a:t>One schema pattern fits any booking business</a:t>
            </a:r>
            <a:endParaRPr/>
          </a:p>
        </p:txBody>
      </p:sp>
      <p:sp>
        <p:nvSpPr>
          <p:cNvPr id="98802257" name="Rounded Rectangle 3"/>
          <p:cNvSpPr/>
          <p:nvPr/>
        </p:nvSpPr>
        <p:spPr bwMode="auto">
          <a:xfrm>
            <a:off x="10058400" y="457200"/>
            <a:ext cx="1645920" cy="420624"/>
          </a:xfrm>
          <a:prstGeom prst="roundRect">
            <a:avLst>
              <a:gd name="adj" fmla="val 50000"/>
            </a:avLst>
          </a:prstGeom>
          <a:solidFill>
            <a:srgbClr val="FFFFFF"/>
          </a:solidFill>
          <a:ln w="15875">
            <a:solidFill>
              <a:srgbClr val="2A7FA3"/>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400" b="1">
                <a:solidFill>
                  <a:srgbClr val="2A7FA3"/>
                </a:solidFill>
                <a:latin typeface="Segoe UI"/>
              </a:rPr>
              <a:t>Adaptability</a:t>
            </a:r>
            <a:endParaRPr/>
          </a:p>
        </p:txBody>
      </p:sp>
      <p:sp>
        <p:nvSpPr>
          <p:cNvPr id="1507318862" name="TextBox 4"/>
          <p:cNvSpPr txBox="1"/>
          <p:nvPr/>
        </p:nvSpPr>
        <p:spPr bwMode="auto">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defRPr/>
            </a:pPr>
            <a:r>
              <a:rPr sz="1400" b="0">
                <a:solidFill>
                  <a:srgbClr val="6B7280"/>
                </a:solidFill>
                <a:latin typeface="Segoe UI"/>
              </a:rPr>
              <a:t>4</a:t>
            </a:r>
            <a:endParaRPr/>
          </a:p>
        </p:txBody>
      </p:sp>
      <p:graphicFrame>
        <p:nvGraphicFramePr>
          <p:cNvPr id="1312174618" name="Table 5"/>
          <p:cNvGraphicFramePr>
            <a:graphicFrameLocks xmlns:a="http://schemas.openxmlformats.org/drawingml/2006/main" noGrp="1"/>
          </p:cNvGraphicFramePr>
          <p:nvPr/>
        </p:nvGraphicFramePr>
        <p:xfrm rot="0">
          <a:off x="548640" y="1691640"/>
          <a:ext cx="11064240" cy="2743200"/>
        </p:xfrm>
        <a:graphic>
          <a:graphicData uri="http://schemas.openxmlformats.org/drawingml/2006/table">
            <a:tbl>
              <a:tblPr firstRow="0" firstCol="0" lastRow="0" lastCol="0" bandRow="0" bandCol="0">
                <a:tableStyleId>{5C22544A-7EE6-4342-B048-85BDC9FD1C3A}</a:tableStyleId>
              </a:tblPr>
              <a:tblGrid>
                <a:gridCol w="2834640"/>
                <a:gridCol w="2057400"/>
                <a:gridCol w="2057400"/>
                <a:gridCol w="2057400"/>
                <a:gridCol w="2057400"/>
              </a:tblGrid>
              <a:tr h="548640">
                <a:tc>
                  <a:txBody>
                    <a:bodyPr/>
                    <a:p>
                      <a:pPr algn="l">
                        <a:defRPr/>
                      </a:pPr>
                      <a:r>
                        <a:rPr sz="1700" b="1">
                          <a:solidFill>
                            <a:srgbClr val="111827"/>
                          </a:solidFill>
                          <a:latin typeface="Segoe UI"/>
                        </a:rPr>
                        <a:t>Reusable pattern</a:t>
                      </a:r>
                      <a:endParaRPr/>
                    </a:p>
                  </a:txBody>
                  <a:tcPr marL="91440" marR="91440" anchor="ctr">
                    <a:solidFill>
                      <a:srgbClr val="F3F4F6"/>
                    </a:solidFill>
                  </a:tcPr>
                </a:tc>
                <a:tc>
                  <a:txBody>
                    <a:bodyPr/>
                    <a:p>
                      <a:pPr algn="ctr">
                        <a:defRPr/>
                      </a:pPr>
                      <a:r>
                        <a:rPr sz="1700" b="1">
                          <a:solidFill>
                            <a:srgbClr val="2563EB"/>
                          </a:solidFill>
                          <a:latin typeface="Segoe UI"/>
                        </a:rPr>
                        <a:t>GymVerse</a:t>
                      </a:r>
                      <a:endParaRPr/>
                    </a:p>
                  </a:txBody>
                  <a:tcPr marL="91440" marR="91440" anchor="ctr">
                    <a:solidFill>
                      <a:srgbClr val="DBEAFE"/>
                    </a:solidFill>
                  </a:tcPr>
                </a:tc>
                <a:tc>
                  <a:txBody>
                    <a:bodyPr/>
                    <a:p>
                      <a:pPr algn="ctr">
                        <a:defRPr/>
                      </a:pPr>
                      <a:r>
                        <a:rPr sz="1700" b="1">
                          <a:solidFill>
                            <a:srgbClr val="111827"/>
                          </a:solidFill>
                          <a:latin typeface="Segoe UI"/>
                        </a:rPr>
                        <a:t>Yoga studio</a:t>
                      </a:r>
                      <a:endParaRPr/>
                    </a:p>
                  </a:txBody>
                  <a:tcPr marL="91440" marR="91440" anchor="ctr">
                    <a:solidFill>
                      <a:srgbClr val="F3F4F6"/>
                    </a:solidFill>
                  </a:tcPr>
                </a:tc>
                <a:tc>
                  <a:txBody>
                    <a:bodyPr/>
                    <a:p>
                      <a:pPr algn="ctr">
                        <a:defRPr/>
                      </a:pPr>
                      <a:r>
                        <a:rPr sz="1700" b="1">
                          <a:solidFill>
                            <a:srgbClr val="111827"/>
                          </a:solidFill>
                          <a:latin typeface="Segoe UI"/>
                        </a:rPr>
                        <a:t>Physio clinic</a:t>
                      </a:r>
                      <a:endParaRPr/>
                    </a:p>
                  </a:txBody>
                  <a:tcPr marL="91440" marR="91440" anchor="ctr">
                    <a:solidFill>
                      <a:srgbClr val="F3F4F6"/>
                    </a:solidFill>
                  </a:tcPr>
                </a:tc>
                <a:tc>
                  <a:txBody>
                    <a:bodyPr/>
                    <a:p>
                      <a:pPr algn="ctr">
                        <a:defRPr/>
                      </a:pPr>
                      <a:r>
                        <a:rPr sz="1700" b="1">
                          <a:solidFill>
                            <a:srgbClr val="111827"/>
                          </a:solidFill>
                          <a:latin typeface="Segoe UI"/>
                        </a:rPr>
                        <a:t>Co-working</a:t>
                      </a:r>
                      <a:endParaRPr/>
                    </a:p>
                  </a:txBody>
                  <a:tcPr marL="91440" marR="91440" anchor="ctr">
                    <a:solidFill>
                      <a:srgbClr val="F3F4F6"/>
                    </a:solidFill>
                  </a:tcPr>
                </a:tc>
              </a:tr>
              <a:tr h="548640">
                <a:tc>
                  <a:txBody>
                    <a:bodyPr/>
                    <a:p>
                      <a:pPr algn="l">
                        <a:defRPr/>
                      </a:pPr>
                      <a:r>
                        <a:rPr sz="1700" b="1">
                          <a:solidFill>
                            <a:srgbClr val="111827"/>
                          </a:solidFill>
                          <a:latin typeface="Segoe UI"/>
                        </a:rPr>
                        <a:t>Client</a:t>
                      </a:r>
                      <a:endParaRPr/>
                    </a:p>
                  </a:txBody>
                  <a:tcPr marL="91440" marR="91440" anchor="ctr">
                    <a:solidFill>
                      <a:srgbClr val="FFFFFF"/>
                    </a:solidFill>
                  </a:tcPr>
                </a:tc>
                <a:tc>
                  <a:txBody>
                    <a:bodyPr/>
                    <a:p>
                      <a:pPr algn="ctr">
                        <a:defRPr/>
                      </a:pPr>
                      <a:r>
                        <a:rPr sz="1700" b="1">
                          <a:solidFill>
                            <a:srgbClr val="2563EB"/>
                          </a:solidFill>
                          <a:latin typeface="Segoe UI"/>
                        </a:rPr>
                        <a:t>Member</a:t>
                      </a:r>
                      <a:endParaRPr/>
                    </a:p>
                  </a:txBody>
                  <a:tcPr marL="91440" marR="91440" anchor="ctr">
                    <a:solidFill>
                      <a:srgbClr val="DBEAFE"/>
                    </a:solidFill>
                  </a:tcPr>
                </a:tc>
                <a:tc>
                  <a:txBody>
                    <a:bodyPr/>
                    <a:p>
                      <a:pPr algn="ctr">
                        <a:defRPr/>
                      </a:pPr>
                      <a:r>
                        <a:rPr sz="1700" b="0">
                          <a:solidFill>
                            <a:srgbClr val="374151"/>
                          </a:solidFill>
                          <a:latin typeface="Segoe UI"/>
                        </a:rPr>
                        <a:t>Student</a:t>
                      </a:r>
                      <a:endParaRPr/>
                    </a:p>
                  </a:txBody>
                  <a:tcPr marL="91440" marR="91440" anchor="ctr">
                    <a:solidFill>
                      <a:srgbClr val="FFFFFF"/>
                    </a:solidFill>
                  </a:tcPr>
                </a:tc>
                <a:tc>
                  <a:txBody>
                    <a:bodyPr/>
                    <a:p>
                      <a:pPr algn="ctr">
                        <a:defRPr/>
                      </a:pPr>
                      <a:r>
                        <a:rPr sz="1700" b="0">
                          <a:solidFill>
                            <a:srgbClr val="374151"/>
                          </a:solidFill>
                          <a:latin typeface="Segoe UI"/>
                        </a:rPr>
                        <a:t>Patient</a:t>
                      </a:r>
                      <a:endParaRPr/>
                    </a:p>
                  </a:txBody>
                  <a:tcPr marL="91440" marR="91440" anchor="ctr">
                    <a:solidFill>
                      <a:srgbClr val="FFFFFF"/>
                    </a:solidFill>
                  </a:tcPr>
                </a:tc>
                <a:tc>
                  <a:txBody>
                    <a:bodyPr/>
                    <a:p>
                      <a:pPr algn="ctr">
                        <a:defRPr/>
                      </a:pPr>
                      <a:r>
                        <a:rPr sz="1700" b="0">
                          <a:solidFill>
                            <a:srgbClr val="374151"/>
                          </a:solidFill>
                          <a:latin typeface="Segoe UI"/>
                        </a:rPr>
                        <a:t>Member</a:t>
                      </a:r>
                      <a:endParaRPr/>
                    </a:p>
                  </a:txBody>
                  <a:tcPr marL="91440" marR="91440" anchor="ctr">
                    <a:solidFill>
                      <a:srgbClr val="FFFFFF"/>
                    </a:solidFill>
                  </a:tcPr>
                </a:tc>
              </a:tr>
              <a:tr h="548640">
                <a:tc>
                  <a:txBody>
                    <a:bodyPr/>
                    <a:p>
                      <a:pPr algn="l">
                        <a:defRPr/>
                      </a:pPr>
                      <a:r>
                        <a:rPr sz="1700" b="1">
                          <a:solidFill>
                            <a:srgbClr val="111827"/>
                          </a:solidFill>
                          <a:latin typeface="Segoe UI"/>
                        </a:rPr>
                        <a:t>Plan → subscription</a:t>
                      </a:r>
                      <a:endParaRPr/>
                    </a:p>
                  </a:txBody>
                  <a:tcPr marL="91440" marR="91440" anchor="ctr">
                    <a:solidFill>
                      <a:srgbClr val="FFFFFF"/>
                    </a:solidFill>
                  </a:tcPr>
                </a:tc>
                <a:tc>
                  <a:txBody>
                    <a:bodyPr/>
                    <a:p>
                      <a:pPr algn="ctr">
                        <a:defRPr/>
                      </a:pPr>
                      <a:r>
                        <a:rPr sz="1700" b="1">
                          <a:solidFill>
                            <a:srgbClr val="2563EB"/>
                          </a:solidFill>
                          <a:latin typeface="Segoe UI"/>
                        </a:rPr>
                        <a:t>Membership plan</a:t>
                      </a:r>
                      <a:endParaRPr/>
                    </a:p>
                  </a:txBody>
                  <a:tcPr marL="91440" marR="91440" anchor="ctr">
                    <a:solidFill>
                      <a:srgbClr val="DBEAFE"/>
                    </a:solidFill>
                  </a:tcPr>
                </a:tc>
                <a:tc>
                  <a:txBody>
                    <a:bodyPr/>
                    <a:p>
                      <a:pPr algn="ctr">
                        <a:defRPr/>
                      </a:pPr>
                      <a:r>
                        <a:rPr sz="1700" b="0">
                          <a:solidFill>
                            <a:srgbClr val="374151"/>
                          </a:solidFill>
                          <a:latin typeface="Segoe UI"/>
                        </a:rPr>
                        <a:t>Class pass</a:t>
                      </a:r>
                      <a:endParaRPr/>
                    </a:p>
                  </a:txBody>
                  <a:tcPr marL="91440" marR="91440" anchor="ctr">
                    <a:solidFill>
                      <a:srgbClr val="FFFFFF"/>
                    </a:solidFill>
                  </a:tcPr>
                </a:tc>
                <a:tc>
                  <a:txBody>
                    <a:bodyPr/>
                    <a:p>
                      <a:pPr algn="ctr">
                        <a:defRPr/>
                      </a:pPr>
                      <a:r>
                        <a:rPr sz="1700" b="0">
                          <a:solidFill>
                            <a:srgbClr val="374151"/>
                          </a:solidFill>
                          <a:latin typeface="Segoe UI"/>
                        </a:rPr>
                        <a:t>Care package</a:t>
                      </a:r>
                      <a:endParaRPr/>
                    </a:p>
                  </a:txBody>
                  <a:tcPr marL="91440" marR="91440" anchor="ctr">
                    <a:solidFill>
                      <a:srgbClr val="FFFFFF"/>
                    </a:solidFill>
                  </a:tcPr>
                </a:tc>
                <a:tc>
                  <a:txBody>
                    <a:bodyPr/>
                    <a:p>
                      <a:pPr algn="ctr">
                        <a:defRPr/>
                      </a:pPr>
                      <a:r>
                        <a:rPr sz="1700" b="0">
                          <a:solidFill>
                            <a:srgbClr val="374151"/>
                          </a:solidFill>
                          <a:latin typeface="Segoe UI"/>
                        </a:rPr>
                        <a:t>Desk plan</a:t>
                      </a:r>
                      <a:endParaRPr/>
                    </a:p>
                  </a:txBody>
                  <a:tcPr marL="91440" marR="91440" anchor="ctr">
                    <a:solidFill>
                      <a:srgbClr val="FFFFFF"/>
                    </a:solidFill>
                  </a:tcPr>
                </a:tc>
              </a:tr>
              <a:tr h="548640">
                <a:tc>
                  <a:txBody>
                    <a:bodyPr/>
                    <a:p>
                      <a:pPr algn="l">
                        <a:defRPr/>
                      </a:pPr>
                      <a:r>
                        <a:rPr sz="1700" b="1">
                          <a:solidFill>
                            <a:srgbClr val="111827"/>
                          </a:solidFill>
                          <a:latin typeface="Segoe UI"/>
                        </a:rPr>
                        <a:t>Session with capacity</a:t>
                      </a:r>
                      <a:endParaRPr/>
                    </a:p>
                  </a:txBody>
                  <a:tcPr marL="91440" marR="91440" anchor="ctr">
                    <a:solidFill>
                      <a:srgbClr val="FFFFFF"/>
                    </a:solidFill>
                  </a:tcPr>
                </a:tc>
                <a:tc>
                  <a:txBody>
                    <a:bodyPr/>
                    <a:p>
                      <a:pPr algn="ctr">
                        <a:defRPr/>
                      </a:pPr>
                      <a:r>
                        <a:rPr sz="1700" b="1">
                          <a:solidFill>
                            <a:srgbClr val="2563EB"/>
                          </a:solidFill>
                          <a:latin typeface="Segoe UI"/>
                        </a:rPr>
                        <a:t>Class schedule</a:t>
                      </a:r>
                      <a:endParaRPr/>
                    </a:p>
                  </a:txBody>
                  <a:tcPr marL="91440" marR="91440" anchor="ctr">
                    <a:solidFill>
                      <a:srgbClr val="DBEAFE"/>
                    </a:solidFill>
                  </a:tcPr>
                </a:tc>
                <a:tc>
                  <a:txBody>
                    <a:bodyPr/>
                    <a:p>
                      <a:pPr algn="ctr">
                        <a:defRPr/>
                      </a:pPr>
                      <a:r>
                        <a:rPr sz="1700" b="0">
                          <a:solidFill>
                            <a:srgbClr val="374151"/>
                          </a:solidFill>
                          <a:latin typeface="Segoe UI"/>
                        </a:rPr>
                        <a:t>Yoga class</a:t>
                      </a:r>
                      <a:endParaRPr/>
                    </a:p>
                  </a:txBody>
                  <a:tcPr marL="91440" marR="91440" anchor="ctr">
                    <a:solidFill>
                      <a:srgbClr val="FFFFFF"/>
                    </a:solidFill>
                  </a:tcPr>
                </a:tc>
                <a:tc>
                  <a:txBody>
                    <a:bodyPr/>
                    <a:p>
                      <a:pPr algn="ctr">
                        <a:defRPr/>
                      </a:pPr>
                      <a:r>
                        <a:rPr sz="1700" b="0">
                          <a:solidFill>
                            <a:srgbClr val="374151"/>
                          </a:solidFill>
                          <a:latin typeface="Segoe UI"/>
                        </a:rPr>
                        <a:t>Appointment</a:t>
                      </a:r>
                      <a:endParaRPr/>
                    </a:p>
                  </a:txBody>
                  <a:tcPr marL="91440" marR="91440" anchor="ctr">
                    <a:solidFill>
                      <a:srgbClr val="FFFFFF"/>
                    </a:solidFill>
                  </a:tcPr>
                </a:tc>
                <a:tc>
                  <a:txBody>
                    <a:bodyPr/>
                    <a:p>
                      <a:pPr algn="ctr">
                        <a:defRPr/>
                      </a:pPr>
                      <a:r>
                        <a:rPr sz="1700" b="0">
                          <a:solidFill>
                            <a:srgbClr val="374151"/>
                          </a:solidFill>
                          <a:latin typeface="Segoe UI"/>
                        </a:rPr>
                        <a:t>Room slot</a:t>
                      </a:r>
                      <a:endParaRPr/>
                    </a:p>
                  </a:txBody>
                  <a:tcPr marL="91440" marR="91440" anchor="ctr">
                    <a:solidFill>
                      <a:srgbClr val="FFFFFF"/>
                    </a:solidFill>
                  </a:tcPr>
                </a:tc>
              </a:tr>
              <a:tr h="548640">
                <a:tc>
                  <a:txBody>
                    <a:bodyPr/>
                    <a:p>
                      <a:pPr algn="l">
                        <a:defRPr/>
                      </a:pPr>
                      <a:r>
                        <a:rPr sz="1700" b="1">
                          <a:solidFill>
                            <a:srgbClr val="111827"/>
                          </a:solidFill>
                          <a:latin typeface="Segoe UI"/>
                        </a:rPr>
                        <a:t>Staff see own clients</a:t>
                      </a:r>
                      <a:endParaRPr/>
                    </a:p>
                  </a:txBody>
                  <a:tcPr marL="91440" marR="91440" anchor="ctr">
                    <a:solidFill>
                      <a:srgbClr val="FFFFFF"/>
                    </a:solidFill>
                  </a:tcPr>
                </a:tc>
                <a:tc>
                  <a:txBody>
                    <a:bodyPr/>
                    <a:p>
                      <a:pPr algn="ctr">
                        <a:defRPr/>
                      </a:pPr>
                      <a:r>
                        <a:rPr sz="1700" b="1">
                          <a:solidFill>
                            <a:srgbClr val="2563EB"/>
                          </a:solidFill>
                          <a:latin typeface="Segoe UI"/>
                        </a:rPr>
                        <a:t>Trainer roster</a:t>
                      </a:r>
                      <a:endParaRPr/>
                    </a:p>
                  </a:txBody>
                  <a:tcPr marL="91440" marR="91440" anchor="ctr">
                    <a:solidFill>
                      <a:srgbClr val="DBEAFE"/>
                    </a:solidFill>
                  </a:tcPr>
                </a:tc>
                <a:tc>
                  <a:txBody>
                    <a:bodyPr/>
                    <a:p>
                      <a:pPr algn="ctr">
                        <a:defRPr/>
                      </a:pPr>
                      <a:r>
                        <a:rPr sz="1700" b="0">
                          <a:solidFill>
                            <a:srgbClr val="374151"/>
                          </a:solidFill>
                          <a:latin typeface="Segoe UI"/>
                        </a:rPr>
                        <a:t>Own classes</a:t>
                      </a:r>
                      <a:endParaRPr/>
                    </a:p>
                  </a:txBody>
                  <a:tcPr marL="91440" marR="91440" anchor="ctr">
                    <a:solidFill>
                      <a:srgbClr val="FFFFFF"/>
                    </a:solidFill>
                  </a:tcPr>
                </a:tc>
                <a:tc>
                  <a:txBody>
                    <a:bodyPr/>
                    <a:p>
                      <a:pPr algn="ctr">
                        <a:defRPr/>
                      </a:pPr>
                      <a:r>
                        <a:rPr sz="1700" b="0">
                          <a:solidFill>
                            <a:srgbClr val="374151"/>
                          </a:solidFill>
                          <a:latin typeface="Segoe UI"/>
                        </a:rPr>
                        <a:t>Own patients</a:t>
                      </a:r>
                      <a:endParaRPr/>
                    </a:p>
                  </a:txBody>
                  <a:tcPr marL="91440" marR="91440" anchor="ctr">
                    <a:solidFill>
                      <a:srgbClr val="FFFFFF"/>
                    </a:solidFill>
                  </a:tcPr>
                </a:tc>
                <a:tc>
                  <a:txBody>
                    <a:bodyPr/>
                    <a:p>
                      <a:pPr algn="ctr">
                        <a:defRPr/>
                      </a:pPr>
                      <a:r>
                        <a:rPr sz="1700" b="0">
                          <a:solidFill>
                            <a:srgbClr val="374151"/>
                          </a:solidFill>
                          <a:latin typeface="Segoe UI"/>
                        </a:rPr>
                        <a:t>Own bookings</a:t>
                      </a:r>
                      <a:endParaRPr/>
                    </a:p>
                  </a:txBody>
                  <a:tcPr marL="91440" marR="91440" anchor="ctr">
                    <a:solidFill>
                      <a:srgbClr val="FFFFFF"/>
                    </a:solidFill>
                  </a:tcPr>
                </a:tc>
              </a:tr>
            </a:tbl>
          </a:graphicData>
        </a:graphic>
      </p:graphicFrame>
      <p:sp>
        <p:nvSpPr>
          <p:cNvPr id="665629174" name="Rounded Rectangle 6"/>
          <p:cNvSpPr/>
          <p:nvPr/>
        </p:nvSpPr>
        <p:spPr bwMode="auto">
          <a:xfrm>
            <a:off x="548640" y="4709160"/>
            <a:ext cx="3566160" cy="14630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0572448" name="TextBox 7"/>
          <p:cNvSpPr txBox="1"/>
          <p:nvPr/>
        </p:nvSpPr>
        <p:spPr bwMode="auto">
          <a:xfrm>
            <a:off x="777240" y="4828032"/>
            <a:ext cx="1463040" cy="640080"/>
          </a:xfrm>
          <a:prstGeom prst="rect">
            <a:avLst/>
          </a:prstGeom>
          <a:noFill/>
        </p:spPr>
        <p:txBody>
          <a:bodyPr wrap="square" lIns="36576" tIns="18288" rIns="36576" bIns="18288" anchor="t">
            <a:spAutoFit/>
          </a:bodyPr>
          <a:lstStyle/>
          <a:p>
            <a:pPr algn="l">
              <a:lnSpc>
                <a:spcPct val="100000"/>
              </a:lnSpc>
              <a:spcAft>
                <a:spcPts val="0"/>
              </a:spcAft>
              <a:defRPr/>
            </a:pPr>
            <a:r>
              <a:rPr sz="2600" b="1">
                <a:solidFill>
                  <a:srgbClr val="2563EB"/>
                </a:solidFill>
                <a:latin typeface="Segoe UI Emoji"/>
              </a:rPr>
              <a:t>💻 → ☁</a:t>
            </a:r>
            <a:endParaRPr/>
          </a:p>
        </p:txBody>
      </p:sp>
      <p:sp>
        <p:nvSpPr>
          <p:cNvPr id="1733350629" name="TextBox 8"/>
          <p:cNvSpPr txBox="1"/>
          <p:nvPr/>
        </p:nvSpPr>
        <p:spPr bwMode="auto">
          <a:xfrm>
            <a:off x="777240" y="5394960"/>
            <a:ext cx="320040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One PC to hosted server</a:t>
            </a:r>
            <a:endParaRPr/>
          </a:p>
        </p:txBody>
      </p:sp>
      <p:sp>
        <p:nvSpPr>
          <p:cNvPr id="1817505969" name="TextBox 9"/>
          <p:cNvSpPr txBox="1"/>
          <p:nvPr/>
        </p:nvSpPr>
        <p:spPr bwMode="auto">
          <a:xfrm>
            <a:off x="777240" y="5760720"/>
            <a:ext cx="3200400" cy="411480"/>
          </a:xfrm>
          <a:prstGeom prst="rect">
            <a:avLst/>
          </a:prstGeom>
          <a:noFill/>
        </p:spPr>
        <p:txBody>
          <a:bodyPr wrap="square" lIns="36576" tIns="18288" rIns="36576" bIns="18288" anchor="t">
            <a:spAutoFit/>
          </a:bodyPr>
          <a:lstStyle/>
          <a:p>
            <a:pPr algn="l">
              <a:lnSpc>
                <a:spcPct val="100000"/>
              </a:lnSpc>
              <a:spcAft>
                <a:spcPts val="0"/>
              </a:spcAft>
              <a:defRPr/>
            </a:pPr>
            <a:r>
              <a:rPr sz="1600" b="0">
                <a:solidFill>
                  <a:srgbClr val="6B7280"/>
                </a:solidFill>
                <a:latin typeface="Segoe UI"/>
              </a:rPr>
              <a:t>AI, email, chat history optional</a:t>
            </a:r>
            <a:endParaRPr/>
          </a:p>
        </p:txBody>
      </p:sp>
      <p:sp>
        <p:nvSpPr>
          <p:cNvPr id="627389615" name="Rounded Rectangle 10"/>
          <p:cNvSpPr/>
          <p:nvPr/>
        </p:nvSpPr>
        <p:spPr bwMode="auto">
          <a:xfrm>
            <a:off x="4297679" y="4709160"/>
            <a:ext cx="3566160" cy="14630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35103125" name="TextBox 11"/>
          <p:cNvSpPr txBox="1"/>
          <p:nvPr/>
        </p:nvSpPr>
        <p:spPr bwMode="auto">
          <a:xfrm>
            <a:off x="4526279" y="4828032"/>
            <a:ext cx="1463040" cy="640080"/>
          </a:xfrm>
          <a:prstGeom prst="rect">
            <a:avLst/>
          </a:prstGeom>
          <a:noFill/>
        </p:spPr>
        <p:txBody>
          <a:bodyPr wrap="square" lIns="36576" tIns="18288" rIns="36576" bIns="18288" anchor="t">
            <a:spAutoFit/>
          </a:bodyPr>
          <a:lstStyle/>
          <a:p>
            <a:pPr algn="l">
              <a:lnSpc>
                <a:spcPct val="100000"/>
              </a:lnSpc>
              <a:spcAft>
                <a:spcPts val="0"/>
              </a:spcAft>
              <a:defRPr/>
            </a:pPr>
            <a:r>
              <a:rPr sz="2400" b="1">
                <a:solidFill>
                  <a:srgbClr val="2563EB"/>
                </a:solidFill>
                <a:latin typeface="Segoe UI"/>
              </a:rPr>
              <a:t>&lt; 9 ms</a:t>
            </a:r>
            <a:endParaRPr/>
          </a:p>
        </p:txBody>
      </p:sp>
      <p:sp>
        <p:nvSpPr>
          <p:cNvPr id="590360469" name="TextBox 12"/>
          <p:cNvSpPr txBox="1"/>
          <p:nvPr/>
        </p:nvSpPr>
        <p:spPr bwMode="auto">
          <a:xfrm>
            <a:off x="4526279" y="5394960"/>
            <a:ext cx="320040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at 1M check-ins</a:t>
            </a:r>
            <a:endParaRPr/>
          </a:p>
        </p:txBody>
      </p:sp>
      <p:sp>
        <p:nvSpPr>
          <p:cNvPr id="568040624" name="TextBox 13"/>
          <p:cNvSpPr txBox="1"/>
          <p:nvPr/>
        </p:nvSpPr>
        <p:spPr bwMode="auto">
          <a:xfrm>
            <a:off x="4526279" y="5760720"/>
            <a:ext cx="3200400" cy="411480"/>
          </a:xfrm>
          <a:prstGeom prst="rect">
            <a:avLst/>
          </a:prstGeom>
          <a:noFill/>
        </p:spPr>
        <p:txBody>
          <a:bodyPr wrap="square" lIns="36576" tIns="18288" rIns="36576" bIns="18288" anchor="t">
            <a:spAutoFit/>
          </a:bodyPr>
          <a:lstStyle/>
          <a:p>
            <a:pPr algn="l">
              <a:lnSpc>
                <a:spcPct val="100000"/>
              </a:lnSpc>
              <a:spcAft>
                <a:spcPts val="0"/>
              </a:spcAft>
              <a:defRPr/>
            </a:pPr>
            <a:r>
              <a:rPr sz="1600" b="0">
                <a:solidFill>
                  <a:srgbClr val="6B7280"/>
                </a:solidFill>
                <a:latin typeface="Segoe UI"/>
              </a:rPr>
              <a:t>every optimised key query</a:t>
            </a:r>
            <a:endParaRPr/>
          </a:p>
        </p:txBody>
      </p:sp>
      <p:sp>
        <p:nvSpPr>
          <p:cNvPr id="186381755" name="Rounded Rectangle 14"/>
          <p:cNvSpPr/>
          <p:nvPr/>
        </p:nvSpPr>
        <p:spPr bwMode="auto">
          <a:xfrm>
            <a:off x="8046719" y="4709160"/>
            <a:ext cx="3566160" cy="14630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21815476" name="TextBox 15"/>
          <p:cNvSpPr txBox="1"/>
          <p:nvPr/>
        </p:nvSpPr>
        <p:spPr bwMode="auto">
          <a:xfrm>
            <a:off x="8275319" y="4828032"/>
            <a:ext cx="1463040" cy="640080"/>
          </a:xfrm>
          <a:prstGeom prst="rect">
            <a:avLst/>
          </a:prstGeom>
          <a:noFill/>
        </p:spPr>
        <p:txBody>
          <a:bodyPr wrap="square" lIns="36576" tIns="18288" rIns="36576" bIns="18288" anchor="t">
            <a:spAutoFit/>
          </a:bodyPr>
          <a:lstStyle/>
          <a:p>
            <a:pPr algn="l">
              <a:lnSpc>
                <a:spcPct val="100000"/>
              </a:lnSpc>
              <a:spcAft>
                <a:spcPts val="0"/>
              </a:spcAft>
              <a:defRPr/>
            </a:pPr>
            <a:r>
              <a:rPr sz="2600" b="1">
                <a:solidFill>
                  <a:srgbClr val="2563EB"/>
                </a:solidFill>
                <a:latin typeface="Segoe UI Emoji"/>
              </a:rPr>
              <a:t>⚙</a:t>
            </a:r>
            <a:endParaRPr/>
          </a:p>
        </p:txBody>
      </p:sp>
      <p:sp>
        <p:nvSpPr>
          <p:cNvPr id="789529035" name="TextBox 16"/>
          <p:cNvSpPr txBox="1"/>
          <p:nvPr/>
        </p:nvSpPr>
        <p:spPr bwMode="auto">
          <a:xfrm>
            <a:off x="8275319" y="5394960"/>
            <a:ext cx="320040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Configure, don't recode</a:t>
            </a:r>
            <a:endParaRPr/>
          </a:p>
        </p:txBody>
      </p:sp>
      <p:sp>
        <p:nvSpPr>
          <p:cNvPr id="1285334829" name="TextBox 17"/>
          <p:cNvSpPr txBox="1"/>
          <p:nvPr/>
        </p:nvSpPr>
        <p:spPr bwMode="auto">
          <a:xfrm>
            <a:off x="8275319" y="5760720"/>
            <a:ext cx="3200400" cy="411480"/>
          </a:xfrm>
          <a:prstGeom prst="rect">
            <a:avLst/>
          </a:prstGeom>
          <a:noFill/>
        </p:spPr>
        <p:txBody>
          <a:bodyPr wrap="square" lIns="36576" tIns="18288" rIns="36576" bIns="18288" anchor="t">
            <a:spAutoFit/>
          </a:bodyPr>
          <a:lstStyle/>
          <a:p>
            <a:pPr algn="l">
              <a:lnSpc>
                <a:spcPct val="100000"/>
              </a:lnSpc>
              <a:spcAft>
                <a:spcPts val="0"/>
              </a:spcAft>
              <a:defRPr/>
            </a:pPr>
            <a:r>
              <a:rPr sz="1600" b="0">
                <a:solidFill>
                  <a:srgbClr val="6B7280"/>
                </a:solidFill>
                <a:latin typeface="Segoe UI"/>
              </a:rPr>
              <a:t>Plans · AI models · email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7481205" name="Rectangle 1"/>
          <p:cNvSpPr/>
          <p:nvPr/>
        </p:nvSpPr>
        <p:spPr bwMode="auto">
          <a:xfrm>
            <a:off x="347472" y="502920"/>
            <a:ext cx="73152" cy="566928"/>
          </a:xfrm>
          <a:prstGeom prst="rect">
            <a:avLst/>
          </a:prstGeom>
          <a:solidFill>
            <a:srgbClr val="B048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3630448" name="TextBox 2"/>
          <p:cNvSpPr txBox="1"/>
          <p:nvPr/>
        </p:nvSpPr>
        <p:spPr bwMode="auto">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defRPr/>
            </a:pPr>
            <a:r>
              <a:rPr sz="3400" b="1">
                <a:solidFill>
                  <a:srgbClr val="111827"/>
                </a:solidFill>
                <a:latin typeface="Segoe UI"/>
              </a:rPr>
              <a:t>Three independent methods test speed and correctness</a:t>
            </a:r>
            <a:endParaRPr/>
          </a:p>
        </p:txBody>
      </p:sp>
      <p:sp>
        <p:nvSpPr>
          <p:cNvPr id="576613535" name="Rounded Rectangle 3"/>
          <p:cNvSpPr/>
          <p:nvPr/>
        </p:nvSpPr>
        <p:spPr bwMode="auto">
          <a:xfrm>
            <a:off x="10058400" y="457200"/>
            <a:ext cx="1645920" cy="420624"/>
          </a:xfrm>
          <a:prstGeom prst="roundRect">
            <a:avLst>
              <a:gd name="adj" fmla="val 50000"/>
            </a:avLst>
          </a:prstGeom>
          <a:solidFill>
            <a:srgbClr val="FFFFFF"/>
          </a:solidFill>
          <a:ln w="15875">
            <a:solidFill>
              <a:srgbClr val="B04846"/>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400" b="1">
                <a:solidFill>
                  <a:srgbClr val="B04846"/>
                </a:solidFill>
                <a:latin typeface="Segoe UI"/>
              </a:rPr>
              <a:t>Evaluation</a:t>
            </a:r>
            <a:endParaRPr/>
          </a:p>
        </p:txBody>
      </p:sp>
      <p:sp>
        <p:nvSpPr>
          <p:cNvPr id="722182642" name="TextBox 4"/>
          <p:cNvSpPr txBox="1"/>
          <p:nvPr/>
        </p:nvSpPr>
        <p:spPr bwMode="auto">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defRPr/>
            </a:pPr>
            <a:r>
              <a:rPr sz="1400" b="0">
                <a:solidFill>
                  <a:srgbClr val="6B7280"/>
                </a:solidFill>
                <a:latin typeface="Segoe UI"/>
              </a:rPr>
              <a:t>5</a:t>
            </a:r>
            <a:endParaRPr/>
          </a:p>
        </p:txBody>
      </p:sp>
      <p:sp>
        <p:nvSpPr>
          <p:cNvPr id="269648605" name="Rounded Rectangle 5"/>
          <p:cNvSpPr/>
          <p:nvPr/>
        </p:nvSpPr>
        <p:spPr bwMode="auto">
          <a:xfrm>
            <a:off x="548640" y="1737360"/>
            <a:ext cx="3566160" cy="4434840"/>
          </a:xfrm>
          <a:prstGeom prst="roundRect">
            <a:avLst>
              <a:gd name="adj" fmla="val 5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16566307" name="Oval 6"/>
          <p:cNvSpPr/>
          <p:nvPr/>
        </p:nvSpPr>
        <p:spPr bwMode="auto">
          <a:xfrm>
            <a:off x="777240" y="1920240"/>
            <a:ext cx="548640" cy="548640"/>
          </a:xfrm>
          <a:prstGeom prst="ellipse">
            <a:avLst/>
          </a:prstGeom>
          <a:solidFill>
            <a:srgbClr val="B048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a:pPr>
            <a:r>
              <a:rPr sz="2000" b="1">
                <a:solidFill>
                  <a:srgbClr val="FFFFFF"/>
                </a:solidFill>
                <a:latin typeface="Segoe UI"/>
              </a:rPr>
              <a:t>1</a:t>
            </a:r>
            <a:endParaRPr/>
          </a:p>
        </p:txBody>
      </p:sp>
      <p:sp>
        <p:nvSpPr>
          <p:cNvPr id="431159194" name="TextBox 7"/>
          <p:cNvSpPr txBox="1"/>
          <p:nvPr/>
        </p:nvSpPr>
        <p:spPr bwMode="auto">
          <a:xfrm>
            <a:off x="1463040" y="1920240"/>
            <a:ext cx="2560320" cy="548640"/>
          </a:xfrm>
          <a:prstGeom prst="rect">
            <a:avLst/>
          </a:prstGeom>
          <a:noFill/>
        </p:spPr>
        <p:txBody>
          <a:bodyPr wrap="square" lIns="36576" tIns="18288" rIns="36576" bIns="18288" anchor="ctr">
            <a:spAutoFit/>
          </a:bodyPr>
          <a:lstStyle/>
          <a:p>
            <a:pPr algn="l">
              <a:lnSpc>
                <a:spcPct val="100000"/>
              </a:lnSpc>
              <a:spcAft>
                <a:spcPts val="0"/>
              </a:spcAft>
              <a:defRPr/>
            </a:pPr>
            <a:r>
              <a:rPr sz="2000" b="1">
                <a:solidFill>
                  <a:srgbClr val="111827"/>
                </a:solidFill>
                <a:latin typeface="Segoe UI"/>
              </a:rPr>
              <a:t>Performance ablation</a:t>
            </a:r>
            <a:endParaRPr/>
          </a:p>
        </p:txBody>
      </p:sp>
      <p:sp>
        <p:nvSpPr>
          <p:cNvPr id="850990553" name="TextBox 8"/>
          <p:cNvSpPr txBox="1"/>
          <p:nvPr/>
        </p:nvSpPr>
        <p:spPr bwMode="auto">
          <a:xfrm>
            <a:off x="777240" y="2697480"/>
            <a:ext cx="3108960" cy="365760"/>
          </a:xfrm>
          <a:prstGeom prst="rect">
            <a:avLst/>
          </a:prstGeom>
          <a:noFill/>
        </p:spPr>
        <p:txBody>
          <a:bodyPr wrap="square" lIns="36576" tIns="18288" rIns="36576" bIns="18288" anchor="t">
            <a:spAutoFit/>
          </a:bodyPr>
          <a:lstStyle/>
          <a:p>
            <a:pPr algn="l">
              <a:lnSpc>
                <a:spcPct val="100000"/>
              </a:lnSpc>
              <a:spcAft>
                <a:spcPts val="0"/>
              </a:spcAft>
              <a:defRPr/>
            </a:pPr>
            <a:r>
              <a:rPr sz="1400" b="1">
                <a:solidFill>
                  <a:srgbClr val="6B7280"/>
                </a:solidFill>
                <a:latin typeface="Segoe UI"/>
              </a:rPr>
              <a:t>QUESTION</a:t>
            </a:r>
            <a:endParaRPr/>
          </a:p>
        </p:txBody>
      </p:sp>
      <p:sp>
        <p:nvSpPr>
          <p:cNvPr id="1617646199" name="TextBox 9"/>
          <p:cNvSpPr txBox="1"/>
          <p:nvPr/>
        </p:nvSpPr>
        <p:spPr bwMode="auto">
          <a:xfrm>
            <a:off x="777240" y="3017519"/>
            <a:ext cx="3154680" cy="822960"/>
          </a:xfrm>
          <a:prstGeom prst="rect">
            <a:avLst/>
          </a:prstGeom>
          <a:noFill/>
        </p:spPr>
        <p:txBody>
          <a:bodyPr wrap="square" lIns="36576" tIns="18288" rIns="36576" bIns="18288" anchor="t">
            <a:spAutoFit/>
          </a:bodyPr>
          <a:lstStyle/>
          <a:p>
            <a:pPr algn="l">
              <a:lnSpc>
                <a:spcPct val="95000"/>
              </a:lnSpc>
              <a:spcAft>
                <a:spcPts val="0"/>
              </a:spcAft>
              <a:defRPr/>
            </a:pPr>
            <a:r>
              <a:rPr sz="1700" b="0">
                <a:solidFill>
                  <a:srgbClr val="374151"/>
                </a:solidFill>
                <a:latin typeface="Segoe UI"/>
              </a:rPr>
              <a:t>Do our indexes make real queries faster?</a:t>
            </a:r>
            <a:endParaRPr/>
          </a:p>
        </p:txBody>
      </p:sp>
      <p:sp>
        <p:nvSpPr>
          <p:cNvPr id="2097707934" name="TextBox 10"/>
          <p:cNvSpPr txBox="1"/>
          <p:nvPr/>
        </p:nvSpPr>
        <p:spPr bwMode="auto">
          <a:xfrm>
            <a:off x="777240" y="3703320"/>
            <a:ext cx="3108960" cy="365760"/>
          </a:xfrm>
          <a:prstGeom prst="rect">
            <a:avLst/>
          </a:prstGeom>
          <a:noFill/>
        </p:spPr>
        <p:txBody>
          <a:bodyPr wrap="square" lIns="36576" tIns="18288" rIns="36576" bIns="18288" anchor="t">
            <a:spAutoFit/>
          </a:bodyPr>
          <a:lstStyle/>
          <a:p>
            <a:pPr algn="l">
              <a:lnSpc>
                <a:spcPct val="100000"/>
              </a:lnSpc>
              <a:spcAft>
                <a:spcPts val="0"/>
              </a:spcAft>
              <a:defRPr/>
            </a:pPr>
            <a:r>
              <a:rPr sz="1400" b="1">
                <a:solidFill>
                  <a:srgbClr val="6B7280"/>
                </a:solidFill>
                <a:latin typeface="Segoe UI"/>
              </a:rPr>
              <a:t>METHOD</a:t>
            </a:r>
            <a:endParaRPr/>
          </a:p>
        </p:txBody>
      </p:sp>
      <p:sp>
        <p:nvSpPr>
          <p:cNvPr id="1738776834" name="TextBox 11"/>
          <p:cNvSpPr txBox="1"/>
          <p:nvPr/>
        </p:nvSpPr>
        <p:spPr bwMode="auto">
          <a:xfrm>
            <a:off x="777240" y="4023359"/>
            <a:ext cx="3154680" cy="822960"/>
          </a:xfrm>
          <a:prstGeom prst="rect">
            <a:avLst/>
          </a:prstGeom>
          <a:noFill/>
        </p:spPr>
        <p:txBody>
          <a:bodyPr wrap="square" lIns="36576" tIns="18288" rIns="36576" bIns="18288" anchor="t">
            <a:spAutoFit/>
          </a:bodyPr>
          <a:lstStyle/>
          <a:p>
            <a:pPr algn="l">
              <a:lnSpc>
                <a:spcPct val="95000"/>
              </a:lnSpc>
              <a:spcAft>
                <a:spcPts val="0"/>
              </a:spcAft>
              <a:defRPr/>
            </a:pPr>
            <a:r>
              <a:rPr sz="1700" b="0">
                <a:solidFill>
                  <a:srgbClr val="374151"/>
                </a:solidFill>
                <a:latin typeface="Segoe UI"/>
              </a:rPr>
              <a:t>App queries × 3 index setups · 50k members, 1M check-ins · 15 runs each</a:t>
            </a:r>
            <a:endParaRPr/>
          </a:p>
        </p:txBody>
      </p:sp>
      <p:sp>
        <p:nvSpPr>
          <p:cNvPr id="1359620831" name="TextBox 12"/>
          <p:cNvSpPr txBox="1"/>
          <p:nvPr/>
        </p:nvSpPr>
        <p:spPr bwMode="auto">
          <a:xfrm>
            <a:off x="777240" y="5029200"/>
            <a:ext cx="3108960" cy="365760"/>
          </a:xfrm>
          <a:prstGeom prst="rect">
            <a:avLst/>
          </a:prstGeom>
          <a:noFill/>
        </p:spPr>
        <p:txBody>
          <a:bodyPr wrap="square" lIns="36576" tIns="18288" rIns="36576" bIns="18288" anchor="t">
            <a:spAutoFit/>
          </a:bodyPr>
          <a:lstStyle/>
          <a:p>
            <a:pPr algn="l">
              <a:lnSpc>
                <a:spcPct val="100000"/>
              </a:lnSpc>
              <a:spcAft>
                <a:spcPts val="0"/>
              </a:spcAft>
              <a:defRPr/>
            </a:pPr>
            <a:r>
              <a:rPr sz="1400" b="1">
                <a:solidFill>
                  <a:srgbClr val="6B7280"/>
                </a:solidFill>
                <a:latin typeface="Segoe UI"/>
              </a:rPr>
              <a:t>MEASURE</a:t>
            </a:r>
            <a:endParaRPr/>
          </a:p>
        </p:txBody>
      </p:sp>
      <p:sp>
        <p:nvSpPr>
          <p:cNvPr id="18579878" name="TextBox 13"/>
          <p:cNvSpPr txBox="1"/>
          <p:nvPr/>
        </p:nvSpPr>
        <p:spPr bwMode="auto">
          <a:xfrm>
            <a:off x="777240" y="5349240"/>
            <a:ext cx="3154680" cy="822960"/>
          </a:xfrm>
          <a:prstGeom prst="rect">
            <a:avLst/>
          </a:prstGeom>
          <a:noFill/>
        </p:spPr>
        <p:txBody>
          <a:bodyPr wrap="square" lIns="36576" tIns="18288" rIns="36576" bIns="18288" anchor="t">
            <a:spAutoFit/>
          </a:bodyPr>
          <a:lstStyle/>
          <a:p>
            <a:pPr algn="l">
              <a:lnSpc>
                <a:spcPct val="95000"/>
              </a:lnSpc>
              <a:spcAft>
                <a:spcPts val="0"/>
              </a:spcAft>
              <a:defRPr/>
            </a:pPr>
            <a:r>
              <a:rPr sz="1700" b="0">
                <a:solidFill>
                  <a:srgbClr val="374151"/>
                </a:solidFill>
                <a:latin typeface="Segoe UI"/>
              </a:rPr>
              <a:t>Median time (EXPLAIN ANALYZE)</a:t>
            </a:r>
            <a:endParaRPr/>
          </a:p>
        </p:txBody>
      </p:sp>
      <p:sp>
        <p:nvSpPr>
          <p:cNvPr id="1190203122" name="Rounded Rectangle 14"/>
          <p:cNvSpPr/>
          <p:nvPr/>
        </p:nvSpPr>
        <p:spPr bwMode="auto">
          <a:xfrm>
            <a:off x="4297679" y="1737360"/>
            <a:ext cx="3566160" cy="4434840"/>
          </a:xfrm>
          <a:prstGeom prst="roundRect">
            <a:avLst>
              <a:gd name="adj" fmla="val 5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09369459" name="Oval 15"/>
          <p:cNvSpPr/>
          <p:nvPr/>
        </p:nvSpPr>
        <p:spPr bwMode="auto">
          <a:xfrm>
            <a:off x="4526279" y="1920240"/>
            <a:ext cx="548640" cy="548640"/>
          </a:xfrm>
          <a:prstGeom prst="ellipse">
            <a:avLst/>
          </a:prstGeom>
          <a:solidFill>
            <a:srgbClr val="B048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a:pPr>
            <a:r>
              <a:rPr sz="2000" b="1">
                <a:solidFill>
                  <a:srgbClr val="FFFFFF"/>
                </a:solidFill>
                <a:latin typeface="Segoe UI"/>
              </a:rPr>
              <a:t>2</a:t>
            </a:r>
            <a:endParaRPr/>
          </a:p>
        </p:txBody>
      </p:sp>
      <p:sp>
        <p:nvSpPr>
          <p:cNvPr id="1180963930" name="TextBox 16"/>
          <p:cNvSpPr txBox="1"/>
          <p:nvPr/>
        </p:nvSpPr>
        <p:spPr bwMode="auto">
          <a:xfrm>
            <a:off x="5212079" y="1920240"/>
            <a:ext cx="2560320" cy="548640"/>
          </a:xfrm>
          <a:prstGeom prst="rect">
            <a:avLst/>
          </a:prstGeom>
          <a:noFill/>
        </p:spPr>
        <p:txBody>
          <a:bodyPr wrap="square" lIns="36576" tIns="18288" rIns="36576" bIns="18288" anchor="ctr">
            <a:spAutoFit/>
          </a:bodyPr>
          <a:lstStyle/>
          <a:p>
            <a:pPr algn="l">
              <a:lnSpc>
                <a:spcPct val="100000"/>
              </a:lnSpc>
              <a:spcAft>
                <a:spcPts val="0"/>
              </a:spcAft>
              <a:defRPr/>
            </a:pPr>
            <a:r>
              <a:rPr sz="2000" b="1">
                <a:solidFill>
                  <a:srgbClr val="111827"/>
                </a:solidFill>
                <a:latin typeface="Segoe UI"/>
              </a:rPr>
              <a:t>Live end-to-end run</a:t>
            </a:r>
            <a:endParaRPr/>
          </a:p>
        </p:txBody>
      </p:sp>
      <p:sp>
        <p:nvSpPr>
          <p:cNvPr id="285683923" name="TextBox 17"/>
          <p:cNvSpPr txBox="1"/>
          <p:nvPr/>
        </p:nvSpPr>
        <p:spPr bwMode="auto">
          <a:xfrm>
            <a:off x="4526279" y="2697480"/>
            <a:ext cx="3108960" cy="365760"/>
          </a:xfrm>
          <a:prstGeom prst="rect">
            <a:avLst/>
          </a:prstGeom>
          <a:noFill/>
        </p:spPr>
        <p:txBody>
          <a:bodyPr wrap="square" lIns="36576" tIns="18288" rIns="36576" bIns="18288" anchor="t">
            <a:spAutoFit/>
          </a:bodyPr>
          <a:lstStyle/>
          <a:p>
            <a:pPr algn="l">
              <a:lnSpc>
                <a:spcPct val="100000"/>
              </a:lnSpc>
              <a:spcAft>
                <a:spcPts val="0"/>
              </a:spcAft>
              <a:defRPr/>
            </a:pPr>
            <a:r>
              <a:rPr sz="1400" b="1">
                <a:solidFill>
                  <a:srgbClr val="6B7280"/>
                </a:solidFill>
                <a:latin typeface="Segoe UI"/>
              </a:rPr>
              <a:t>QUESTION</a:t>
            </a:r>
            <a:endParaRPr/>
          </a:p>
        </p:txBody>
      </p:sp>
      <p:sp>
        <p:nvSpPr>
          <p:cNvPr id="1858474698" name="TextBox 18"/>
          <p:cNvSpPr txBox="1"/>
          <p:nvPr/>
        </p:nvSpPr>
        <p:spPr bwMode="auto">
          <a:xfrm>
            <a:off x="4526279" y="3017519"/>
            <a:ext cx="3154680" cy="822960"/>
          </a:xfrm>
          <a:prstGeom prst="rect">
            <a:avLst/>
          </a:prstGeom>
          <a:noFill/>
        </p:spPr>
        <p:txBody>
          <a:bodyPr wrap="square" lIns="36576" tIns="18288" rIns="36576" bIns="18288" anchor="t">
            <a:spAutoFit/>
          </a:bodyPr>
          <a:lstStyle/>
          <a:p>
            <a:pPr algn="l">
              <a:lnSpc>
                <a:spcPct val="95000"/>
              </a:lnSpc>
              <a:spcAft>
                <a:spcPts val="0"/>
              </a:spcAft>
              <a:defRPr/>
            </a:pPr>
            <a:r>
              <a:rPr sz="1700" b="0">
                <a:solidFill>
                  <a:srgbClr val="374151"/>
                </a:solidFill>
                <a:latin typeface="Segoe UI"/>
              </a:rPr>
              <a:t>Does every feature work for every role?</a:t>
            </a:r>
            <a:endParaRPr/>
          </a:p>
        </p:txBody>
      </p:sp>
      <p:sp>
        <p:nvSpPr>
          <p:cNvPr id="440522013" name="TextBox 19"/>
          <p:cNvSpPr txBox="1"/>
          <p:nvPr/>
        </p:nvSpPr>
        <p:spPr bwMode="auto">
          <a:xfrm>
            <a:off x="4526279" y="3703320"/>
            <a:ext cx="3108960" cy="365760"/>
          </a:xfrm>
          <a:prstGeom prst="rect">
            <a:avLst/>
          </a:prstGeom>
          <a:noFill/>
        </p:spPr>
        <p:txBody>
          <a:bodyPr wrap="square" lIns="36576" tIns="18288" rIns="36576" bIns="18288" anchor="t">
            <a:spAutoFit/>
          </a:bodyPr>
          <a:lstStyle/>
          <a:p>
            <a:pPr algn="l">
              <a:lnSpc>
                <a:spcPct val="100000"/>
              </a:lnSpc>
              <a:spcAft>
                <a:spcPts val="0"/>
              </a:spcAft>
              <a:defRPr/>
            </a:pPr>
            <a:r>
              <a:rPr sz="1400" b="1">
                <a:solidFill>
                  <a:srgbClr val="6B7280"/>
                </a:solidFill>
                <a:latin typeface="Segoe UI"/>
              </a:rPr>
              <a:t>METHOD</a:t>
            </a:r>
            <a:endParaRPr/>
          </a:p>
        </p:txBody>
      </p:sp>
      <p:sp>
        <p:nvSpPr>
          <p:cNvPr id="535596623" name="TextBox 20"/>
          <p:cNvSpPr txBox="1"/>
          <p:nvPr/>
        </p:nvSpPr>
        <p:spPr bwMode="auto">
          <a:xfrm>
            <a:off x="4526279" y="4023359"/>
            <a:ext cx="3154680" cy="822960"/>
          </a:xfrm>
          <a:prstGeom prst="rect">
            <a:avLst/>
          </a:prstGeom>
          <a:noFill/>
        </p:spPr>
        <p:txBody>
          <a:bodyPr wrap="square" lIns="36576" tIns="18288" rIns="36576" bIns="18288" anchor="t">
            <a:spAutoFit/>
          </a:bodyPr>
          <a:lstStyle/>
          <a:p>
            <a:pPr algn="l">
              <a:lnSpc>
                <a:spcPct val="95000"/>
              </a:lnSpc>
              <a:spcAft>
                <a:spcPts val="0"/>
              </a:spcAft>
              <a:defRPr/>
            </a:pPr>
            <a:r>
              <a:rPr sz="1700" b="0">
                <a:solidFill>
                  <a:srgbClr val="374151"/>
                </a:solidFill>
                <a:latin typeface="Segoe UI"/>
              </a:rPr>
              <a:t>Drive the real API as admin, receptionist, trainer and member</a:t>
            </a:r>
            <a:endParaRPr/>
          </a:p>
        </p:txBody>
      </p:sp>
      <p:sp>
        <p:nvSpPr>
          <p:cNvPr id="513174986" name="TextBox 21"/>
          <p:cNvSpPr txBox="1"/>
          <p:nvPr/>
        </p:nvSpPr>
        <p:spPr bwMode="auto">
          <a:xfrm>
            <a:off x="4526279" y="5029200"/>
            <a:ext cx="3108960" cy="365760"/>
          </a:xfrm>
          <a:prstGeom prst="rect">
            <a:avLst/>
          </a:prstGeom>
          <a:noFill/>
        </p:spPr>
        <p:txBody>
          <a:bodyPr wrap="square" lIns="36576" tIns="18288" rIns="36576" bIns="18288" anchor="t">
            <a:spAutoFit/>
          </a:bodyPr>
          <a:lstStyle/>
          <a:p>
            <a:pPr algn="l">
              <a:lnSpc>
                <a:spcPct val="100000"/>
              </a:lnSpc>
              <a:spcAft>
                <a:spcPts val="0"/>
              </a:spcAft>
              <a:defRPr/>
            </a:pPr>
            <a:r>
              <a:rPr sz="1400" b="1">
                <a:solidFill>
                  <a:srgbClr val="6B7280"/>
                </a:solidFill>
                <a:latin typeface="Segoe UI"/>
              </a:rPr>
              <a:t>MEASURE</a:t>
            </a:r>
            <a:endParaRPr/>
          </a:p>
        </p:txBody>
      </p:sp>
      <p:sp>
        <p:nvSpPr>
          <p:cNvPr id="247046793" name="TextBox 22"/>
          <p:cNvSpPr txBox="1"/>
          <p:nvPr/>
        </p:nvSpPr>
        <p:spPr bwMode="auto">
          <a:xfrm>
            <a:off x="4526279" y="5349240"/>
            <a:ext cx="3154680" cy="822960"/>
          </a:xfrm>
          <a:prstGeom prst="rect">
            <a:avLst/>
          </a:prstGeom>
          <a:noFill/>
        </p:spPr>
        <p:txBody>
          <a:bodyPr wrap="square" lIns="36576" tIns="18288" rIns="36576" bIns="18288" anchor="t">
            <a:spAutoFit/>
          </a:bodyPr>
          <a:lstStyle/>
          <a:p>
            <a:pPr algn="l">
              <a:lnSpc>
                <a:spcPct val="95000"/>
              </a:lnSpc>
              <a:spcAft>
                <a:spcPts val="0"/>
              </a:spcAft>
              <a:defRPr/>
            </a:pPr>
            <a:r>
              <a:rPr sz="1700" b="0">
                <a:solidFill>
                  <a:srgbClr val="374151"/>
                </a:solidFill>
                <a:latin typeface="Segoe UI"/>
              </a:rPr>
              <a:t>116 checks; each write confirmed in the database</a:t>
            </a:r>
            <a:endParaRPr/>
          </a:p>
        </p:txBody>
      </p:sp>
      <p:sp>
        <p:nvSpPr>
          <p:cNvPr id="390392510" name="Rounded Rectangle 23"/>
          <p:cNvSpPr/>
          <p:nvPr/>
        </p:nvSpPr>
        <p:spPr bwMode="auto">
          <a:xfrm>
            <a:off x="8046719" y="1737360"/>
            <a:ext cx="3566160" cy="4434840"/>
          </a:xfrm>
          <a:prstGeom prst="roundRect">
            <a:avLst>
              <a:gd name="adj" fmla="val 5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48246670" name="Oval 24"/>
          <p:cNvSpPr/>
          <p:nvPr/>
        </p:nvSpPr>
        <p:spPr bwMode="auto">
          <a:xfrm>
            <a:off x="8275319" y="1920240"/>
            <a:ext cx="548640" cy="548640"/>
          </a:xfrm>
          <a:prstGeom prst="ellipse">
            <a:avLst/>
          </a:prstGeom>
          <a:solidFill>
            <a:srgbClr val="B048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a:pPr>
            <a:r>
              <a:rPr sz="2000" b="1">
                <a:solidFill>
                  <a:srgbClr val="FFFFFF"/>
                </a:solidFill>
                <a:latin typeface="Segoe UI"/>
              </a:rPr>
              <a:t>3</a:t>
            </a:r>
            <a:endParaRPr/>
          </a:p>
        </p:txBody>
      </p:sp>
      <p:sp>
        <p:nvSpPr>
          <p:cNvPr id="481001331" name="TextBox 25"/>
          <p:cNvSpPr txBox="1"/>
          <p:nvPr/>
        </p:nvSpPr>
        <p:spPr bwMode="auto">
          <a:xfrm>
            <a:off x="8961119" y="1920240"/>
            <a:ext cx="2560320" cy="548640"/>
          </a:xfrm>
          <a:prstGeom prst="rect">
            <a:avLst/>
          </a:prstGeom>
          <a:noFill/>
        </p:spPr>
        <p:txBody>
          <a:bodyPr wrap="square" lIns="36576" tIns="18288" rIns="36576" bIns="18288" anchor="ctr">
            <a:spAutoFit/>
          </a:bodyPr>
          <a:lstStyle/>
          <a:p>
            <a:pPr algn="l">
              <a:lnSpc>
                <a:spcPct val="100000"/>
              </a:lnSpc>
              <a:spcAft>
                <a:spcPts val="0"/>
              </a:spcAft>
              <a:defRPr/>
            </a:pPr>
            <a:r>
              <a:rPr sz="2000" b="1">
                <a:solidFill>
                  <a:srgbClr val="111827"/>
                </a:solidFill>
                <a:latin typeface="Segoe UI"/>
              </a:rPr>
              <a:t>Automated test suites</a:t>
            </a:r>
            <a:endParaRPr/>
          </a:p>
        </p:txBody>
      </p:sp>
      <p:sp>
        <p:nvSpPr>
          <p:cNvPr id="2028429426" name="TextBox 26"/>
          <p:cNvSpPr txBox="1"/>
          <p:nvPr/>
        </p:nvSpPr>
        <p:spPr bwMode="auto">
          <a:xfrm>
            <a:off x="8275319" y="2697480"/>
            <a:ext cx="3108960" cy="365760"/>
          </a:xfrm>
          <a:prstGeom prst="rect">
            <a:avLst/>
          </a:prstGeom>
          <a:noFill/>
        </p:spPr>
        <p:txBody>
          <a:bodyPr wrap="square" lIns="36576" tIns="18288" rIns="36576" bIns="18288" anchor="t">
            <a:spAutoFit/>
          </a:bodyPr>
          <a:lstStyle/>
          <a:p>
            <a:pPr algn="l">
              <a:lnSpc>
                <a:spcPct val="100000"/>
              </a:lnSpc>
              <a:spcAft>
                <a:spcPts val="0"/>
              </a:spcAft>
              <a:defRPr/>
            </a:pPr>
            <a:r>
              <a:rPr sz="1400" b="1">
                <a:solidFill>
                  <a:srgbClr val="6B7280"/>
                </a:solidFill>
                <a:latin typeface="Segoe UI"/>
              </a:rPr>
              <a:t>QUESTION</a:t>
            </a:r>
            <a:endParaRPr/>
          </a:p>
        </p:txBody>
      </p:sp>
      <p:sp>
        <p:nvSpPr>
          <p:cNvPr id="168432465" name="TextBox 27"/>
          <p:cNvSpPr txBox="1"/>
          <p:nvPr/>
        </p:nvSpPr>
        <p:spPr bwMode="auto">
          <a:xfrm>
            <a:off x="8275319" y="3017519"/>
            <a:ext cx="3154680" cy="822960"/>
          </a:xfrm>
          <a:prstGeom prst="rect">
            <a:avLst/>
          </a:prstGeom>
          <a:noFill/>
        </p:spPr>
        <p:txBody>
          <a:bodyPr wrap="square" lIns="36576" tIns="18288" rIns="36576" bIns="18288" anchor="t">
            <a:spAutoFit/>
          </a:bodyPr>
          <a:lstStyle/>
          <a:p>
            <a:pPr algn="l">
              <a:lnSpc>
                <a:spcPct val="95000"/>
              </a:lnSpc>
              <a:spcAft>
                <a:spcPts val="0"/>
              </a:spcAft>
              <a:defRPr/>
            </a:pPr>
            <a:r>
              <a:rPr sz="1700" b="0">
                <a:solidFill>
                  <a:srgbClr val="374151"/>
                </a:solidFill>
                <a:latin typeface="Segoe UI"/>
              </a:rPr>
              <a:t>Do the parts stay correct as code changes?</a:t>
            </a:r>
            <a:endParaRPr/>
          </a:p>
        </p:txBody>
      </p:sp>
      <p:sp>
        <p:nvSpPr>
          <p:cNvPr id="2071297706" name="TextBox 28"/>
          <p:cNvSpPr txBox="1"/>
          <p:nvPr/>
        </p:nvSpPr>
        <p:spPr bwMode="auto">
          <a:xfrm>
            <a:off x="8275319" y="3703320"/>
            <a:ext cx="3108960" cy="365760"/>
          </a:xfrm>
          <a:prstGeom prst="rect">
            <a:avLst/>
          </a:prstGeom>
          <a:noFill/>
        </p:spPr>
        <p:txBody>
          <a:bodyPr wrap="square" lIns="36576" tIns="18288" rIns="36576" bIns="18288" anchor="t">
            <a:spAutoFit/>
          </a:bodyPr>
          <a:lstStyle/>
          <a:p>
            <a:pPr algn="l">
              <a:lnSpc>
                <a:spcPct val="100000"/>
              </a:lnSpc>
              <a:spcAft>
                <a:spcPts val="0"/>
              </a:spcAft>
              <a:defRPr/>
            </a:pPr>
            <a:r>
              <a:rPr sz="1400" b="1">
                <a:solidFill>
                  <a:srgbClr val="6B7280"/>
                </a:solidFill>
                <a:latin typeface="Segoe UI"/>
              </a:rPr>
              <a:t>METHOD</a:t>
            </a:r>
            <a:endParaRPr/>
          </a:p>
        </p:txBody>
      </p:sp>
      <p:sp>
        <p:nvSpPr>
          <p:cNvPr id="505212210" name="TextBox 29"/>
          <p:cNvSpPr txBox="1"/>
          <p:nvPr/>
        </p:nvSpPr>
        <p:spPr bwMode="auto">
          <a:xfrm>
            <a:off x="8275319" y="4023359"/>
            <a:ext cx="3154680" cy="822960"/>
          </a:xfrm>
          <a:prstGeom prst="rect">
            <a:avLst/>
          </a:prstGeom>
          <a:noFill/>
        </p:spPr>
        <p:txBody>
          <a:bodyPr wrap="square" lIns="36576" tIns="18288" rIns="36576" bIns="18288" anchor="t">
            <a:spAutoFit/>
          </a:bodyPr>
          <a:lstStyle/>
          <a:p>
            <a:pPr algn="l">
              <a:lnSpc>
                <a:spcPct val="95000"/>
              </a:lnSpc>
              <a:spcAft>
                <a:spcPts val="0"/>
              </a:spcAft>
              <a:defRPr/>
            </a:pPr>
            <a:r>
              <a:rPr sz="1700" b="0">
                <a:solidFill>
                  <a:srgbClr val="374151"/>
                </a:solidFill>
                <a:latin typeface="Segoe UI"/>
              </a:rPr>
              <a:t>Unit &amp; route tests · frontend tests · fresh-database stack check</a:t>
            </a:r>
            <a:endParaRPr/>
          </a:p>
        </p:txBody>
      </p:sp>
      <p:sp>
        <p:nvSpPr>
          <p:cNvPr id="447254013" name="TextBox 30"/>
          <p:cNvSpPr txBox="1"/>
          <p:nvPr/>
        </p:nvSpPr>
        <p:spPr bwMode="auto">
          <a:xfrm>
            <a:off x="8275319" y="5029200"/>
            <a:ext cx="3108960" cy="365760"/>
          </a:xfrm>
          <a:prstGeom prst="rect">
            <a:avLst/>
          </a:prstGeom>
          <a:noFill/>
        </p:spPr>
        <p:txBody>
          <a:bodyPr wrap="square" lIns="36576" tIns="18288" rIns="36576" bIns="18288" anchor="t">
            <a:spAutoFit/>
          </a:bodyPr>
          <a:lstStyle/>
          <a:p>
            <a:pPr algn="l">
              <a:lnSpc>
                <a:spcPct val="100000"/>
              </a:lnSpc>
              <a:spcAft>
                <a:spcPts val="0"/>
              </a:spcAft>
              <a:defRPr/>
            </a:pPr>
            <a:r>
              <a:rPr sz="1400" b="1">
                <a:solidFill>
                  <a:srgbClr val="6B7280"/>
                </a:solidFill>
                <a:latin typeface="Segoe UI"/>
              </a:rPr>
              <a:t>MEASURE</a:t>
            </a:r>
            <a:endParaRPr/>
          </a:p>
        </p:txBody>
      </p:sp>
      <p:sp>
        <p:nvSpPr>
          <p:cNvPr id="903635726" name="TextBox 31"/>
          <p:cNvSpPr txBox="1"/>
          <p:nvPr/>
        </p:nvSpPr>
        <p:spPr bwMode="auto">
          <a:xfrm>
            <a:off x="8275319" y="5349240"/>
            <a:ext cx="3154680" cy="822960"/>
          </a:xfrm>
          <a:prstGeom prst="rect">
            <a:avLst/>
          </a:prstGeom>
          <a:noFill/>
        </p:spPr>
        <p:txBody>
          <a:bodyPr wrap="square" lIns="36576" tIns="18288" rIns="36576" bIns="18288" anchor="t">
            <a:spAutoFit/>
          </a:bodyPr>
          <a:lstStyle/>
          <a:p>
            <a:pPr algn="l">
              <a:lnSpc>
                <a:spcPct val="95000"/>
              </a:lnSpc>
              <a:spcAft>
                <a:spcPts val="0"/>
              </a:spcAft>
              <a:defRPr/>
            </a:pPr>
            <a:r>
              <a:rPr sz="1700" b="0">
                <a:solidFill>
                  <a:srgbClr val="374151"/>
                </a:solidFill>
                <a:latin typeface="Segoe UI"/>
              </a:rPr>
              <a:t>Tests passed; server errors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3974026" name="Rectangle 1"/>
          <p:cNvSpPr/>
          <p:nvPr/>
        </p:nvSpPr>
        <p:spPr bwMode="auto">
          <a:xfrm>
            <a:off x="347472" y="502920"/>
            <a:ext cx="73152" cy="566928"/>
          </a:xfrm>
          <a:prstGeom prst="rect">
            <a:avLst/>
          </a:prstGeom>
          <a:solidFill>
            <a:srgbClr val="B048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08912932" name="TextBox 2"/>
          <p:cNvSpPr txBox="1"/>
          <p:nvPr/>
        </p:nvSpPr>
        <p:spPr bwMode="auto">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defRPr/>
            </a:pPr>
            <a:r>
              <a:rPr sz="3400" b="1">
                <a:solidFill>
                  <a:srgbClr val="111827"/>
                </a:solidFill>
                <a:latin typeface="Segoe UI"/>
              </a:rPr>
              <a:t>Optimised indexes make key queries up to 81× faster</a:t>
            </a:r>
            <a:endParaRPr/>
          </a:p>
        </p:txBody>
      </p:sp>
      <p:sp>
        <p:nvSpPr>
          <p:cNvPr id="724945224" name="Rounded Rectangle 3"/>
          <p:cNvSpPr/>
          <p:nvPr/>
        </p:nvSpPr>
        <p:spPr bwMode="auto">
          <a:xfrm>
            <a:off x="10058400" y="457200"/>
            <a:ext cx="1645920" cy="420624"/>
          </a:xfrm>
          <a:prstGeom prst="roundRect">
            <a:avLst>
              <a:gd name="adj" fmla="val 50000"/>
            </a:avLst>
          </a:prstGeom>
          <a:solidFill>
            <a:srgbClr val="FFFFFF"/>
          </a:solidFill>
          <a:ln w="15875">
            <a:solidFill>
              <a:srgbClr val="B04846"/>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400" b="1">
                <a:solidFill>
                  <a:srgbClr val="B04846"/>
                </a:solidFill>
                <a:latin typeface="Segoe UI"/>
              </a:rPr>
              <a:t>Evaluation</a:t>
            </a:r>
            <a:endParaRPr/>
          </a:p>
        </p:txBody>
      </p:sp>
      <p:sp>
        <p:nvSpPr>
          <p:cNvPr id="1074270201" name="TextBox 4"/>
          <p:cNvSpPr txBox="1"/>
          <p:nvPr/>
        </p:nvSpPr>
        <p:spPr bwMode="auto">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defRPr/>
            </a:pPr>
            <a:r>
              <a:rPr sz="1400" b="0">
                <a:solidFill>
                  <a:srgbClr val="6B7280"/>
                </a:solidFill>
                <a:latin typeface="Segoe UI"/>
              </a:rPr>
              <a:t>6</a:t>
            </a:r>
            <a:endParaRPr/>
          </a:p>
        </p:txBody>
      </p:sp>
      <p:graphicFrame>
        <p:nvGraphicFramePr>
          <p:cNvPr id="202655690" name="Chart 5"/>
          <p:cNvGraphicFramePr>
            <a:graphicFrameLocks xmlns:a="http://schemas.openxmlformats.org/drawingml/2006/main" noGrp="1"/>
          </p:cNvGraphicFramePr>
          <p:nvPr/>
        </p:nvGraphicFramePr>
        <p:xfrm rot="0">
          <a:off x="457200" y="1645920"/>
          <a:ext cx="813816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1562496723" name="TextBox 6"/>
          <p:cNvSpPr txBox="1"/>
          <p:nvPr/>
        </p:nvSpPr>
        <p:spPr bwMode="auto">
          <a:xfrm>
            <a:off x="8732520" y="1783080"/>
            <a:ext cx="3200400" cy="45720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6B7280"/>
                </a:solidFill>
                <a:latin typeface="Segoe UI"/>
              </a:rPr>
              <a:t>Speed-up vs original</a:t>
            </a:r>
            <a:endParaRPr/>
          </a:p>
        </p:txBody>
      </p:sp>
      <p:sp>
        <p:nvSpPr>
          <p:cNvPr id="141390803" name="TextBox 7"/>
          <p:cNvSpPr txBox="1"/>
          <p:nvPr/>
        </p:nvSpPr>
        <p:spPr bwMode="auto">
          <a:xfrm>
            <a:off x="8732520" y="2286000"/>
            <a:ext cx="1325880" cy="640080"/>
          </a:xfrm>
          <a:prstGeom prst="rect">
            <a:avLst/>
          </a:prstGeom>
          <a:noFill/>
        </p:spPr>
        <p:txBody>
          <a:bodyPr wrap="square" lIns="36576" tIns="18288" rIns="36576" bIns="18288" anchor="t">
            <a:spAutoFit/>
          </a:bodyPr>
          <a:lstStyle/>
          <a:p>
            <a:pPr algn="l">
              <a:lnSpc>
                <a:spcPct val="100000"/>
              </a:lnSpc>
              <a:spcAft>
                <a:spcPts val="0"/>
              </a:spcAft>
              <a:defRPr/>
            </a:pPr>
            <a:r>
              <a:rPr sz="3200" b="1">
                <a:solidFill>
                  <a:srgbClr val="2563EB"/>
                </a:solidFill>
                <a:latin typeface="Segoe UI"/>
              </a:rPr>
              <a:t>81×</a:t>
            </a:r>
            <a:endParaRPr/>
          </a:p>
        </p:txBody>
      </p:sp>
      <p:sp>
        <p:nvSpPr>
          <p:cNvPr id="290532224" name="TextBox 8"/>
          <p:cNvSpPr txBox="1"/>
          <p:nvPr/>
        </p:nvSpPr>
        <p:spPr bwMode="auto">
          <a:xfrm>
            <a:off x="10012680" y="2395728"/>
            <a:ext cx="2011680" cy="54864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374151"/>
                </a:solidFill>
                <a:latin typeface="Segoe UI"/>
              </a:rPr>
              <a:t>Member search</a:t>
            </a:r>
            <a:endParaRPr/>
          </a:p>
        </p:txBody>
      </p:sp>
      <p:sp>
        <p:nvSpPr>
          <p:cNvPr id="220852799" name="TextBox 9"/>
          <p:cNvSpPr txBox="1"/>
          <p:nvPr/>
        </p:nvSpPr>
        <p:spPr bwMode="auto">
          <a:xfrm>
            <a:off x="8732520" y="3108960"/>
            <a:ext cx="1325880" cy="640080"/>
          </a:xfrm>
          <a:prstGeom prst="rect">
            <a:avLst/>
          </a:prstGeom>
          <a:noFill/>
        </p:spPr>
        <p:txBody>
          <a:bodyPr wrap="square" lIns="36576" tIns="18288" rIns="36576" bIns="18288" anchor="t">
            <a:spAutoFit/>
          </a:bodyPr>
          <a:lstStyle/>
          <a:p>
            <a:pPr algn="l">
              <a:lnSpc>
                <a:spcPct val="100000"/>
              </a:lnSpc>
              <a:spcAft>
                <a:spcPts val="0"/>
              </a:spcAft>
              <a:defRPr/>
            </a:pPr>
            <a:r>
              <a:rPr sz="3200" b="1">
                <a:solidFill>
                  <a:srgbClr val="2563EB"/>
                </a:solidFill>
                <a:latin typeface="Segoe UI"/>
              </a:rPr>
              <a:t>54×</a:t>
            </a:r>
            <a:endParaRPr/>
          </a:p>
        </p:txBody>
      </p:sp>
      <p:sp>
        <p:nvSpPr>
          <p:cNvPr id="551130385" name="TextBox 10"/>
          <p:cNvSpPr txBox="1"/>
          <p:nvPr/>
        </p:nvSpPr>
        <p:spPr bwMode="auto">
          <a:xfrm>
            <a:off x="10012680" y="3218688"/>
            <a:ext cx="2011680" cy="54864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374151"/>
                </a:solidFill>
                <a:latin typeface="Segoe UI"/>
              </a:rPr>
              <a:t>Subscriptions list</a:t>
            </a:r>
            <a:endParaRPr/>
          </a:p>
        </p:txBody>
      </p:sp>
      <p:sp>
        <p:nvSpPr>
          <p:cNvPr id="98422644" name="TextBox 11"/>
          <p:cNvSpPr txBox="1"/>
          <p:nvPr/>
        </p:nvSpPr>
        <p:spPr bwMode="auto">
          <a:xfrm>
            <a:off x="8732520" y="3931920"/>
            <a:ext cx="1325880" cy="640080"/>
          </a:xfrm>
          <a:prstGeom prst="rect">
            <a:avLst/>
          </a:prstGeom>
          <a:noFill/>
        </p:spPr>
        <p:txBody>
          <a:bodyPr wrap="square" lIns="36576" tIns="18288" rIns="36576" bIns="18288" anchor="t">
            <a:spAutoFit/>
          </a:bodyPr>
          <a:lstStyle/>
          <a:p>
            <a:pPr algn="l">
              <a:lnSpc>
                <a:spcPct val="100000"/>
              </a:lnSpc>
              <a:spcAft>
                <a:spcPts val="0"/>
              </a:spcAft>
              <a:defRPr/>
            </a:pPr>
            <a:r>
              <a:rPr sz="3200" b="1">
                <a:solidFill>
                  <a:srgbClr val="2563EB"/>
                </a:solidFill>
                <a:latin typeface="Segoe UI"/>
              </a:rPr>
              <a:t>45×</a:t>
            </a:r>
            <a:endParaRPr/>
          </a:p>
        </p:txBody>
      </p:sp>
      <p:sp>
        <p:nvSpPr>
          <p:cNvPr id="1718224161" name="TextBox 12"/>
          <p:cNvSpPr txBox="1"/>
          <p:nvPr/>
        </p:nvSpPr>
        <p:spPr bwMode="auto">
          <a:xfrm>
            <a:off x="10012680" y="4041648"/>
            <a:ext cx="2011680" cy="54864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374151"/>
                </a:solidFill>
                <a:latin typeface="Segoe UI"/>
              </a:rPr>
              <a:t>Attendance log</a:t>
            </a:r>
            <a:endParaRPr/>
          </a:p>
        </p:txBody>
      </p:sp>
      <p:sp>
        <p:nvSpPr>
          <p:cNvPr id="243284856" name="TextBox 13"/>
          <p:cNvSpPr txBox="1"/>
          <p:nvPr/>
        </p:nvSpPr>
        <p:spPr bwMode="auto">
          <a:xfrm>
            <a:off x="8732520" y="4754880"/>
            <a:ext cx="1325880" cy="640080"/>
          </a:xfrm>
          <a:prstGeom prst="rect">
            <a:avLst/>
          </a:prstGeom>
          <a:noFill/>
        </p:spPr>
        <p:txBody>
          <a:bodyPr wrap="square" lIns="36576" tIns="18288" rIns="36576" bIns="18288" anchor="t">
            <a:spAutoFit/>
          </a:bodyPr>
          <a:lstStyle/>
          <a:p>
            <a:pPr algn="l">
              <a:lnSpc>
                <a:spcPct val="100000"/>
              </a:lnSpc>
              <a:spcAft>
                <a:spcPts val="0"/>
              </a:spcAft>
              <a:defRPr/>
            </a:pPr>
            <a:r>
              <a:rPr sz="3200" b="1">
                <a:solidFill>
                  <a:srgbClr val="2563EB"/>
                </a:solidFill>
                <a:latin typeface="Segoe UI"/>
              </a:rPr>
              <a:t>4.5×</a:t>
            </a:r>
            <a:endParaRPr/>
          </a:p>
        </p:txBody>
      </p:sp>
      <p:sp>
        <p:nvSpPr>
          <p:cNvPr id="732786535" name="TextBox 14"/>
          <p:cNvSpPr txBox="1"/>
          <p:nvPr/>
        </p:nvSpPr>
        <p:spPr bwMode="auto">
          <a:xfrm>
            <a:off x="10012680" y="4864607"/>
            <a:ext cx="2011680" cy="54864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374151"/>
                </a:solidFill>
                <a:latin typeface="Segoe UI"/>
              </a:rPr>
              <a:t>Payment history</a:t>
            </a:r>
            <a:endParaRPr/>
          </a:p>
        </p:txBody>
      </p:sp>
      <p:sp>
        <p:nvSpPr>
          <p:cNvPr id="773443879" name="TextBox 15"/>
          <p:cNvSpPr txBox="1"/>
          <p:nvPr/>
        </p:nvSpPr>
        <p:spPr bwMode="auto">
          <a:xfrm>
            <a:off x="8732520" y="5486400"/>
            <a:ext cx="3291840" cy="77724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6B7280"/>
                </a:solidFill>
                <a:latin typeface="Segoe UI"/>
              </a:rPr>
              <a:t>50k members, 1M check-ins</a:t>
            </a:r>
            <a:endParaRPr/>
          </a:p>
          <a:p>
            <a:pPr algn="l">
              <a:lnSpc>
                <a:spcPct val="100000"/>
              </a:lnSpc>
              <a:spcAft>
                <a:spcPts val="0"/>
              </a:spcAft>
              <a:defRPr/>
            </a:pPr>
            <a:r>
              <a:rPr sz="1800" b="0">
                <a:solidFill>
                  <a:srgbClr val="6B7280"/>
                </a:solidFill>
                <a:latin typeface="Segoe UI"/>
              </a:rPr>
              <a:t>median of 15 runs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7091431" name="Rectangle 1"/>
          <p:cNvSpPr/>
          <p:nvPr/>
        </p:nvSpPr>
        <p:spPr bwMode="auto">
          <a:xfrm>
            <a:off x="347472" y="502920"/>
            <a:ext cx="73152" cy="566928"/>
          </a:xfrm>
          <a:prstGeom prst="rect">
            <a:avLst/>
          </a:prstGeom>
          <a:solidFill>
            <a:srgbClr val="B048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55791466" name="TextBox 2"/>
          <p:cNvSpPr txBox="1"/>
          <p:nvPr/>
        </p:nvSpPr>
        <p:spPr bwMode="auto">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defRPr/>
            </a:pPr>
            <a:r>
              <a:rPr sz="3400" b="1">
                <a:solidFill>
                  <a:srgbClr val="111827"/>
                </a:solidFill>
                <a:latin typeface="Segoe UI"/>
              </a:rPr>
              <a:t>All 116 end-to-end checks pass across every role</a:t>
            </a:r>
            <a:endParaRPr/>
          </a:p>
        </p:txBody>
      </p:sp>
      <p:sp>
        <p:nvSpPr>
          <p:cNvPr id="31990519" name="Rounded Rectangle 3"/>
          <p:cNvSpPr/>
          <p:nvPr/>
        </p:nvSpPr>
        <p:spPr bwMode="auto">
          <a:xfrm>
            <a:off x="10058400" y="457200"/>
            <a:ext cx="1645920" cy="420624"/>
          </a:xfrm>
          <a:prstGeom prst="roundRect">
            <a:avLst>
              <a:gd name="adj" fmla="val 50000"/>
            </a:avLst>
          </a:prstGeom>
          <a:solidFill>
            <a:srgbClr val="FFFFFF"/>
          </a:solidFill>
          <a:ln w="15875">
            <a:solidFill>
              <a:srgbClr val="B04846"/>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400" b="1">
                <a:solidFill>
                  <a:srgbClr val="B04846"/>
                </a:solidFill>
                <a:latin typeface="Segoe UI"/>
              </a:rPr>
              <a:t>Evaluation</a:t>
            </a:r>
            <a:endParaRPr/>
          </a:p>
        </p:txBody>
      </p:sp>
      <p:sp>
        <p:nvSpPr>
          <p:cNvPr id="1168435681" name="TextBox 4"/>
          <p:cNvSpPr txBox="1"/>
          <p:nvPr/>
        </p:nvSpPr>
        <p:spPr bwMode="auto">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defRPr/>
            </a:pPr>
            <a:r>
              <a:rPr sz="1400" b="0">
                <a:solidFill>
                  <a:srgbClr val="6B7280"/>
                </a:solidFill>
                <a:latin typeface="Segoe UI"/>
              </a:rPr>
              <a:t>7</a:t>
            </a:r>
            <a:endParaRPr/>
          </a:p>
        </p:txBody>
      </p:sp>
      <p:graphicFrame>
        <p:nvGraphicFramePr>
          <p:cNvPr id="1280959137" name="Chart 5"/>
          <p:cNvGraphicFramePr>
            <a:graphicFrameLocks xmlns:a="http://schemas.openxmlformats.org/drawingml/2006/main" noGrp="1"/>
          </p:cNvGraphicFramePr>
          <p:nvPr/>
        </p:nvGraphicFramePr>
        <p:xfrm rot="0">
          <a:off x="457200" y="1691640"/>
          <a:ext cx="722376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1748854480" name="Rounded Rectangle 6"/>
          <p:cNvSpPr/>
          <p:nvPr/>
        </p:nvSpPr>
        <p:spPr bwMode="auto">
          <a:xfrm>
            <a:off x="8001000" y="178308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7894513" name="TextBox 7"/>
          <p:cNvSpPr txBox="1"/>
          <p:nvPr/>
        </p:nvSpPr>
        <p:spPr bwMode="auto">
          <a:xfrm>
            <a:off x="8001000" y="2057400"/>
            <a:ext cx="1783080" cy="731520"/>
          </a:xfrm>
          <a:prstGeom prst="rect">
            <a:avLst/>
          </a:prstGeom>
          <a:noFill/>
        </p:spPr>
        <p:txBody>
          <a:bodyPr wrap="square" lIns="36576" tIns="18288" rIns="36576" bIns="18288" anchor="t">
            <a:spAutoFit/>
          </a:bodyPr>
          <a:lstStyle/>
          <a:p>
            <a:pPr algn="ctr">
              <a:lnSpc>
                <a:spcPct val="100000"/>
              </a:lnSpc>
              <a:spcAft>
                <a:spcPts val="0"/>
              </a:spcAft>
              <a:defRPr/>
            </a:pPr>
            <a:r>
              <a:rPr sz="3400" b="1">
                <a:solidFill>
                  <a:srgbClr val="2563EB"/>
                </a:solidFill>
                <a:latin typeface="Segoe UI"/>
              </a:rPr>
              <a:t>235</a:t>
            </a:r>
            <a:endParaRPr/>
          </a:p>
        </p:txBody>
      </p:sp>
      <p:sp>
        <p:nvSpPr>
          <p:cNvPr id="865148939" name="TextBox 8"/>
          <p:cNvSpPr txBox="1"/>
          <p:nvPr/>
        </p:nvSpPr>
        <p:spPr bwMode="auto">
          <a:xfrm>
            <a:off x="8110727" y="2807208"/>
            <a:ext cx="1563624" cy="914400"/>
          </a:xfrm>
          <a:prstGeom prst="rect">
            <a:avLst/>
          </a:prstGeom>
          <a:noFill/>
        </p:spPr>
        <p:txBody>
          <a:bodyPr wrap="square" lIns="36576" tIns="18288" rIns="36576" bIns="18288" anchor="t">
            <a:spAutoFit/>
          </a:bodyPr>
          <a:lstStyle/>
          <a:p>
            <a:pPr algn="ctr">
              <a:lnSpc>
                <a:spcPct val="95000"/>
              </a:lnSpc>
              <a:spcAft>
                <a:spcPts val="0"/>
              </a:spcAft>
              <a:defRPr/>
            </a:pPr>
            <a:r>
              <a:rPr sz="1800" b="0">
                <a:solidFill>
                  <a:srgbClr val="374151"/>
                </a:solidFill>
                <a:latin typeface="Segoe UI"/>
              </a:rPr>
              <a:t>unit &amp; route tests pass</a:t>
            </a:r>
            <a:endParaRPr/>
          </a:p>
        </p:txBody>
      </p:sp>
      <p:sp>
        <p:nvSpPr>
          <p:cNvPr id="1613841318" name="Rounded Rectangle 9"/>
          <p:cNvSpPr/>
          <p:nvPr/>
        </p:nvSpPr>
        <p:spPr bwMode="auto">
          <a:xfrm>
            <a:off x="9921240" y="178308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35841632" name="TextBox 10"/>
          <p:cNvSpPr txBox="1"/>
          <p:nvPr/>
        </p:nvSpPr>
        <p:spPr bwMode="auto">
          <a:xfrm>
            <a:off x="9921240" y="2057400"/>
            <a:ext cx="1783080" cy="731520"/>
          </a:xfrm>
          <a:prstGeom prst="rect">
            <a:avLst/>
          </a:prstGeom>
          <a:noFill/>
        </p:spPr>
        <p:txBody>
          <a:bodyPr wrap="square" lIns="36576" tIns="18288" rIns="36576" bIns="18288" anchor="t">
            <a:spAutoFit/>
          </a:bodyPr>
          <a:lstStyle/>
          <a:p>
            <a:pPr algn="ctr">
              <a:lnSpc>
                <a:spcPct val="100000"/>
              </a:lnSpc>
              <a:spcAft>
                <a:spcPts val="0"/>
              </a:spcAft>
              <a:defRPr/>
            </a:pPr>
            <a:r>
              <a:rPr sz="3400" b="1">
                <a:solidFill>
                  <a:srgbClr val="2563EB"/>
                </a:solidFill>
                <a:latin typeface="Segoe UI"/>
              </a:rPr>
              <a:t>71/71</a:t>
            </a:r>
            <a:endParaRPr/>
          </a:p>
        </p:txBody>
      </p:sp>
      <p:sp>
        <p:nvSpPr>
          <p:cNvPr id="423945051" name="TextBox 11"/>
          <p:cNvSpPr txBox="1"/>
          <p:nvPr/>
        </p:nvSpPr>
        <p:spPr bwMode="auto">
          <a:xfrm>
            <a:off x="10030967" y="2807208"/>
            <a:ext cx="1563624" cy="914400"/>
          </a:xfrm>
          <a:prstGeom prst="rect">
            <a:avLst/>
          </a:prstGeom>
          <a:noFill/>
        </p:spPr>
        <p:txBody>
          <a:bodyPr wrap="square" lIns="36576" tIns="18288" rIns="36576" bIns="18288" anchor="t">
            <a:spAutoFit/>
          </a:bodyPr>
          <a:lstStyle/>
          <a:p>
            <a:pPr algn="ctr">
              <a:lnSpc>
                <a:spcPct val="95000"/>
              </a:lnSpc>
              <a:spcAft>
                <a:spcPts val="0"/>
              </a:spcAft>
              <a:defRPr/>
            </a:pPr>
            <a:r>
              <a:rPr sz="1800" b="0">
                <a:solidFill>
                  <a:srgbClr val="374151"/>
                </a:solidFill>
                <a:latin typeface="Segoe UI"/>
              </a:rPr>
              <a:t>stack checks on a fresh database</a:t>
            </a:r>
            <a:endParaRPr/>
          </a:p>
        </p:txBody>
      </p:sp>
      <p:sp>
        <p:nvSpPr>
          <p:cNvPr id="1939706452" name="Rounded Rectangle 12"/>
          <p:cNvSpPr/>
          <p:nvPr/>
        </p:nvSpPr>
        <p:spPr bwMode="auto">
          <a:xfrm>
            <a:off x="8001000" y="402336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36364983" name="TextBox 13"/>
          <p:cNvSpPr txBox="1"/>
          <p:nvPr/>
        </p:nvSpPr>
        <p:spPr bwMode="auto">
          <a:xfrm>
            <a:off x="8001000" y="4297680"/>
            <a:ext cx="1783080" cy="731520"/>
          </a:xfrm>
          <a:prstGeom prst="rect">
            <a:avLst/>
          </a:prstGeom>
          <a:noFill/>
        </p:spPr>
        <p:txBody>
          <a:bodyPr wrap="square" lIns="36576" tIns="18288" rIns="36576" bIns="18288" anchor="t">
            <a:spAutoFit/>
          </a:bodyPr>
          <a:lstStyle/>
          <a:p>
            <a:pPr algn="ctr">
              <a:lnSpc>
                <a:spcPct val="100000"/>
              </a:lnSpc>
              <a:spcAft>
                <a:spcPts val="0"/>
              </a:spcAft>
              <a:defRPr/>
            </a:pPr>
            <a:r>
              <a:rPr sz="3400" b="1">
                <a:solidFill>
                  <a:srgbClr val="2563EB"/>
                </a:solidFill>
                <a:latin typeface="Segoe UI"/>
              </a:rPr>
              <a:t>7/7</a:t>
            </a:r>
            <a:endParaRPr/>
          </a:p>
        </p:txBody>
      </p:sp>
      <p:sp>
        <p:nvSpPr>
          <p:cNvPr id="427134765" name="TextBox 14"/>
          <p:cNvSpPr txBox="1"/>
          <p:nvPr/>
        </p:nvSpPr>
        <p:spPr bwMode="auto">
          <a:xfrm>
            <a:off x="8110727" y="5047488"/>
            <a:ext cx="1563624" cy="914400"/>
          </a:xfrm>
          <a:prstGeom prst="rect">
            <a:avLst/>
          </a:prstGeom>
          <a:noFill/>
        </p:spPr>
        <p:txBody>
          <a:bodyPr wrap="square" lIns="36576" tIns="18288" rIns="36576" bIns="18288" anchor="t">
            <a:spAutoFit/>
          </a:bodyPr>
          <a:lstStyle/>
          <a:p>
            <a:pPr algn="ctr">
              <a:lnSpc>
                <a:spcPct val="95000"/>
              </a:lnSpc>
              <a:spcAft>
                <a:spcPts val="0"/>
              </a:spcAft>
              <a:defRPr/>
            </a:pPr>
            <a:r>
              <a:rPr sz="1800" b="0">
                <a:solidFill>
                  <a:srgbClr val="374151"/>
                </a:solidFill>
                <a:latin typeface="Segoe UI"/>
              </a:rPr>
              <a:t>frontend tests</a:t>
            </a:r>
            <a:endParaRPr/>
          </a:p>
        </p:txBody>
      </p:sp>
      <p:sp>
        <p:nvSpPr>
          <p:cNvPr id="1746932800" name="Rounded Rectangle 15"/>
          <p:cNvSpPr/>
          <p:nvPr/>
        </p:nvSpPr>
        <p:spPr bwMode="auto">
          <a:xfrm>
            <a:off x="9921240" y="402336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72206660" name="TextBox 16"/>
          <p:cNvSpPr txBox="1"/>
          <p:nvPr/>
        </p:nvSpPr>
        <p:spPr bwMode="auto">
          <a:xfrm>
            <a:off x="9921240" y="4297680"/>
            <a:ext cx="1783080" cy="731520"/>
          </a:xfrm>
          <a:prstGeom prst="rect">
            <a:avLst/>
          </a:prstGeom>
          <a:noFill/>
        </p:spPr>
        <p:txBody>
          <a:bodyPr wrap="square" lIns="36576" tIns="18288" rIns="36576" bIns="18288" anchor="t">
            <a:spAutoFit/>
          </a:bodyPr>
          <a:lstStyle/>
          <a:p>
            <a:pPr algn="ctr">
              <a:lnSpc>
                <a:spcPct val="100000"/>
              </a:lnSpc>
              <a:spcAft>
                <a:spcPts val="0"/>
              </a:spcAft>
              <a:defRPr/>
            </a:pPr>
            <a:r>
              <a:rPr sz="3400" b="1">
                <a:solidFill>
                  <a:srgbClr val="2563EB"/>
                </a:solidFill>
                <a:latin typeface="Segoe UI"/>
              </a:rPr>
              <a:t>0</a:t>
            </a:r>
            <a:endParaRPr/>
          </a:p>
        </p:txBody>
      </p:sp>
      <p:sp>
        <p:nvSpPr>
          <p:cNvPr id="1457995122" name="TextBox 17"/>
          <p:cNvSpPr txBox="1"/>
          <p:nvPr/>
        </p:nvSpPr>
        <p:spPr bwMode="auto">
          <a:xfrm>
            <a:off x="10030967" y="5047488"/>
            <a:ext cx="1563624" cy="914400"/>
          </a:xfrm>
          <a:prstGeom prst="rect">
            <a:avLst/>
          </a:prstGeom>
          <a:noFill/>
        </p:spPr>
        <p:txBody>
          <a:bodyPr wrap="square" lIns="36576" tIns="18288" rIns="36576" bIns="18288" anchor="t">
            <a:spAutoFit/>
          </a:bodyPr>
          <a:lstStyle/>
          <a:p>
            <a:pPr algn="ctr">
              <a:lnSpc>
                <a:spcPct val="95000"/>
              </a:lnSpc>
              <a:spcAft>
                <a:spcPts val="0"/>
              </a:spcAft>
              <a:defRPr/>
            </a:pPr>
            <a:r>
              <a:rPr sz="1800" b="0">
                <a:solidFill>
                  <a:srgbClr val="374151"/>
                </a:solidFill>
                <a:latin typeface="Segoe UI"/>
              </a:rPr>
              <a:t>server errors (5xx)</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7369323" name="Rectangle 1"/>
          <p:cNvSpPr/>
          <p:nvPr/>
        </p:nvSpPr>
        <p:spPr bwMode="auto">
          <a:xfrm>
            <a:off x="347472" y="502920"/>
            <a:ext cx="73152" cy="56692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76947164" name="TextBox 2"/>
          <p:cNvSpPr txBox="1"/>
          <p:nvPr/>
        </p:nvSpPr>
        <p:spPr bwMode="auto">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defRPr/>
            </a:pPr>
            <a:r>
              <a:rPr sz="3400" b="1">
                <a:solidFill>
                  <a:srgbClr val="111827"/>
                </a:solidFill>
                <a:latin typeface="Segoe UI"/>
              </a:rPr>
              <a:t>Everything needed to study or rebuild GymVerse is shared</a:t>
            </a:r>
            <a:endParaRPr/>
          </a:p>
        </p:txBody>
      </p:sp>
      <p:sp>
        <p:nvSpPr>
          <p:cNvPr id="1198098067" name="Rounded Rectangle 3"/>
          <p:cNvSpPr/>
          <p:nvPr/>
        </p:nvSpPr>
        <p:spPr bwMode="auto">
          <a:xfrm>
            <a:off x="10058400" y="457200"/>
            <a:ext cx="1645920" cy="420624"/>
          </a:xfrm>
          <a:prstGeom prst="roundRect">
            <a:avLst>
              <a:gd name="adj" fmla="val 50000"/>
            </a:avLst>
          </a:prstGeom>
          <a:solidFill>
            <a:srgbClr val="FFFFFF"/>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400" b="1">
                <a:solidFill>
                  <a:srgbClr val="A16207"/>
                </a:solidFill>
                <a:latin typeface="Segoe UI"/>
              </a:rPr>
              <a:t>Dissemination</a:t>
            </a:r>
            <a:endParaRPr/>
          </a:p>
        </p:txBody>
      </p:sp>
      <p:sp>
        <p:nvSpPr>
          <p:cNvPr id="1029415733" name="TextBox 4"/>
          <p:cNvSpPr txBox="1"/>
          <p:nvPr/>
        </p:nvSpPr>
        <p:spPr bwMode="auto">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defRPr/>
            </a:pPr>
            <a:r>
              <a:rPr sz="1400" b="0">
                <a:solidFill>
                  <a:srgbClr val="6B7280"/>
                </a:solidFill>
                <a:latin typeface="Segoe UI"/>
              </a:rPr>
              <a:t>8</a:t>
            </a:r>
            <a:endParaRPr/>
          </a:p>
        </p:txBody>
      </p:sp>
      <p:sp>
        <p:nvSpPr>
          <p:cNvPr id="1877400141" name="TextBox 5"/>
          <p:cNvSpPr txBox="1"/>
          <p:nvPr/>
        </p:nvSpPr>
        <p:spPr bwMode="auto">
          <a:xfrm>
            <a:off x="548640" y="1737360"/>
            <a:ext cx="5760720" cy="365760"/>
          </a:xfrm>
          <a:prstGeom prst="rect">
            <a:avLst/>
          </a:prstGeom>
          <a:noFill/>
        </p:spPr>
        <p:txBody>
          <a:bodyPr wrap="square" lIns="36576" tIns="18288" rIns="36576" bIns="18288" anchor="t">
            <a:spAutoFit/>
          </a:bodyPr>
          <a:lstStyle/>
          <a:p>
            <a:pPr algn="l">
              <a:lnSpc>
                <a:spcPct val="100000"/>
              </a:lnSpc>
              <a:spcAft>
                <a:spcPts val="0"/>
              </a:spcAft>
              <a:defRPr/>
            </a:pPr>
            <a:r>
              <a:rPr sz="1600" b="1">
                <a:solidFill>
                  <a:srgbClr val="6B7280"/>
                </a:solidFill>
                <a:latin typeface="Segoe UI"/>
              </a:rPr>
              <a:t>Code</a:t>
            </a:r>
            <a:endParaRPr/>
          </a:p>
        </p:txBody>
      </p:sp>
      <p:sp>
        <p:nvSpPr>
          <p:cNvPr id="1929873767" name="TextBox 6"/>
          <p:cNvSpPr txBox="1"/>
          <p:nvPr/>
        </p:nvSpPr>
        <p:spPr bwMode="auto">
          <a:xfrm>
            <a:off x="548640" y="2066543"/>
            <a:ext cx="5760720" cy="502920"/>
          </a:xfrm>
          <a:prstGeom prst="rect">
            <a:avLst/>
          </a:prstGeom>
          <a:noFill/>
        </p:spPr>
        <p:txBody>
          <a:bodyPr wrap="square" lIns="36576" tIns="18288" rIns="36576" bIns="18288" anchor="t">
            <a:spAutoFit/>
          </a:bodyPr>
          <a:lstStyle/>
          <a:p>
            <a:pPr algn="l">
              <a:lnSpc>
                <a:spcPct val="100000"/>
              </a:lnSpc>
              <a:spcAft>
                <a:spcPts val="0"/>
              </a:spcAft>
              <a:defRPr/>
            </a:pPr>
            <a:r>
              <a:rPr sz="1900" b="1">
                <a:solidFill>
                  <a:srgbClr val="111827"/>
                </a:solidFill>
                <a:latin typeface="Segoe UI"/>
              </a:rPr>
              <a:t>[ADD REPO LINK]</a:t>
            </a:r>
            <a:endParaRPr/>
          </a:p>
        </p:txBody>
      </p:sp>
      <p:sp>
        <p:nvSpPr>
          <p:cNvPr id="1811407410" name="TextBox 7"/>
          <p:cNvSpPr txBox="1"/>
          <p:nvPr/>
        </p:nvSpPr>
        <p:spPr bwMode="auto">
          <a:xfrm>
            <a:off x="548640" y="2624328"/>
            <a:ext cx="5760720" cy="365760"/>
          </a:xfrm>
          <a:prstGeom prst="rect">
            <a:avLst/>
          </a:prstGeom>
          <a:noFill/>
        </p:spPr>
        <p:txBody>
          <a:bodyPr wrap="square" lIns="36576" tIns="18288" rIns="36576" bIns="18288" anchor="t">
            <a:spAutoFit/>
          </a:bodyPr>
          <a:lstStyle/>
          <a:p>
            <a:pPr algn="l">
              <a:lnSpc>
                <a:spcPct val="100000"/>
              </a:lnSpc>
              <a:spcAft>
                <a:spcPts val="0"/>
              </a:spcAft>
              <a:defRPr/>
            </a:pPr>
            <a:r>
              <a:rPr sz="1600" b="1">
                <a:solidFill>
                  <a:srgbClr val="6B7280"/>
                </a:solidFill>
                <a:latin typeface="Segoe UI"/>
              </a:rPr>
              <a:t>Documentation</a:t>
            </a:r>
            <a:endParaRPr/>
          </a:p>
        </p:txBody>
      </p:sp>
      <p:sp>
        <p:nvSpPr>
          <p:cNvPr id="205065591" name="TextBox 8"/>
          <p:cNvSpPr txBox="1"/>
          <p:nvPr/>
        </p:nvSpPr>
        <p:spPr bwMode="auto">
          <a:xfrm>
            <a:off x="548640" y="2953512"/>
            <a:ext cx="5760720" cy="502920"/>
          </a:xfrm>
          <a:prstGeom prst="rect">
            <a:avLst/>
          </a:prstGeom>
          <a:noFill/>
        </p:spPr>
        <p:txBody>
          <a:bodyPr wrap="square" lIns="36576" tIns="18288" rIns="36576" bIns="18288" anchor="t">
            <a:spAutoFit/>
          </a:bodyPr>
          <a:lstStyle/>
          <a:p>
            <a:pPr algn="l">
              <a:lnSpc>
                <a:spcPct val="100000"/>
              </a:lnSpc>
              <a:spcAft>
                <a:spcPts val="0"/>
              </a:spcAft>
              <a:defRPr/>
            </a:pPr>
            <a:r>
              <a:rPr sz="1900" b="0">
                <a:solidFill>
                  <a:srgbClr val="111827"/>
                </a:solidFill>
                <a:latin typeface="Segoe UI"/>
              </a:rPr>
              <a:t>PROJECT_GUIDE.md · README · /api-docs</a:t>
            </a:r>
            <a:endParaRPr/>
          </a:p>
        </p:txBody>
      </p:sp>
      <p:sp>
        <p:nvSpPr>
          <p:cNvPr id="1313354502" name="TextBox 9"/>
          <p:cNvSpPr txBox="1"/>
          <p:nvPr/>
        </p:nvSpPr>
        <p:spPr bwMode="auto">
          <a:xfrm>
            <a:off x="548640" y="3511296"/>
            <a:ext cx="5760720" cy="365760"/>
          </a:xfrm>
          <a:prstGeom prst="rect">
            <a:avLst/>
          </a:prstGeom>
          <a:noFill/>
        </p:spPr>
        <p:txBody>
          <a:bodyPr wrap="square" lIns="36576" tIns="18288" rIns="36576" bIns="18288" anchor="t">
            <a:spAutoFit/>
          </a:bodyPr>
          <a:lstStyle/>
          <a:p>
            <a:pPr algn="l">
              <a:lnSpc>
                <a:spcPct val="100000"/>
              </a:lnSpc>
              <a:spcAft>
                <a:spcPts val="0"/>
              </a:spcAft>
              <a:defRPr/>
            </a:pPr>
            <a:r>
              <a:rPr sz="1600" b="1">
                <a:solidFill>
                  <a:srgbClr val="6B7280"/>
                </a:solidFill>
                <a:latin typeface="Segoe UI"/>
              </a:rPr>
              <a:t>Database design</a:t>
            </a:r>
            <a:endParaRPr/>
          </a:p>
        </p:txBody>
      </p:sp>
      <p:sp>
        <p:nvSpPr>
          <p:cNvPr id="778184835" name="TextBox 10"/>
          <p:cNvSpPr txBox="1"/>
          <p:nvPr/>
        </p:nvSpPr>
        <p:spPr bwMode="auto">
          <a:xfrm>
            <a:off x="548640" y="3840480"/>
            <a:ext cx="5760720" cy="502920"/>
          </a:xfrm>
          <a:prstGeom prst="rect">
            <a:avLst/>
          </a:prstGeom>
          <a:noFill/>
        </p:spPr>
        <p:txBody>
          <a:bodyPr wrap="square" lIns="36576" tIns="18288" rIns="36576" bIns="18288" anchor="t">
            <a:spAutoFit/>
          </a:bodyPr>
          <a:lstStyle/>
          <a:p>
            <a:pPr algn="l">
              <a:lnSpc>
                <a:spcPct val="100000"/>
              </a:lnSpc>
              <a:spcAft>
                <a:spcPts val="0"/>
              </a:spcAft>
              <a:defRPr/>
            </a:pPr>
            <a:r>
              <a:rPr sz="1900" b="0">
                <a:solidFill>
                  <a:srgbClr val="111827"/>
                </a:solidFill>
                <a:latin typeface="Segoe UI"/>
              </a:rPr>
              <a:t>ER model (29 entities, opens in TerraER)</a:t>
            </a:r>
            <a:endParaRPr/>
          </a:p>
        </p:txBody>
      </p:sp>
      <p:sp>
        <p:nvSpPr>
          <p:cNvPr id="308373715" name="TextBox 11"/>
          <p:cNvSpPr txBox="1"/>
          <p:nvPr/>
        </p:nvSpPr>
        <p:spPr bwMode="auto">
          <a:xfrm>
            <a:off x="548640" y="4398264"/>
            <a:ext cx="5760720" cy="365760"/>
          </a:xfrm>
          <a:prstGeom prst="rect">
            <a:avLst/>
          </a:prstGeom>
          <a:noFill/>
        </p:spPr>
        <p:txBody>
          <a:bodyPr wrap="square" lIns="36576" tIns="18288" rIns="36576" bIns="18288" anchor="t">
            <a:spAutoFit/>
          </a:bodyPr>
          <a:lstStyle/>
          <a:p>
            <a:pPr algn="l">
              <a:lnSpc>
                <a:spcPct val="100000"/>
              </a:lnSpc>
              <a:spcAft>
                <a:spcPts val="0"/>
              </a:spcAft>
              <a:defRPr/>
            </a:pPr>
            <a:r>
              <a:rPr sz="1600" b="1">
                <a:solidFill>
                  <a:srgbClr val="6B7280"/>
                </a:solidFill>
                <a:latin typeface="Segoe UI"/>
              </a:rPr>
              <a:t>Build</a:t>
            </a:r>
            <a:endParaRPr/>
          </a:p>
        </p:txBody>
      </p:sp>
      <p:sp>
        <p:nvSpPr>
          <p:cNvPr id="1968316001" name="TextBox 12"/>
          <p:cNvSpPr txBox="1"/>
          <p:nvPr/>
        </p:nvSpPr>
        <p:spPr bwMode="auto">
          <a:xfrm>
            <a:off x="548640" y="4727448"/>
            <a:ext cx="5760720" cy="502920"/>
          </a:xfrm>
          <a:prstGeom prst="rect">
            <a:avLst/>
          </a:prstGeom>
          <a:noFill/>
        </p:spPr>
        <p:txBody>
          <a:bodyPr wrap="square" lIns="36576" tIns="18288" rIns="36576" bIns="18288" anchor="t">
            <a:spAutoFit/>
          </a:bodyPr>
          <a:lstStyle/>
          <a:p>
            <a:pPr algn="l">
              <a:lnSpc>
                <a:spcPct val="100000"/>
              </a:lnSpc>
              <a:spcAft>
                <a:spcPts val="0"/>
              </a:spcAft>
              <a:defRPr/>
            </a:pPr>
            <a:r>
              <a:rPr sz="1900" b="0">
                <a:solidFill>
                  <a:srgbClr val="111827"/>
                </a:solidFill>
                <a:latin typeface="Segoe UI"/>
              </a:rPr>
              <a:t>One-command database script · sample data</a:t>
            </a:r>
            <a:endParaRPr/>
          </a:p>
        </p:txBody>
      </p:sp>
      <p:sp>
        <p:nvSpPr>
          <p:cNvPr id="1806955229" name="TextBox 13"/>
          <p:cNvSpPr txBox="1"/>
          <p:nvPr/>
        </p:nvSpPr>
        <p:spPr bwMode="auto">
          <a:xfrm>
            <a:off x="548640" y="5285231"/>
            <a:ext cx="5760720" cy="365760"/>
          </a:xfrm>
          <a:prstGeom prst="rect">
            <a:avLst/>
          </a:prstGeom>
          <a:noFill/>
        </p:spPr>
        <p:txBody>
          <a:bodyPr wrap="square" lIns="36576" tIns="18288" rIns="36576" bIns="18288" anchor="t">
            <a:spAutoFit/>
          </a:bodyPr>
          <a:lstStyle/>
          <a:p>
            <a:pPr algn="l">
              <a:lnSpc>
                <a:spcPct val="100000"/>
              </a:lnSpc>
              <a:spcAft>
                <a:spcPts val="0"/>
              </a:spcAft>
              <a:defRPr/>
            </a:pPr>
            <a:r>
              <a:rPr sz="1600" b="1">
                <a:solidFill>
                  <a:srgbClr val="6B7280"/>
                </a:solidFill>
                <a:latin typeface="Segoe UI"/>
              </a:rPr>
              <a:t>Licence · paper · demo</a:t>
            </a:r>
            <a:endParaRPr/>
          </a:p>
        </p:txBody>
      </p:sp>
      <p:sp>
        <p:nvSpPr>
          <p:cNvPr id="1184023236" name="TextBox 14"/>
          <p:cNvSpPr txBox="1"/>
          <p:nvPr/>
        </p:nvSpPr>
        <p:spPr bwMode="auto">
          <a:xfrm>
            <a:off x="548640" y="5614416"/>
            <a:ext cx="5760720" cy="502920"/>
          </a:xfrm>
          <a:prstGeom prst="rect">
            <a:avLst/>
          </a:prstGeom>
          <a:noFill/>
        </p:spPr>
        <p:txBody>
          <a:bodyPr wrap="square" lIns="36576" tIns="18288" rIns="36576" bIns="18288" anchor="t">
            <a:spAutoFit/>
          </a:bodyPr>
          <a:lstStyle/>
          <a:p>
            <a:pPr algn="l">
              <a:lnSpc>
                <a:spcPct val="100000"/>
              </a:lnSpc>
              <a:spcAft>
                <a:spcPts val="0"/>
              </a:spcAft>
              <a:defRPr/>
            </a:pPr>
            <a:r>
              <a:rPr sz="1900" b="1">
                <a:solidFill>
                  <a:srgbClr val="111827"/>
                </a:solidFill>
                <a:latin typeface="Segoe UI"/>
              </a:rPr>
              <a:t>[ADD LICENSE] · [ADD PAPER/DEMO LINK]</a:t>
            </a:r>
            <a:endParaRPr/>
          </a:p>
        </p:txBody>
      </p:sp>
      <p:sp>
        <p:nvSpPr>
          <p:cNvPr id="1107037276" name="Rounded Rectangle 15"/>
          <p:cNvSpPr/>
          <p:nvPr/>
        </p:nvSpPr>
        <p:spPr bwMode="auto">
          <a:xfrm>
            <a:off x="6675120" y="1737360"/>
            <a:ext cx="4983480" cy="2788920"/>
          </a:xfrm>
          <a:prstGeom prst="roundRect">
            <a:avLst>
              <a:gd name="adj" fmla="val 5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008888" name="TextBox 16"/>
          <p:cNvSpPr txBox="1"/>
          <p:nvPr/>
        </p:nvSpPr>
        <p:spPr bwMode="auto">
          <a:xfrm>
            <a:off x="6949440" y="1892807"/>
            <a:ext cx="4480560" cy="457200"/>
          </a:xfrm>
          <a:prstGeom prst="rect">
            <a:avLst/>
          </a:prstGeom>
          <a:noFill/>
        </p:spPr>
        <p:txBody>
          <a:bodyPr wrap="square" lIns="36576" tIns="18288" rIns="36576" bIns="18288" anchor="t">
            <a:spAutoFit/>
          </a:bodyPr>
          <a:lstStyle/>
          <a:p>
            <a:pPr algn="l">
              <a:lnSpc>
                <a:spcPct val="100000"/>
              </a:lnSpc>
              <a:spcAft>
                <a:spcPts val="0"/>
              </a:spcAft>
              <a:defRPr/>
            </a:pPr>
            <a:r>
              <a:rPr sz="2000" b="1">
                <a:solidFill>
                  <a:srgbClr val="FFFFFF"/>
                </a:solidFill>
                <a:latin typeface="Segoe UI"/>
              </a:rPr>
              <a:t>Rebuild in three steps</a:t>
            </a:r>
            <a:endParaRPr/>
          </a:p>
        </p:txBody>
      </p:sp>
      <p:sp>
        <p:nvSpPr>
          <p:cNvPr id="1898363155" name="TextBox 17"/>
          <p:cNvSpPr txBox="1"/>
          <p:nvPr/>
        </p:nvSpPr>
        <p:spPr bwMode="auto">
          <a:xfrm>
            <a:off x="6949440" y="2423160"/>
            <a:ext cx="365760" cy="45720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9CA3AF"/>
                </a:solidFill>
                <a:latin typeface="Segoe UI"/>
              </a:rPr>
              <a:t>1</a:t>
            </a:r>
            <a:endParaRPr/>
          </a:p>
        </p:txBody>
      </p:sp>
      <p:sp>
        <p:nvSpPr>
          <p:cNvPr id="727418786" name="TextBox 18"/>
          <p:cNvSpPr txBox="1"/>
          <p:nvPr/>
        </p:nvSpPr>
        <p:spPr bwMode="auto">
          <a:xfrm>
            <a:off x="7315200" y="2386584"/>
            <a:ext cx="4206240" cy="365760"/>
          </a:xfrm>
          <a:prstGeom prst="rect">
            <a:avLst/>
          </a:prstGeom>
          <a:noFill/>
        </p:spPr>
        <p:txBody>
          <a:bodyPr wrap="square" lIns="36576" tIns="18288" rIns="36576" bIns="18288" anchor="t">
            <a:spAutoFit/>
          </a:bodyPr>
          <a:lstStyle/>
          <a:p>
            <a:pPr algn="l">
              <a:lnSpc>
                <a:spcPct val="100000"/>
              </a:lnSpc>
              <a:spcAft>
                <a:spcPts val="0"/>
              </a:spcAft>
              <a:defRPr/>
            </a:pPr>
            <a:r>
              <a:rPr sz="1400" b="0">
                <a:solidFill>
                  <a:srgbClr val="9CA3AF"/>
                </a:solidFill>
                <a:latin typeface="Segoe UI"/>
              </a:rPr>
              <a:t>Database + sample data</a:t>
            </a:r>
            <a:endParaRPr/>
          </a:p>
        </p:txBody>
      </p:sp>
      <p:sp>
        <p:nvSpPr>
          <p:cNvPr id="639007604" name="TextBox 19"/>
          <p:cNvSpPr txBox="1"/>
          <p:nvPr/>
        </p:nvSpPr>
        <p:spPr bwMode="auto">
          <a:xfrm>
            <a:off x="7315200" y="2660904"/>
            <a:ext cx="4206240" cy="411480"/>
          </a:xfrm>
          <a:prstGeom prst="rect">
            <a:avLst/>
          </a:prstGeom>
          <a:noFill/>
        </p:spPr>
        <p:txBody>
          <a:bodyPr wrap="square" lIns="36576" tIns="18288" rIns="36576" bIns="18288" anchor="t">
            <a:spAutoFit/>
          </a:bodyPr>
          <a:lstStyle/>
          <a:p>
            <a:pPr algn="l">
              <a:lnSpc>
                <a:spcPct val="100000"/>
              </a:lnSpc>
              <a:spcAft>
                <a:spcPts val="0"/>
              </a:spcAft>
              <a:defRPr/>
            </a:pPr>
            <a:r>
              <a:rPr sz="1700" b="0">
                <a:solidFill>
                  <a:srgbClr val="FFFFFF"/>
                </a:solidFill>
                <a:latin typeface="Consolas"/>
              </a:rPr>
              <a:t>.\build_database.ps1</a:t>
            </a:r>
            <a:endParaRPr/>
          </a:p>
        </p:txBody>
      </p:sp>
      <p:sp>
        <p:nvSpPr>
          <p:cNvPr id="528070604" name="TextBox 20"/>
          <p:cNvSpPr txBox="1"/>
          <p:nvPr/>
        </p:nvSpPr>
        <p:spPr bwMode="auto">
          <a:xfrm>
            <a:off x="6949440" y="3108960"/>
            <a:ext cx="365760" cy="45720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9CA3AF"/>
                </a:solidFill>
                <a:latin typeface="Segoe UI"/>
              </a:rPr>
              <a:t>2</a:t>
            </a:r>
            <a:endParaRPr/>
          </a:p>
        </p:txBody>
      </p:sp>
      <p:sp>
        <p:nvSpPr>
          <p:cNvPr id="1046049373" name="TextBox 21"/>
          <p:cNvSpPr txBox="1"/>
          <p:nvPr/>
        </p:nvSpPr>
        <p:spPr bwMode="auto">
          <a:xfrm>
            <a:off x="7315200" y="3072384"/>
            <a:ext cx="4206240" cy="365760"/>
          </a:xfrm>
          <a:prstGeom prst="rect">
            <a:avLst/>
          </a:prstGeom>
          <a:noFill/>
        </p:spPr>
        <p:txBody>
          <a:bodyPr wrap="square" lIns="36576" tIns="18288" rIns="36576" bIns="18288" anchor="t">
            <a:spAutoFit/>
          </a:bodyPr>
          <a:lstStyle/>
          <a:p>
            <a:pPr algn="l">
              <a:lnSpc>
                <a:spcPct val="100000"/>
              </a:lnSpc>
              <a:spcAft>
                <a:spcPts val="0"/>
              </a:spcAft>
              <a:defRPr/>
            </a:pPr>
            <a:r>
              <a:rPr sz="1400" b="0">
                <a:solidFill>
                  <a:srgbClr val="9CA3AF"/>
                </a:solidFill>
                <a:latin typeface="Segoe UI"/>
              </a:rPr>
              <a:t>API  (gymverse-backend)</a:t>
            </a:r>
            <a:endParaRPr/>
          </a:p>
        </p:txBody>
      </p:sp>
      <p:sp>
        <p:nvSpPr>
          <p:cNvPr id="937492959" name="TextBox 22"/>
          <p:cNvSpPr txBox="1"/>
          <p:nvPr/>
        </p:nvSpPr>
        <p:spPr bwMode="auto">
          <a:xfrm>
            <a:off x="7315200" y="3346704"/>
            <a:ext cx="4206240" cy="411480"/>
          </a:xfrm>
          <a:prstGeom prst="rect">
            <a:avLst/>
          </a:prstGeom>
          <a:noFill/>
        </p:spPr>
        <p:txBody>
          <a:bodyPr wrap="square" lIns="36576" tIns="18288" rIns="36576" bIns="18288" anchor="t">
            <a:spAutoFit/>
          </a:bodyPr>
          <a:lstStyle/>
          <a:p>
            <a:pPr algn="l">
              <a:lnSpc>
                <a:spcPct val="100000"/>
              </a:lnSpc>
              <a:spcAft>
                <a:spcPts val="0"/>
              </a:spcAft>
              <a:defRPr/>
            </a:pPr>
            <a:r>
              <a:rPr sz="1700" b="0">
                <a:solidFill>
                  <a:srgbClr val="FFFFFF"/>
                </a:solidFill>
                <a:latin typeface="Consolas"/>
              </a:rPr>
              <a:t>npm install; npm run dev</a:t>
            </a:r>
            <a:endParaRPr/>
          </a:p>
        </p:txBody>
      </p:sp>
      <p:sp>
        <p:nvSpPr>
          <p:cNvPr id="604656297" name="TextBox 23"/>
          <p:cNvSpPr txBox="1"/>
          <p:nvPr/>
        </p:nvSpPr>
        <p:spPr bwMode="auto">
          <a:xfrm>
            <a:off x="6949440" y="3794760"/>
            <a:ext cx="365760" cy="45720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9CA3AF"/>
                </a:solidFill>
                <a:latin typeface="Segoe UI"/>
              </a:rPr>
              <a:t>3</a:t>
            </a:r>
            <a:endParaRPr/>
          </a:p>
        </p:txBody>
      </p:sp>
      <p:sp>
        <p:nvSpPr>
          <p:cNvPr id="843528220" name="TextBox 24"/>
          <p:cNvSpPr txBox="1"/>
          <p:nvPr/>
        </p:nvSpPr>
        <p:spPr bwMode="auto">
          <a:xfrm>
            <a:off x="7315200" y="3758184"/>
            <a:ext cx="4206240" cy="365760"/>
          </a:xfrm>
          <a:prstGeom prst="rect">
            <a:avLst/>
          </a:prstGeom>
          <a:noFill/>
        </p:spPr>
        <p:txBody>
          <a:bodyPr wrap="square" lIns="36576" tIns="18288" rIns="36576" bIns="18288" anchor="t">
            <a:spAutoFit/>
          </a:bodyPr>
          <a:lstStyle/>
          <a:p>
            <a:pPr algn="l">
              <a:lnSpc>
                <a:spcPct val="100000"/>
              </a:lnSpc>
              <a:spcAft>
                <a:spcPts val="0"/>
              </a:spcAft>
              <a:defRPr/>
            </a:pPr>
            <a:r>
              <a:rPr sz="1400" b="0">
                <a:solidFill>
                  <a:srgbClr val="9CA3AF"/>
                </a:solidFill>
                <a:latin typeface="Segoe UI"/>
              </a:rPr>
              <a:t>Web app  (gymverse-frontend)</a:t>
            </a:r>
            <a:endParaRPr/>
          </a:p>
        </p:txBody>
      </p:sp>
      <p:sp>
        <p:nvSpPr>
          <p:cNvPr id="2008706150" name="TextBox 25"/>
          <p:cNvSpPr txBox="1"/>
          <p:nvPr/>
        </p:nvSpPr>
        <p:spPr bwMode="auto">
          <a:xfrm>
            <a:off x="7315200" y="4032504"/>
            <a:ext cx="4206240" cy="411480"/>
          </a:xfrm>
          <a:prstGeom prst="rect">
            <a:avLst/>
          </a:prstGeom>
          <a:noFill/>
        </p:spPr>
        <p:txBody>
          <a:bodyPr wrap="square" lIns="36576" tIns="18288" rIns="36576" bIns="18288" anchor="t">
            <a:spAutoFit/>
          </a:bodyPr>
          <a:lstStyle/>
          <a:p>
            <a:pPr algn="l">
              <a:lnSpc>
                <a:spcPct val="100000"/>
              </a:lnSpc>
              <a:spcAft>
                <a:spcPts val="0"/>
              </a:spcAft>
              <a:defRPr/>
            </a:pPr>
            <a:r>
              <a:rPr sz="1700" b="0">
                <a:solidFill>
                  <a:srgbClr val="FFFFFF"/>
                </a:solidFill>
                <a:latin typeface="Consolas"/>
              </a:rPr>
              <a:t>npm install; npm run dev</a:t>
            </a:r>
            <a:endParaRPr/>
          </a:p>
        </p:txBody>
      </p:sp>
      <p:sp>
        <p:nvSpPr>
          <p:cNvPr id="383488166" name="Rounded Rectangle 26"/>
          <p:cNvSpPr/>
          <p:nvPr/>
        </p:nvSpPr>
        <p:spPr bwMode="auto">
          <a:xfrm>
            <a:off x="6675120" y="4754880"/>
            <a:ext cx="1463040" cy="1463040"/>
          </a:xfrm>
          <a:prstGeom prst="roundRect">
            <a:avLst>
              <a:gd name="adj" fmla="val 4000"/>
            </a:avLst>
          </a:prstGeom>
          <a:solidFill>
            <a:srgbClr val="F3F4F6"/>
          </a:solidFill>
          <a:ln w="15875">
            <a:solidFill>
              <a:srgbClr val="9CA3AF"/>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a:pPr>
            <a:r>
              <a:rPr sz="1600" b="1">
                <a:solidFill>
                  <a:srgbClr val="111827"/>
                </a:solidFill>
                <a:latin typeface="Segoe UI"/>
              </a:rPr>
              <a:t>[ADD QR]</a:t>
            </a:r>
            <a:endParaRPr/>
          </a:p>
        </p:txBody>
      </p:sp>
      <p:sp>
        <p:nvSpPr>
          <p:cNvPr id="1301340940" name="TextBox 27"/>
          <p:cNvSpPr txBox="1"/>
          <p:nvPr/>
        </p:nvSpPr>
        <p:spPr bwMode="auto">
          <a:xfrm>
            <a:off x="8366760" y="4846320"/>
            <a:ext cx="3291840" cy="45720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6B7280"/>
                </a:solidFill>
                <a:latin typeface="Segoe UI"/>
              </a:rPr>
              <a:t>Check a fresh build:</a:t>
            </a:r>
            <a:endParaRPr/>
          </a:p>
        </p:txBody>
      </p:sp>
      <p:sp>
        <p:nvSpPr>
          <p:cNvPr id="348240801" name="TextBox 28"/>
          <p:cNvSpPr txBox="1"/>
          <p:nvPr/>
        </p:nvSpPr>
        <p:spPr bwMode="auto">
          <a:xfrm>
            <a:off x="8366760" y="5303520"/>
            <a:ext cx="3291840" cy="457200"/>
          </a:xfrm>
          <a:prstGeom prst="rect">
            <a:avLst/>
          </a:prstGeom>
          <a:noFill/>
        </p:spPr>
        <p:txBody>
          <a:bodyPr wrap="square" lIns="36576" tIns="18288" rIns="36576" bIns="18288" anchor="t">
            <a:spAutoFit/>
          </a:bodyPr>
          <a:lstStyle/>
          <a:p>
            <a:pPr algn="l">
              <a:lnSpc>
                <a:spcPct val="100000"/>
              </a:lnSpc>
              <a:spcAft>
                <a:spcPts val="0"/>
              </a:spcAft>
              <a:defRPr/>
            </a:pPr>
            <a:r>
              <a:rPr sz="1800" b="0">
                <a:solidFill>
                  <a:srgbClr val="111827"/>
                </a:solidFill>
                <a:latin typeface="Consolas"/>
              </a:rPr>
              <a:t>node verify_stack.js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4229059" name="Rectangle 1"/>
          <p:cNvSpPr/>
          <p:nvPr/>
        </p:nvSpPr>
        <p:spPr bwMode="auto">
          <a:xfrm>
            <a:off x="347472" y="502920"/>
            <a:ext cx="73152" cy="56692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31438421" name="TextBox 2"/>
          <p:cNvSpPr txBox="1"/>
          <p:nvPr/>
        </p:nvSpPr>
        <p:spPr bwMode="auto">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defRPr/>
            </a:pPr>
            <a:r>
              <a:rPr sz="3400" b="1">
                <a:solidFill>
                  <a:srgbClr val="111827"/>
                </a:solidFill>
                <a:latin typeface="Segoe UI"/>
              </a:rPr>
              <a:t>Usable from any browser, by every role</a:t>
            </a:r>
            <a:endParaRPr/>
          </a:p>
        </p:txBody>
      </p:sp>
      <p:sp>
        <p:nvSpPr>
          <p:cNvPr id="1209571471" name="Rounded Rectangle 3"/>
          <p:cNvSpPr/>
          <p:nvPr/>
        </p:nvSpPr>
        <p:spPr bwMode="auto">
          <a:xfrm>
            <a:off x="10058400" y="457200"/>
            <a:ext cx="1645920" cy="420624"/>
          </a:xfrm>
          <a:prstGeom prst="roundRect">
            <a:avLst>
              <a:gd name="adj" fmla="val 50000"/>
            </a:avLst>
          </a:prstGeom>
          <a:solidFill>
            <a:srgbClr val="FFFFFF"/>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a:pPr>
            <a:r>
              <a:rPr sz="1400" b="1">
                <a:solidFill>
                  <a:srgbClr val="A16207"/>
                </a:solidFill>
                <a:latin typeface="Segoe UI"/>
              </a:rPr>
              <a:t>Dissemination</a:t>
            </a:r>
            <a:endParaRPr/>
          </a:p>
        </p:txBody>
      </p:sp>
      <p:sp>
        <p:nvSpPr>
          <p:cNvPr id="1905161483" name="TextBox 4"/>
          <p:cNvSpPr txBox="1"/>
          <p:nvPr/>
        </p:nvSpPr>
        <p:spPr bwMode="auto">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defRPr/>
            </a:pPr>
            <a:r>
              <a:rPr sz="1400" b="0">
                <a:solidFill>
                  <a:srgbClr val="6B7280"/>
                </a:solidFill>
                <a:latin typeface="Segoe UI"/>
              </a:rPr>
              <a:t>9</a:t>
            </a:r>
            <a:endParaRPr/>
          </a:p>
        </p:txBody>
      </p:sp>
      <p:sp>
        <p:nvSpPr>
          <p:cNvPr id="1292781027" name="TextBox 5"/>
          <p:cNvSpPr txBox="1"/>
          <p:nvPr/>
        </p:nvSpPr>
        <p:spPr bwMode="auto">
          <a:xfrm>
            <a:off x="548640" y="1691640"/>
            <a:ext cx="5440680" cy="457200"/>
          </a:xfrm>
          <a:prstGeom prst="rect">
            <a:avLst/>
          </a:prstGeom>
          <a:noFill/>
        </p:spPr>
        <p:txBody>
          <a:bodyPr wrap="square" lIns="36576" tIns="18288" rIns="36576" bIns="18288" anchor="t">
            <a:spAutoFit/>
          </a:bodyPr>
          <a:lstStyle/>
          <a:p>
            <a:pPr algn="l">
              <a:lnSpc>
                <a:spcPct val="100000"/>
              </a:lnSpc>
              <a:spcAft>
                <a:spcPts val="0"/>
              </a:spcAft>
              <a:defRPr/>
            </a:pPr>
            <a:r>
              <a:rPr sz="2000" b="1">
                <a:solidFill>
                  <a:srgbClr val="A16207"/>
                </a:solidFill>
                <a:latin typeface="Segoe UI"/>
              </a:rPr>
              <a:t>For gym staff &amp; members</a:t>
            </a:r>
            <a:endParaRPr/>
          </a:p>
        </p:txBody>
      </p:sp>
      <p:sp>
        <p:nvSpPr>
          <p:cNvPr id="1914366353" name="Rounded Rectangle 6"/>
          <p:cNvSpPr/>
          <p:nvPr/>
        </p:nvSpPr>
        <p:spPr bwMode="auto">
          <a:xfrm>
            <a:off x="548640" y="2240280"/>
            <a:ext cx="5440680" cy="868680"/>
          </a:xfrm>
          <a:prstGeom prst="roundRect">
            <a:avLst>
              <a:gd name="adj" fmla="val 12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50725477" name="TextBox 7"/>
          <p:cNvSpPr txBox="1"/>
          <p:nvPr/>
        </p:nvSpPr>
        <p:spPr bwMode="auto">
          <a:xfrm>
            <a:off x="731520" y="2368296"/>
            <a:ext cx="640080" cy="640080"/>
          </a:xfrm>
          <a:prstGeom prst="rect">
            <a:avLst/>
          </a:prstGeom>
          <a:noFill/>
        </p:spPr>
        <p:txBody>
          <a:bodyPr wrap="square" lIns="36576" tIns="18288" rIns="36576" bIns="18288" anchor="ctr">
            <a:spAutoFit/>
          </a:bodyPr>
          <a:lstStyle/>
          <a:p>
            <a:pPr algn="l">
              <a:lnSpc>
                <a:spcPct val="100000"/>
              </a:lnSpc>
              <a:spcAft>
                <a:spcPts val="0"/>
              </a:spcAft>
              <a:defRPr/>
            </a:pPr>
            <a:r>
              <a:rPr sz="2400" b="0">
                <a:solidFill>
                  <a:srgbClr val="374151"/>
                </a:solidFill>
                <a:latin typeface="Segoe UI Emoji"/>
              </a:rPr>
              <a:t>🌐</a:t>
            </a:r>
            <a:endParaRPr/>
          </a:p>
        </p:txBody>
      </p:sp>
      <p:sp>
        <p:nvSpPr>
          <p:cNvPr id="1162410694" name="TextBox 8"/>
          <p:cNvSpPr txBox="1"/>
          <p:nvPr/>
        </p:nvSpPr>
        <p:spPr bwMode="auto">
          <a:xfrm>
            <a:off x="1417319" y="2313432"/>
            <a:ext cx="44805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Any web browser</a:t>
            </a:r>
            <a:endParaRPr/>
          </a:p>
        </p:txBody>
      </p:sp>
      <p:sp>
        <p:nvSpPr>
          <p:cNvPr id="1898361866" name="TextBox 9"/>
          <p:cNvSpPr txBox="1"/>
          <p:nvPr/>
        </p:nvSpPr>
        <p:spPr bwMode="auto">
          <a:xfrm>
            <a:off x="1417319" y="2679192"/>
            <a:ext cx="4480560" cy="384048"/>
          </a:xfrm>
          <a:prstGeom prst="rect">
            <a:avLst/>
          </a:prstGeom>
          <a:noFill/>
        </p:spPr>
        <p:txBody>
          <a:bodyPr wrap="square" lIns="36576" tIns="18288" rIns="36576" bIns="18288" anchor="t">
            <a:spAutoFit/>
          </a:bodyPr>
          <a:lstStyle/>
          <a:p>
            <a:pPr algn="l">
              <a:lnSpc>
                <a:spcPct val="100000"/>
              </a:lnSpc>
              <a:spcAft>
                <a:spcPts val="0"/>
              </a:spcAft>
              <a:defRPr/>
            </a:pPr>
            <a:r>
              <a:rPr sz="1500" b="0">
                <a:solidFill>
                  <a:srgbClr val="6B7280"/>
                </a:solidFill>
                <a:latin typeface="Segoe UI"/>
              </a:rPr>
              <a:t>nothing to install</a:t>
            </a:r>
            <a:endParaRPr/>
          </a:p>
        </p:txBody>
      </p:sp>
      <p:sp>
        <p:nvSpPr>
          <p:cNvPr id="1027823058" name="Rounded Rectangle 10"/>
          <p:cNvSpPr/>
          <p:nvPr/>
        </p:nvSpPr>
        <p:spPr bwMode="auto">
          <a:xfrm>
            <a:off x="548640" y="3227832"/>
            <a:ext cx="5440680" cy="868680"/>
          </a:xfrm>
          <a:prstGeom prst="roundRect">
            <a:avLst>
              <a:gd name="adj" fmla="val 12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9911938" name="TextBox 11"/>
          <p:cNvSpPr txBox="1"/>
          <p:nvPr/>
        </p:nvSpPr>
        <p:spPr bwMode="auto">
          <a:xfrm>
            <a:off x="731520" y="3355848"/>
            <a:ext cx="640080" cy="640080"/>
          </a:xfrm>
          <a:prstGeom prst="rect">
            <a:avLst/>
          </a:prstGeom>
          <a:noFill/>
        </p:spPr>
        <p:txBody>
          <a:bodyPr wrap="square" lIns="36576" tIns="18288" rIns="36576" bIns="18288" anchor="ctr">
            <a:spAutoFit/>
          </a:bodyPr>
          <a:lstStyle/>
          <a:p>
            <a:pPr algn="l">
              <a:lnSpc>
                <a:spcPct val="100000"/>
              </a:lnSpc>
              <a:spcAft>
                <a:spcPts val="0"/>
              </a:spcAft>
              <a:defRPr/>
            </a:pPr>
            <a:r>
              <a:rPr sz="2400" b="0">
                <a:solidFill>
                  <a:srgbClr val="374151"/>
                </a:solidFill>
                <a:latin typeface="Segoe UI Emoji"/>
              </a:rPr>
              <a:t>👥</a:t>
            </a:r>
            <a:endParaRPr/>
          </a:p>
        </p:txBody>
      </p:sp>
      <p:sp>
        <p:nvSpPr>
          <p:cNvPr id="1753181279" name="TextBox 12"/>
          <p:cNvSpPr txBox="1"/>
          <p:nvPr/>
        </p:nvSpPr>
        <p:spPr bwMode="auto">
          <a:xfrm>
            <a:off x="1417319" y="3300984"/>
            <a:ext cx="44805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Four role-specific views</a:t>
            </a:r>
            <a:endParaRPr/>
          </a:p>
        </p:txBody>
      </p:sp>
      <p:sp>
        <p:nvSpPr>
          <p:cNvPr id="508873668" name="TextBox 13"/>
          <p:cNvSpPr txBox="1"/>
          <p:nvPr/>
        </p:nvSpPr>
        <p:spPr bwMode="auto">
          <a:xfrm>
            <a:off x="1417319" y="3666744"/>
            <a:ext cx="4480560" cy="384048"/>
          </a:xfrm>
          <a:prstGeom prst="rect">
            <a:avLst/>
          </a:prstGeom>
          <a:noFill/>
        </p:spPr>
        <p:txBody>
          <a:bodyPr wrap="square" lIns="36576" tIns="18288" rIns="36576" bIns="18288" anchor="t">
            <a:spAutoFit/>
          </a:bodyPr>
          <a:lstStyle/>
          <a:p>
            <a:pPr algn="l">
              <a:lnSpc>
                <a:spcPct val="100000"/>
              </a:lnSpc>
              <a:spcAft>
                <a:spcPts val="0"/>
              </a:spcAft>
              <a:defRPr/>
            </a:pPr>
            <a:r>
              <a:rPr sz="1500" b="0">
                <a:solidFill>
                  <a:srgbClr val="6B7280"/>
                </a:solidFill>
                <a:latin typeface="Segoe UI"/>
              </a:rPr>
              <a:t>admin · receptionist · trainer · member</a:t>
            </a:r>
            <a:endParaRPr/>
          </a:p>
        </p:txBody>
      </p:sp>
      <p:sp>
        <p:nvSpPr>
          <p:cNvPr id="525168156" name="Rounded Rectangle 14"/>
          <p:cNvSpPr/>
          <p:nvPr/>
        </p:nvSpPr>
        <p:spPr bwMode="auto">
          <a:xfrm>
            <a:off x="548640" y="4215384"/>
            <a:ext cx="5440680" cy="868680"/>
          </a:xfrm>
          <a:prstGeom prst="roundRect">
            <a:avLst>
              <a:gd name="adj" fmla="val 12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15996511" name="TextBox 15"/>
          <p:cNvSpPr txBox="1"/>
          <p:nvPr/>
        </p:nvSpPr>
        <p:spPr bwMode="auto">
          <a:xfrm>
            <a:off x="731520" y="4343400"/>
            <a:ext cx="640080" cy="640080"/>
          </a:xfrm>
          <a:prstGeom prst="rect">
            <a:avLst/>
          </a:prstGeom>
          <a:noFill/>
        </p:spPr>
        <p:txBody>
          <a:bodyPr wrap="square" lIns="36576" tIns="18288" rIns="36576" bIns="18288" anchor="ctr">
            <a:spAutoFit/>
          </a:bodyPr>
          <a:lstStyle/>
          <a:p>
            <a:pPr algn="l">
              <a:lnSpc>
                <a:spcPct val="100000"/>
              </a:lnSpc>
              <a:spcAft>
                <a:spcPts val="0"/>
              </a:spcAft>
              <a:defRPr/>
            </a:pPr>
            <a:r>
              <a:rPr sz="2400" b="0">
                <a:solidFill>
                  <a:srgbClr val="374151"/>
                </a:solidFill>
                <a:latin typeface="Segoe UI Emoji"/>
              </a:rPr>
              <a:t>🔑</a:t>
            </a:r>
            <a:endParaRPr/>
          </a:p>
        </p:txBody>
      </p:sp>
      <p:sp>
        <p:nvSpPr>
          <p:cNvPr id="489176362" name="TextBox 16"/>
          <p:cNvSpPr txBox="1"/>
          <p:nvPr/>
        </p:nvSpPr>
        <p:spPr bwMode="auto">
          <a:xfrm>
            <a:off x="1417319" y="4288536"/>
            <a:ext cx="44805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Self-service accounts</a:t>
            </a:r>
            <a:endParaRPr/>
          </a:p>
        </p:txBody>
      </p:sp>
      <p:sp>
        <p:nvSpPr>
          <p:cNvPr id="1050139163" name="TextBox 17"/>
          <p:cNvSpPr txBox="1"/>
          <p:nvPr/>
        </p:nvSpPr>
        <p:spPr bwMode="auto">
          <a:xfrm>
            <a:off x="1417319" y="4654296"/>
            <a:ext cx="4480560" cy="384048"/>
          </a:xfrm>
          <a:prstGeom prst="rect">
            <a:avLst/>
          </a:prstGeom>
          <a:noFill/>
        </p:spPr>
        <p:txBody>
          <a:bodyPr wrap="square" lIns="36576" tIns="18288" rIns="36576" bIns="18288" anchor="t">
            <a:spAutoFit/>
          </a:bodyPr>
          <a:lstStyle/>
          <a:p>
            <a:pPr algn="l">
              <a:lnSpc>
                <a:spcPct val="100000"/>
              </a:lnSpc>
              <a:spcAft>
                <a:spcPts val="0"/>
              </a:spcAft>
              <a:defRPr/>
            </a:pPr>
            <a:r>
              <a:rPr sz="1500" b="0">
                <a:solidFill>
                  <a:srgbClr val="6B7280"/>
                </a:solidFill>
                <a:latin typeface="Segoe UI"/>
              </a:rPr>
              <a:t>email verification · password reset</a:t>
            </a:r>
            <a:endParaRPr/>
          </a:p>
        </p:txBody>
      </p:sp>
      <p:sp>
        <p:nvSpPr>
          <p:cNvPr id="1663410378" name="Rounded Rectangle 18"/>
          <p:cNvSpPr/>
          <p:nvPr/>
        </p:nvSpPr>
        <p:spPr bwMode="auto">
          <a:xfrm>
            <a:off x="548640" y="5202936"/>
            <a:ext cx="5440680" cy="868680"/>
          </a:xfrm>
          <a:prstGeom prst="roundRect">
            <a:avLst>
              <a:gd name="adj" fmla="val 12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54063641" name="TextBox 19"/>
          <p:cNvSpPr txBox="1"/>
          <p:nvPr/>
        </p:nvSpPr>
        <p:spPr bwMode="auto">
          <a:xfrm>
            <a:off x="731520" y="5330952"/>
            <a:ext cx="640080" cy="640080"/>
          </a:xfrm>
          <a:prstGeom prst="rect">
            <a:avLst/>
          </a:prstGeom>
          <a:noFill/>
        </p:spPr>
        <p:txBody>
          <a:bodyPr wrap="square" lIns="36576" tIns="18288" rIns="36576" bIns="18288" anchor="ctr">
            <a:spAutoFit/>
          </a:bodyPr>
          <a:lstStyle/>
          <a:p>
            <a:pPr algn="l">
              <a:lnSpc>
                <a:spcPct val="100000"/>
              </a:lnSpc>
              <a:spcAft>
                <a:spcPts val="0"/>
              </a:spcAft>
              <a:defRPr/>
            </a:pPr>
            <a:r>
              <a:rPr sz="2400" b="0">
                <a:solidFill>
                  <a:srgbClr val="374151"/>
                </a:solidFill>
                <a:latin typeface="Segoe UI Emoji"/>
              </a:rPr>
              <a:t>💬</a:t>
            </a:r>
            <a:endParaRPr/>
          </a:p>
        </p:txBody>
      </p:sp>
      <p:sp>
        <p:nvSpPr>
          <p:cNvPr id="28685607" name="TextBox 20"/>
          <p:cNvSpPr txBox="1"/>
          <p:nvPr/>
        </p:nvSpPr>
        <p:spPr bwMode="auto">
          <a:xfrm>
            <a:off x="1417319" y="5276088"/>
            <a:ext cx="44805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AI assistant</a:t>
            </a:r>
            <a:endParaRPr/>
          </a:p>
        </p:txBody>
      </p:sp>
      <p:sp>
        <p:nvSpPr>
          <p:cNvPr id="1428542715" name="TextBox 21"/>
          <p:cNvSpPr txBox="1"/>
          <p:nvPr/>
        </p:nvSpPr>
        <p:spPr bwMode="auto">
          <a:xfrm>
            <a:off x="1417319" y="5641848"/>
            <a:ext cx="4480560" cy="384048"/>
          </a:xfrm>
          <a:prstGeom prst="rect">
            <a:avLst/>
          </a:prstGeom>
          <a:noFill/>
        </p:spPr>
        <p:txBody>
          <a:bodyPr wrap="square" lIns="36576" tIns="18288" rIns="36576" bIns="18288" anchor="t">
            <a:spAutoFit/>
          </a:bodyPr>
          <a:lstStyle/>
          <a:p>
            <a:pPr algn="l">
              <a:lnSpc>
                <a:spcPct val="100000"/>
              </a:lnSpc>
              <a:spcAft>
                <a:spcPts val="0"/>
              </a:spcAft>
              <a:defRPr/>
            </a:pPr>
            <a:r>
              <a:rPr sz="1500" b="0">
                <a:solidFill>
                  <a:srgbClr val="6B7280"/>
                </a:solidFill>
                <a:latin typeface="Segoe UI"/>
              </a:rPr>
              <a:t>ask questions in plain language</a:t>
            </a:r>
            <a:endParaRPr/>
          </a:p>
        </p:txBody>
      </p:sp>
      <p:sp>
        <p:nvSpPr>
          <p:cNvPr id="1644044304" name="TextBox 22"/>
          <p:cNvSpPr txBox="1"/>
          <p:nvPr/>
        </p:nvSpPr>
        <p:spPr bwMode="auto">
          <a:xfrm>
            <a:off x="6172200" y="1691640"/>
            <a:ext cx="5440680" cy="457200"/>
          </a:xfrm>
          <a:prstGeom prst="rect">
            <a:avLst/>
          </a:prstGeom>
          <a:noFill/>
        </p:spPr>
        <p:txBody>
          <a:bodyPr wrap="square" lIns="36576" tIns="18288" rIns="36576" bIns="18288" anchor="t">
            <a:spAutoFit/>
          </a:bodyPr>
          <a:lstStyle/>
          <a:p>
            <a:pPr algn="l">
              <a:lnSpc>
                <a:spcPct val="100000"/>
              </a:lnSpc>
              <a:spcAft>
                <a:spcPts val="0"/>
              </a:spcAft>
              <a:defRPr/>
            </a:pPr>
            <a:r>
              <a:rPr sz="2000" b="1">
                <a:solidFill>
                  <a:srgbClr val="A16207"/>
                </a:solidFill>
                <a:latin typeface="Segoe UI"/>
              </a:rPr>
              <a:t>For developers &amp; evaluators</a:t>
            </a:r>
            <a:endParaRPr/>
          </a:p>
        </p:txBody>
      </p:sp>
      <p:sp>
        <p:nvSpPr>
          <p:cNvPr id="1320967993" name="Rounded Rectangle 23"/>
          <p:cNvSpPr/>
          <p:nvPr/>
        </p:nvSpPr>
        <p:spPr bwMode="auto">
          <a:xfrm>
            <a:off x="6172200" y="2240280"/>
            <a:ext cx="5440680" cy="8686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1223551" name="TextBox 24"/>
          <p:cNvSpPr txBox="1"/>
          <p:nvPr/>
        </p:nvSpPr>
        <p:spPr bwMode="auto">
          <a:xfrm>
            <a:off x="6355080" y="2368296"/>
            <a:ext cx="640080" cy="640080"/>
          </a:xfrm>
          <a:prstGeom prst="rect">
            <a:avLst/>
          </a:prstGeom>
          <a:noFill/>
        </p:spPr>
        <p:txBody>
          <a:bodyPr wrap="square" lIns="36576" tIns="18288" rIns="36576" bIns="18288" anchor="ctr">
            <a:spAutoFit/>
          </a:bodyPr>
          <a:lstStyle/>
          <a:p>
            <a:pPr algn="l">
              <a:lnSpc>
                <a:spcPct val="100000"/>
              </a:lnSpc>
              <a:spcAft>
                <a:spcPts val="0"/>
              </a:spcAft>
              <a:defRPr/>
            </a:pPr>
            <a:r>
              <a:rPr sz="2400" b="0">
                <a:solidFill>
                  <a:srgbClr val="374151"/>
                </a:solidFill>
                <a:latin typeface="Segoe UI Emoji"/>
              </a:rPr>
              <a:t>📘</a:t>
            </a:r>
            <a:endParaRPr/>
          </a:p>
        </p:txBody>
      </p:sp>
      <p:sp>
        <p:nvSpPr>
          <p:cNvPr id="520196762" name="TextBox 25"/>
          <p:cNvSpPr txBox="1"/>
          <p:nvPr/>
        </p:nvSpPr>
        <p:spPr bwMode="auto">
          <a:xfrm>
            <a:off x="7040880" y="2313432"/>
            <a:ext cx="44805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Interactive API docs</a:t>
            </a:r>
            <a:endParaRPr/>
          </a:p>
        </p:txBody>
      </p:sp>
      <p:sp>
        <p:nvSpPr>
          <p:cNvPr id="1422411186" name="TextBox 26"/>
          <p:cNvSpPr txBox="1"/>
          <p:nvPr/>
        </p:nvSpPr>
        <p:spPr bwMode="auto">
          <a:xfrm>
            <a:off x="7040880" y="2679192"/>
            <a:ext cx="4480560" cy="384048"/>
          </a:xfrm>
          <a:prstGeom prst="rect">
            <a:avLst/>
          </a:prstGeom>
          <a:noFill/>
        </p:spPr>
        <p:txBody>
          <a:bodyPr wrap="square" lIns="36576" tIns="18288" rIns="36576" bIns="18288" anchor="t">
            <a:spAutoFit/>
          </a:bodyPr>
          <a:lstStyle/>
          <a:p>
            <a:pPr algn="l">
              <a:lnSpc>
                <a:spcPct val="100000"/>
              </a:lnSpc>
              <a:spcAft>
                <a:spcPts val="0"/>
              </a:spcAft>
              <a:defRPr/>
            </a:pPr>
            <a:r>
              <a:rPr sz="1500" b="0">
                <a:solidFill>
                  <a:srgbClr val="6B7280"/>
                </a:solidFill>
                <a:latin typeface="Segoe UI"/>
              </a:rPr>
              <a:t>Swagger UI at /api-docs</a:t>
            </a:r>
            <a:endParaRPr/>
          </a:p>
        </p:txBody>
      </p:sp>
      <p:sp>
        <p:nvSpPr>
          <p:cNvPr id="1830226639" name="Rounded Rectangle 27"/>
          <p:cNvSpPr/>
          <p:nvPr/>
        </p:nvSpPr>
        <p:spPr bwMode="auto">
          <a:xfrm>
            <a:off x="6172200" y="3227832"/>
            <a:ext cx="5440680" cy="8686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7759863" name="TextBox 28"/>
          <p:cNvSpPr txBox="1"/>
          <p:nvPr/>
        </p:nvSpPr>
        <p:spPr bwMode="auto">
          <a:xfrm>
            <a:off x="6355080" y="3355848"/>
            <a:ext cx="640080" cy="640080"/>
          </a:xfrm>
          <a:prstGeom prst="rect">
            <a:avLst/>
          </a:prstGeom>
          <a:noFill/>
        </p:spPr>
        <p:txBody>
          <a:bodyPr wrap="square" lIns="36576" tIns="18288" rIns="36576" bIns="18288" anchor="ctr">
            <a:spAutoFit/>
          </a:bodyPr>
          <a:lstStyle/>
          <a:p>
            <a:pPr algn="l">
              <a:lnSpc>
                <a:spcPct val="100000"/>
              </a:lnSpc>
              <a:spcAft>
                <a:spcPts val="0"/>
              </a:spcAft>
              <a:defRPr/>
            </a:pPr>
            <a:r>
              <a:rPr sz="2400" b="0">
                <a:solidFill>
                  <a:srgbClr val="374151"/>
                </a:solidFill>
                <a:latin typeface="Segoe UI Emoji"/>
              </a:rPr>
              <a:t>⌨</a:t>
            </a:r>
            <a:endParaRPr/>
          </a:p>
        </p:txBody>
      </p:sp>
      <p:sp>
        <p:nvSpPr>
          <p:cNvPr id="590358197" name="TextBox 29"/>
          <p:cNvSpPr txBox="1"/>
          <p:nvPr/>
        </p:nvSpPr>
        <p:spPr bwMode="auto">
          <a:xfrm>
            <a:off x="7040880" y="3300984"/>
            <a:ext cx="44805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Keyboard &amp; screen readers</a:t>
            </a:r>
            <a:endParaRPr/>
          </a:p>
        </p:txBody>
      </p:sp>
      <p:sp>
        <p:nvSpPr>
          <p:cNvPr id="947594157" name="TextBox 30"/>
          <p:cNvSpPr txBox="1"/>
          <p:nvPr/>
        </p:nvSpPr>
        <p:spPr bwMode="auto">
          <a:xfrm>
            <a:off x="7040880" y="3666744"/>
            <a:ext cx="4480560" cy="384048"/>
          </a:xfrm>
          <a:prstGeom prst="rect">
            <a:avLst/>
          </a:prstGeom>
          <a:noFill/>
        </p:spPr>
        <p:txBody>
          <a:bodyPr wrap="square" lIns="36576" tIns="18288" rIns="36576" bIns="18288" anchor="t">
            <a:spAutoFit/>
          </a:bodyPr>
          <a:lstStyle/>
          <a:p>
            <a:pPr algn="l">
              <a:lnSpc>
                <a:spcPct val="100000"/>
              </a:lnSpc>
              <a:spcAft>
                <a:spcPts val="0"/>
              </a:spcAft>
              <a:defRPr/>
            </a:pPr>
            <a:r>
              <a:rPr sz="1500" b="0">
                <a:solidFill>
                  <a:srgbClr val="6B7280"/>
                </a:solidFill>
                <a:latin typeface="Segoe UI"/>
              </a:rPr>
              <a:t>ARIA labels on controls · Escape closes dialogs</a:t>
            </a:r>
            <a:endParaRPr/>
          </a:p>
        </p:txBody>
      </p:sp>
      <p:sp>
        <p:nvSpPr>
          <p:cNvPr id="436064335" name="Rounded Rectangle 31"/>
          <p:cNvSpPr/>
          <p:nvPr/>
        </p:nvSpPr>
        <p:spPr bwMode="auto">
          <a:xfrm>
            <a:off x="6172200" y="4215384"/>
            <a:ext cx="5440680" cy="8686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9379829" name="TextBox 32"/>
          <p:cNvSpPr txBox="1"/>
          <p:nvPr/>
        </p:nvSpPr>
        <p:spPr bwMode="auto">
          <a:xfrm>
            <a:off x="6355080" y="4343400"/>
            <a:ext cx="640080" cy="640080"/>
          </a:xfrm>
          <a:prstGeom prst="rect">
            <a:avLst/>
          </a:prstGeom>
          <a:noFill/>
        </p:spPr>
        <p:txBody>
          <a:bodyPr wrap="square" lIns="36576" tIns="18288" rIns="36576" bIns="18288" anchor="ctr">
            <a:spAutoFit/>
          </a:bodyPr>
          <a:lstStyle/>
          <a:p>
            <a:pPr algn="l">
              <a:lnSpc>
                <a:spcPct val="100000"/>
              </a:lnSpc>
              <a:spcAft>
                <a:spcPts val="0"/>
              </a:spcAft>
              <a:defRPr/>
            </a:pPr>
            <a:r>
              <a:rPr sz="2400" b="0">
                <a:solidFill>
                  <a:srgbClr val="374151"/>
                </a:solidFill>
                <a:latin typeface="Segoe UI Emoji"/>
              </a:rPr>
              <a:t>🖥</a:t>
            </a:r>
            <a:endParaRPr/>
          </a:p>
        </p:txBody>
      </p:sp>
      <p:sp>
        <p:nvSpPr>
          <p:cNvPr id="411698568" name="TextBox 33"/>
          <p:cNvSpPr txBox="1"/>
          <p:nvPr/>
        </p:nvSpPr>
        <p:spPr bwMode="auto">
          <a:xfrm>
            <a:off x="7040880" y="4288536"/>
            <a:ext cx="44805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One server</a:t>
            </a:r>
            <a:endParaRPr/>
          </a:p>
        </p:txBody>
      </p:sp>
      <p:sp>
        <p:nvSpPr>
          <p:cNvPr id="198130574" name="TextBox 34"/>
          <p:cNvSpPr txBox="1"/>
          <p:nvPr/>
        </p:nvSpPr>
        <p:spPr bwMode="auto">
          <a:xfrm>
            <a:off x="7040880" y="4654296"/>
            <a:ext cx="4480560" cy="384048"/>
          </a:xfrm>
          <a:prstGeom prst="rect">
            <a:avLst/>
          </a:prstGeom>
          <a:noFill/>
        </p:spPr>
        <p:txBody>
          <a:bodyPr wrap="square" lIns="36576" tIns="18288" rIns="36576" bIns="18288" anchor="t">
            <a:spAutoFit/>
          </a:bodyPr>
          <a:lstStyle/>
          <a:p>
            <a:pPr algn="l">
              <a:lnSpc>
                <a:spcPct val="100000"/>
              </a:lnSpc>
              <a:spcAft>
                <a:spcPts val="0"/>
              </a:spcAft>
              <a:defRPr/>
            </a:pPr>
            <a:r>
              <a:rPr sz="1500" b="0">
                <a:solidFill>
                  <a:srgbClr val="6B7280"/>
                </a:solidFill>
                <a:latin typeface="Segoe UI"/>
              </a:rPr>
              <a:t>hosts the API and the built web app</a:t>
            </a:r>
            <a:endParaRPr/>
          </a:p>
        </p:txBody>
      </p:sp>
      <p:sp>
        <p:nvSpPr>
          <p:cNvPr id="1567227808" name="Rounded Rectangle 35"/>
          <p:cNvSpPr/>
          <p:nvPr/>
        </p:nvSpPr>
        <p:spPr bwMode="auto">
          <a:xfrm>
            <a:off x="6172200" y="5202936"/>
            <a:ext cx="5440680" cy="8686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5854462" name="TextBox 36"/>
          <p:cNvSpPr txBox="1"/>
          <p:nvPr/>
        </p:nvSpPr>
        <p:spPr bwMode="auto">
          <a:xfrm>
            <a:off x="6355080" y="5330952"/>
            <a:ext cx="640080" cy="640080"/>
          </a:xfrm>
          <a:prstGeom prst="rect">
            <a:avLst/>
          </a:prstGeom>
          <a:noFill/>
        </p:spPr>
        <p:txBody>
          <a:bodyPr wrap="square" lIns="36576" tIns="18288" rIns="36576" bIns="18288" anchor="ctr">
            <a:spAutoFit/>
          </a:bodyPr>
          <a:lstStyle/>
          <a:p>
            <a:pPr algn="l">
              <a:lnSpc>
                <a:spcPct val="100000"/>
              </a:lnSpc>
              <a:spcAft>
                <a:spcPts val="0"/>
              </a:spcAft>
              <a:defRPr/>
            </a:pPr>
            <a:r>
              <a:rPr sz="2400" b="0">
                <a:solidFill>
                  <a:srgbClr val="374151"/>
                </a:solidFill>
                <a:latin typeface="Segoe UI Emoji"/>
              </a:rPr>
              <a:t>🧩</a:t>
            </a:r>
            <a:endParaRPr/>
          </a:p>
        </p:txBody>
      </p:sp>
      <p:sp>
        <p:nvSpPr>
          <p:cNvPr id="2141742300" name="TextBox 37"/>
          <p:cNvSpPr txBox="1"/>
          <p:nvPr/>
        </p:nvSpPr>
        <p:spPr bwMode="auto">
          <a:xfrm>
            <a:off x="7040880" y="5276088"/>
            <a:ext cx="448056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111827"/>
                </a:solidFill>
                <a:latin typeface="Segoe UI"/>
              </a:rPr>
              <a:t>Optional services</a:t>
            </a:r>
            <a:endParaRPr/>
          </a:p>
        </p:txBody>
      </p:sp>
      <p:sp>
        <p:nvSpPr>
          <p:cNvPr id="95031378" name="TextBox 38"/>
          <p:cNvSpPr txBox="1"/>
          <p:nvPr/>
        </p:nvSpPr>
        <p:spPr bwMode="auto">
          <a:xfrm>
            <a:off x="7040880" y="5641848"/>
            <a:ext cx="4480560" cy="384048"/>
          </a:xfrm>
          <a:prstGeom prst="rect">
            <a:avLst/>
          </a:prstGeom>
          <a:noFill/>
        </p:spPr>
        <p:txBody>
          <a:bodyPr wrap="square" lIns="36576" tIns="18288" rIns="36576" bIns="18288" anchor="t">
            <a:spAutoFit/>
          </a:bodyPr>
          <a:lstStyle/>
          <a:p>
            <a:pPr algn="l">
              <a:lnSpc>
                <a:spcPct val="100000"/>
              </a:lnSpc>
              <a:spcAft>
                <a:spcPts val="0"/>
              </a:spcAft>
              <a:defRPr/>
            </a:pPr>
            <a:r>
              <a:rPr sz="1500" b="0">
                <a:solidFill>
                  <a:srgbClr val="6B7280"/>
                </a:solidFill>
                <a:latin typeface="Segoe UI"/>
              </a:rPr>
              <a:t>runs without AI, email or MongoDB</a:t>
            </a:r>
            <a:endParaRPr/>
          </a:p>
        </p:txBody>
      </p:sp>
      <p:sp>
        <p:nvSpPr>
          <p:cNvPr id="1279950076" name="TextBox 39"/>
          <p:cNvSpPr txBox="1"/>
          <p:nvPr/>
        </p:nvSpPr>
        <p:spPr bwMode="auto">
          <a:xfrm>
            <a:off x="548640" y="6263640"/>
            <a:ext cx="10058400" cy="411480"/>
          </a:xfrm>
          <a:prstGeom prst="rect">
            <a:avLst/>
          </a:prstGeom>
          <a:noFill/>
        </p:spPr>
        <p:txBody>
          <a:bodyPr wrap="square" lIns="36576" tIns="18288" rIns="36576" bIns="18288" anchor="t">
            <a:spAutoFit/>
          </a:bodyPr>
          <a:lstStyle/>
          <a:p>
            <a:pPr algn="l">
              <a:lnSpc>
                <a:spcPct val="100000"/>
              </a:lnSpc>
              <a:spcAft>
                <a:spcPts val="0"/>
              </a:spcAft>
              <a:defRPr/>
            </a:pPr>
            <a:r>
              <a:rPr sz="1800" b="1">
                <a:solidFill>
                  <a:srgbClr val="2563EB"/>
                </a:solidFill>
                <a:latin typeface="Segoe UI"/>
              </a:rPr>
              <a:t>Thank you  ·  Questions?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9</Slides>
  <Notes>9</Notes>
  <HiddenSlides>0</HiddenSlides>
  <MMClips>2</MMClips>
  <ScaleCrop>0</ScaleCrop>
  <HeadingPairs>
    <vt:vector size="4" baseType="variant">
      <vt:variant>
        <vt:lpstr>Theme</vt:lpstr>
      </vt:variant>
      <vt:variant>
        <vt:i4>1</vt:i4>
      </vt:variant>
      <vt:variant>
        <vt:lpstr>Slide Titles</vt:lpstr>
      </vt:variant>
      <vt:variant>
        <vt:i4>9</vt:i4>
      </vt:variant>
    </vt:vector>
  </HeadingPairs>
  <TitlesOfParts>
    <vt:vector size="10" baseType="lpstr">
      <vt:lpstr>Theme 1</vt:lpstr>
      <vt:lpstr>Slide 1</vt:lpstr>
      <vt:lpstr>Slide 2</vt:lpstr>
      <vt:lpstr>Slide 3</vt:lpstr>
      <vt:lpstr>Slide 4</vt:lpstr>
      <vt:lpstr>Slide 5</vt:lpstr>
      <vt:lpstr>Slide 6</vt:lpstr>
      <vt:lpstr>Slide 7</vt:lpstr>
      <vt:lpstr>Slide 8</vt:lpstr>
      <vt:lpstr>Slide 9</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2026-09-16T08:38:38Z</dcterms:modified>
  <cp:category/>
</cp:coreProperties>
</file>