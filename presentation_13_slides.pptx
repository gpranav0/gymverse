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No indexes</c:v>
                </c:pt>
              </c:strCache>
            </c:strRef>
          </c:tx>
          <c:spPr>
            <a:solidFill>
              <a:srgbClr val="D1D5DB"/>
            </a:solidFill>
            <a:ln>
              <a:noFill/>
            </a:ln>
          </c:spPr>
          <c:cat>
            <c:strRef>
              <c:f>Sheet1!$A$2:$A$5</c:f>
              <c:strCache>
                <c:ptCount val="4"/>
                <c:pt idx="0">
                  <c:v>Payment history</c:v>
                </c:pt>
                <c:pt idx="1">
                  <c:v>Subscriptions list</c:v>
                </c:pt>
                <c:pt idx="2">
                  <c:v>Attendance log</c:v>
                </c:pt>
                <c:pt idx="3">
                  <c:v>Member search</c:v>
                </c:pt>
              </c:strCache>
            </c:strRef>
          </c:cat>
          <c:val>
            <c:numRef>
              <c:f>Sheet1!$B$2:$B$5</c:f>
              <c:numCache>
                <c:formatCode>General</c:formatCode>
                <c:ptCount val="4"/>
                <c:pt idx="0">
                  <c:v>99.052</c:v>
                </c:pt>
                <c:pt idx="1">
                  <c:v>170.561</c:v>
                </c:pt>
                <c:pt idx="2">
                  <c:v>277.291</c:v>
                </c:pt>
                <c:pt idx="3">
                  <c:v>214.884</c:v>
                </c:pt>
              </c:numCache>
            </c:numRef>
          </c:val>
        </c:ser>
        <c:ser>
          <c:idx val="1"/>
          <c:order val="1"/>
          <c:tx>
            <c:strRef>
              <c:f>Sheet1!$C$1</c:f>
              <c:strCache>
                <c:ptCount val="1"/>
                <c:pt idx="0">
                  <c:v>Before migration 16</c:v>
                </c:pt>
              </c:strCache>
            </c:strRef>
          </c:tx>
          <c:spPr>
            <a:solidFill>
              <a:srgbClr val="9CA3AF"/>
            </a:solidFill>
            <a:ln>
              <a:noFill/>
            </a:ln>
          </c:spPr>
          <c:cat>
            <c:strRef>
              <c:f>Sheet1!$A$2:$A$5</c:f>
              <c:strCache>
                <c:ptCount val="4"/>
                <c:pt idx="0">
                  <c:v>Payment history</c:v>
                </c:pt>
                <c:pt idx="1">
                  <c:v>Subscriptions list</c:v>
                </c:pt>
                <c:pt idx="2">
                  <c:v>Attendance log</c:v>
                </c:pt>
                <c:pt idx="3">
                  <c:v>Member search</c:v>
                </c:pt>
              </c:strCache>
            </c:strRef>
          </c:cat>
          <c:val>
            <c:numRef>
              <c:f>Sheet1!$C$2:$C$5</c:f>
              <c:numCache>
                <c:formatCode>General</c:formatCode>
                <c:ptCount val="4"/>
                <c:pt idx="0">
                  <c:v>1.654</c:v>
                </c:pt>
                <c:pt idx="1">
                  <c:v>147.185</c:v>
                </c:pt>
                <c:pt idx="2">
                  <c:v>374.443</c:v>
                </c:pt>
                <c:pt idx="3">
                  <c:v>225.905</c:v>
                </c:pt>
              </c:numCache>
            </c:numRef>
          </c:val>
        </c:ser>
        <c:ser>
          <c:idx val="2"/>
          <c:order val="2"/>
          <c:tx>
            <c:strRef>
              <c:f>Sheet1!$D$1</c:f>
              <c:strCache>
                <c:ptCount val="1"/>
                <c:pt idx="0">
                  <c:v>GymVerse (after 16)</c:v>
                </c:pt>
              </c:strCache>
            </c:strRef>
          </c:tx>
          <c:spPr>
            <a:solidFill>
              <a:srgbClr val="2563EB"/>
            </a:solidFill>
            <a:ln>
              <a:noFill/>
            </a:ln>
          </c:spPr>
          <c:dLbls>
            <c:numFmt formatCode="0.0&quot; ms&quot;" sourceLinked="0"/>
            <c:txPr>
              <a:bodyPr/>
              <a:lstStyle/>
              <a:p>
                <a:pPr>
                  <a:defRPr sz="1600" b="1">
                    <a:solidFill>
                      <a:srgbClr val="2563EB"/>
                    </a:solidFill>
                  </a:defRPr>
                </a:pPr>
              </a:p>
            </c:txPr>
            <c:dLblPos val="outEnd"/>
            <c:showLegendKey val="0"/>
            <c:showVal val="1"/>
            <c:showCatName val="0"/>
            <c:showSerName val="0"/>
            <c:showPercent val="0"/>
            <c:showBubbleSize val="0"/>
            <c:showLeaderLines val="1"/>
          </c:dLbls>
          <c:cat>
            <c:strRef>
              <c:f>Sheet1!$A$2:$A$5</c:f>
              <c:strCache>
                <c:ptCount val="4"/>
                <c:pt idx="0">
                  <c:v>Payment history</c:v>
                </c:pt>
                <c:pt idx="1">
                  <c:v>Subscriptions list</c:v>
                </c:pt>
                <c:pt idx="2">
                  <c:v>Attendance log</c:v>
                </c:pt>
                <c:pt idx="3">
                  <c:v>Member search</c:v>
                </c:pt>
              </c:strCache>
            </c:strRef>
          </c:cat>
          <c:val>
            <c:numRef>
              <c:f>Sheet1!$D$2:$D$5</c:f>
              <c:numCache>
                <c:formatCode>General</c:formatCode>
                <c:ptCount val="4"/>
                <c:pt idx="0">
                  <c:v>0.367</c:v>
                </c:pt>
                <c:pt idx="1">
                  <c:v>2.742</c:v>
                </c:pt>
                <c:pt idx="2">
                  <c:v>8.369</c:v>
                </c:pt>
                <c:pt idx="3">
                  <c:v>2.784</c:v>
                </c:pt>
              </c:numCache>
            </c:numRef>
          </c:val>
        </c:ser>
        <c:gapWidth val="60"/>
        <c:overlap val="-10"/>
        <c:axId val="-2068027336"/>
        <c:axId val="-2113994440"/>
      </c:barChart>
      <c:catAx>
        <c:axId val="-2068027336"/>
        <c:scaling>
          <c:orientation val="minMax"/>
        </c:scaling>
        <c:delete val="0"/>
        <c:axPos val="b"/>
        <c:majorTickMark val="out"/>
        <c:minorTickMark val="none"/>
        <c:tickLblPos val="nextTo"/>
        <c:spPr>
          <a:ln>
            <a:solidFill>
              <a:srgbClr val="D1D5DB"/>
            </a:solidFill>
          </a:ln>
        </c:spPr>
        <c:txPr>
          <a:bodyPr/>
          <a:lstStyle/>
          <a:p>
            <a:pPr>
              <a:defRPr sz="1800"/>
            </a:pPr>
          </a:p>
        </c:txPr>
        <c:crossAx val="-2113994440"/>
        <c:crosses val="min"/>
        <c:auto val="1"/>
        <c:lblAlgn val="ctr"/>
        <c:lblOffset val="100"/>
        <c:noMultiLvlLbl val="0"/>
      </c:catAx>
      <c:valAx>
        <c:axId val="-2113994440"/>
        <c:scaling>
          <c:logBase val="10"/>
          <c:max val="1000.0"/>
          <c:min val="0.1"/>
        </c:scaling>
        <c:delete val="0"/>
        <c:axPos val="l"/>
        <c:majorGridlines>
          <c:spPr>
            <a:ln>
              <a:solidFill>
                <a:srgbClr val="F3F4F6"/>
              </a:solidFill>
            </a:ln>
          </c:spPr>
        </c:majorGridlines>
        <c:title>
          <c:tx>
            <c:rich>
              <a:bodyPr/>
              <a:lstStyle/>
              <a:p>
                <a:r>
                  <a:rPr sz="1600">
                    <a:solidFill>
                      <a:srgbClr val="6B7280"/>
                    </a:solidFill>
                  </a:rPr>
                  <a:t>Median time (ms, log scale)</a:t>
                </a:r>
              </a:p>
            </c:rich>
          </c:tx>
          <c:layout/>
          <c:overlay val="0"/>
        </c:title>
        <c:majorTickMark val="out"/>
        <c:minorTickMark val="none"/>
        <c:tickLblPos val="nextTo"/>
        <c:spPr>
          <a:ln>
            <a:noFill/>
          </a:ln>
        </c:spPr>
        <c:txPr>
          <a:bodyPr/>
          <a:lstStyle/>
          <a:p>
            <a:pPr>
              <a:defRPr sz="1600">
                <a:solidFill>
                  <a:srgbClr val="6B7280"/>
                </a:solidFill>
              </a:defRPr>
            </a:pPr>
          </a:p>
        </c:txPr>
        <c:crossAx val="-2068027336"/>
        <c:crosses val="autoZero"/>
      </c:valAx>
    </c:plotArea>
    <c:legend>
      <c:legendPos val="b"/>
      <c:overlay val="0"/>
      <c:txPr>
        <a:bodyPr/>
        <a:lstStyle/>
        <a:p>
          <a:pPr>
            <a:defRPr sz="1800"/>
          </a:pPr>
        </a:p>
      </c:txPr>
    </c:legend>
    <c:dispBlanksAs val="gap"/>
  </c:chart>
  <c:txPr>
    <a:bodyPr/>
    <a:lstStyle/>
    <a:p>
      <a:pPr>
        <a:defRPr sz="1800">
          <a:solidFill>
            <a:srgbClr val="374151"/>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Checks passed</c:v>
                </c:pt>
              </c:strCache>
            </c:strRef>
          </c:tx>
          <c:spPr>
            <a:solidFill>
              <a:srgbClr val="2563EB"/>
            </a:solidFill>
            <a:ln>
              <a:noFill/>
            </a:ln>
          </c:spPr>
          <c:dLbls>
            <c:txPr>
              <a:bodyPr/>
              <a:lstStyle/>
              <a:p>
                <a:pPr>
                  <a:defRPr sz="1800" b="1">
                    <a:solidFill>
                      <a:srgbClr val="111827"/>
                    </a:solidFill>
                  </a:defRPr>
                </a:pPr>
              </a:p>
            </c:txPr>
            <c:dLblPos val="outEnd"/>
            <c:showLegendKey val="0"/>
            <c:showVal val="1"/>
            <c:showCatName val="0"/>
            <c:showSerName val="0"/>
            <c:showPercent val="0"/>
            <c:showBubbleSize val="0"/>
            <c:showLeaderLines val="1"/>
          </c:dLbls>
          <c:cat>
            <c:strRef>
              <c:f>Sheet1!$A$2:$A$7</c:f>
              <c:strCache>
                <c:ptCount val="6"/>
                <c:pt idx="0">
                  <c:v>Accounts &amp; security</c:v>
                </c:pt>
                <c:pt idx="1">
                  <c:v>Training &amp; classes</c:v>
                </c:pt>
                <c:pt idx="2">
                  <c:v>Dashboards, health &amp; UI</c:v>
                </c:pt>
                <c:pt idx="3">
                  <c:v>Members &amp; plans</c:v>
                </c:pt>
                <c:pt idx="4">
                  <c:v>Payments &amp; subscriptions</c:v>
                </c:pt>
                <c:pt idx="5">
                  <c:v>Attendance &amp; rosters</c:v>
                </c:pt>
              </c:strCache>
            </c:strRef>
          </c:cat>
          <c:val>
            <c:numRef>
              <c:f>Sheet1!$B$2:$B$7</c:f>
              <c:numCache>
                <c:formatCode>General</c:formatCode>
                <c:ptCount val="6"/>
                <c:pt idx="0">
                  <c:v>37</c:v>
                </c:pt>
                <c:pt idx="1">
                  <c:v>28</c:v>
                </c:pt>
                <c:pt idx="2">
                  <c:v>14</c:v>
                </c:pt>
                <c:pt idx="3">
                  <c:v>13</c:v>
                </c:pt>
                <c:pt idx="4">
                  <c:v>12</c:v>
                </c:pt>
                <c:pt idx="5">
                  <c:v>12</c:v>
                </c:pt>
              </c:numCache>
            </c:numRef>
          </c:val>
        </c:ser>
        <c:gapWidth val="55"/>
        <c:axId val="-2068027336"/>
        <c:axId val="-2113994440"/>
      </c:barChart>
      <c:catAx>
        <c:axId val="-2068027336"/>
        <c:scaling>
          <c:orientation val="maxMin"/>
        </c:scaling>
        <c:delete val="0"/>
        <c:axPos val="l"/>
        <c:majorTickMark val="out"/>
        <c:minorTickMark val="none"/>
        <c:tickLblPos val="nextTo"/>
        <c:spPr>
          <a:ln>
            <a:solidFill>
              <a:srgbClr val="D1D5DB"/>
            </a:solidFill>
          </a:ln>
        </c:spPr>
        <c:txPr>
          <a:bodyPr/>
          <a:lstStyle/>
          <a:p>
            <a:pPr>
              <a:defRPr sz="1800"/>
            </a:pPr>
          </a:p>
        </c:txPr>
        <c:crossAx val="-2113994440"/>
        <c:crosses val="min"/>
        <c:auto val="1"/>
        <c:lblAlgn val="ctr"/>
        <c:lblOffset val="100"/>
        <c:noMultiLvlLbl val="0"/>
      </c:catAx>
      <c:valAx>
        <c:axId val="-2113994440"/>
        <c:scaling>
          <c:max val="44.4"/>
          <c:min val="0.0"/>
        </c:scaling>
        <c:delete/>
        <c:axPos val="b"/>
        <c:majorTickMark val="out"/>
        <c:minorTickMark val="none"/>
        <c:tickLblPos val="nextTo"/>
        <c:crossAx val="-2068027336"/>
        <c:crosses val="autoZero"/>
      </c:valAx>
    </c:plotArea>
    <c:dispBlanksAs val="gap"/>
  </c:chart>
  <c:txPr>
    <a:bodyPr/>
    <a:lstStyle/>
    <a:p>
      <a:pPr>
        <a:defRPr sz="1800">
          <a:solidFill>
            <a:srgbClr val="374151"/>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GymVerse: a PostgreSQL-backed gym management system with a web app and an AI assistant. Team of four, Database Management Systems mini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gyms keep separate registers and spreadsheets. Nothing stops the same member being entered twice, an expired plan going unnoticed, or two people taking the last class seat at the same time. Spreadsheets store data but cannot enforce these rules. GymVerse moves the rules into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approaches; columns are capabilities. 'Partial' for spreadsheets: data validation, sheet-level sharing and version history exist but do not enforce gym rules or per-record access. [ADD APPROACH]: add another existing system you compared against, and fill in its 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Business rules are enforced by PostgreSQL itself: partial unique indexes (one active subscription, one open check-in), row locks for bookings and subscriptions, triggers for capacity and auditing. 2) Four roles, checked per record: a member reaches only their own data, a trainer only their roster; sessions can be revoked. 3) The AI assistant reads the live plan catalogue and falls back across models when one is out of quota.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requests go through rate limiting, session checks (JWT plus server-side revocation), role and per-record access, and input validation. Controllers run multi-row writes in transactions with audit entries. PostgreSQL enforces the rules with indexes, row locks and triggers; schema changes ship as versioned migrations. The AI service tries Gemini models in order, then Groq; chat history in MongoDB is optional. Blue = novel in GymVerse, grey = standard.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schema models generic concepts: people, plans, sessions with capacity, bookings, payments. Studios and college sports centres fit as-is; clinics map sessions to appointments; chains need a branch column (not built yet). The benchmark shows the same queries stay under 10 ms at 50,000 members and 1,000,000 check-ins. Plans, AI models, email, chat history and production mode are configuration; integrity rules, record access and the audit trail are the fixed core.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 data: 50 members, 300 visits. Benchmark: a throwaway PostgreSQL 18.6 database built from the real migrations with synthetic volumes (50,000 members, 150,000 subscriptions, 300,000 payments, 1,000,000 check-ins) on a single Windows PC. Each of the app's own list and search queries ran 15 times per index setup with EXPLAIN ANALYZE; we report the median. Functional checks: Jest unit and route tests, verify_stack.js on a fresh database, and a live end-to-end run against the real database.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Ablation: the same four queries under three index setups, median of 15 runs, log scale. Payment history: 99.1 / 1.7 / 0.37 ms. Subscriptions list: 170.6 / 147.2 / 2.74 ms. Attendance log: 277.3 / 374.4 / 8.37 ms. Member search: 214.9 / 225.9 / 2.78 ms. Before migration 16 the attendance log was slower than with no indexes; both used a full scan, so that gap is timing noise. Synthetic data on one PC: absolute times will differ on other hardware.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against the real database: 116 of 116 checks, each write confirmed with a direct database query. Unit and route tests: 235 passed, 1 skipped. verify_stack.js on a fresh database: 71 of 71. Frontend tests: 7 of 7. No 5xx responses during the run. An earlier run found a real bug (a migration depended on a function older databases lacked); migration 17 fixed it before these numbers were taken.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limits. Trainer double-booking is checked in the API but not by a database constraint, so two simultaneous requests can both pass. Check-in blocks suspended members but class enrolment does not. The benchmark uses synthetic data on one PC, and there has been no multi-user load test. Progress, diet, equipment and feedback tables exist in SQL without screens. The AI assistant relies on free-tier model quotas.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the GitHub repository currently holds only the first commit, so the link and QR code are placeholders until the code is pushed. Documentation: PROJECT_GUIDE.md explains every part of the system; Swagger API docs are served at /api-docs; the SQL files are in database/. Reproduce: in gymverse-backend run npm install, npm run migrate &amp;&amp; npm run seed, npm run dev; then npm install &amp;&amp; npm run dev in gymverse-frontend. node verify_stack.js checks everything on a throwaway database. Add the licence, any paper or demo link, and talks or publications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correctness is enforced by the database; privacy is enforced on every record; and measured indexes kept key queries fast at scale (up to 81× faster). Future work: a database constraint against trainer double-booking, multi-branch support, and load testing.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Point to the repository QR code for the code and documentation.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868680"/>
            <a:ext cx="6583680" cy="45720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2563EB"/>
                </a:solidFill>
                <a:latin typeface="Segoe UI"/>
              </a:rPr>
              <a:t>DATABASE MANAGEMENT SYSTEMS · MINI PROJECT</a:t>
            </a:r>
          </a:p>
        </p:txBody>
      </p:sp>
      <p:sp>
        <p:nvSpPr>
          <p:cNvPr id="3" name="TextBox 2"/>
          <p:cNvSpPr txBox="1"/>
          <p:nvPr/>
        </p:nvSpPr>
        <p:spPr>
          <a:xfrm>
            <a:off x="731520" y="1325880"/>
            <a:ext cx="6583680" cy="1188720"/>
          </a:xfrm>
          <a:prstGeom prst="rect">
            <a:avLst/>
          </a:prstGeom>
          <a:noFill/>
        </p:spPr>
        <p:txBody>
          <a:bodyPr wrap="square" lIns="36576" rIns="36576" tIns="18288" bIns="18288" anchor="t">
            <a:spAutoFit/>
          </a:bodyPr>
          <a:lstStyle/>
          <a:p>
            <a:pPr algn="l">
              <a:lnSpc>
                <a:spcPct val="100000"/>
              </a:lnSpc>
              <a:spcAft>
                <a:spcPts val="0"/>
              </a:spcAft>
            </a:pPr>
            <a:r>
              <a:rPr sz="6600" b="1" i="0">
                <a:solidFill>
                  <a:srgbClr val="111827"/>
                </a:solidFill>
                <a:latin typeface="Segoe UI"/>
              </a:rPr>
              <a:t>GymVerse</a:t>
            </a:r>
          </a:p>
        </p:txBody>
      </p:sp>
      <p:sp>
        <p:nvSpPr>
          <p:cNvPr id="4" name="TextBox 3"/>
          <p:cNvSpPr txBox="1"/>
          <p:nvPr/>
        </p:nvSpPr>
        <p:spPr>
          <a:xfrm>
            <a:off x="731520" y="2560320"/>
            <a:ext cx="6400800" cy="1005840"/>
          </a:xfrm>
          <a:prstGeom prst="rect">
            <a:avLst/>
          </a:prstGeom>
          <a:noFill/>
        </p:spPr>
        <p:txBody>
          <a:bodyPr wrap="square" lIns="36576" rIns="36576" tIns="18288" bIns="18288" anchor="t">
            <a:spAutoFit/>
          </a:bodyPr>
          <a:lstStyle/>
          <a:p>
            <a:pPr algn="l">
              <a:lnSpc>
                <a:spcPct val="100000"/>
              </a:lnSpc>
              <a:spcAft>
                <a:spcPts val="0"/>
              </a:spcAft>
            </a:pPr>
            <a:r>
              <a:rPr sz="2800" b="0" i="0">
                <a:solidFill>
                  <a:srgbClr val="111827"/>
                </a:solidFill>
                <a:latin typeface="Segoe UI"/>
              </a:rPr>
              <a:t>The Digital Transformation of Fitness Management</a:t>
            </a:r>
          </a:p>
        </p:txBody>
      </p:sp>
      <p:sp>
        <p:nvSpPr>
          <p:cNvPr id="5" name="TextBox 4"/>
          <p:cNvSpPr txBox="1"/>
          <p:nvPr/>
        </p:nvSpPr>
        <p:spPr>
          <a:xfrm>
            <a:off x="731520" y="3749039"/>
            <a:ext cx="6035040" cy="91440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6B7280"/>
                </a:solidFill>
                <a:latin typeface="Segoe UI"/>
              </a:rPr>
              <a:t>One connected, self-protecting database for gym operations</a:t>
            </a:r>
          </a:p>
        </p:txBody>
      </p:sp>
      <p:sp>
        <p:nvSpPr>
          <p:cNvPr id="6" name="Rounded Rectangle 5"/>
          <p:cNvSpPr/>
          <p:nvPr/>
        </p:nvSpPr>
        <p:spPr>
          <a:xfrm>
            <a:off x="7635240" y="868680"/>
            <a:ext cx="4023360" cy="452628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55279" y="1097280"/>
            <a:ext cx="347472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Team</a:t>
            </a:r>
          </a:p>
        </p:txBody>
      </p:sp>
      <p:sp>
        <p:nvSpPr>
          <p:cNvPr id="8" name="TextBox 7"/>
          <p:cNvSpPr txBox="1"/>
          <p:nvPr/>
        </p:nvSpPr>
        <p:spPr>
          <a:xfrm>
            <a:off x="7955279" y="169164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111827"/>
                </a:solidFill>
                <a:latin typeface="Segoe UI"/>
              </a:rPr>
              <a:t>NYASHADAM SRIKAR</a:t>
            </a:r>
          </a:p>
        </p:txBody>
      </p:sp>
      <p:sp>
        <p:nvSpPr>
          <p:cNvPr id="9" name="TextBox 8"/>
          <p:cNvSpPr txBox="1"/>
          <p:nvPr/>
        </p:nvSpPr>
        <p:spPr>
          <a:xfrm>
            <a:off x="7955279" y="205740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2510030006</a:t>
            </a:r>
          </a:p>
        </p:txBody>
      </p:sp>
      <p:sp>
        <p:nvSpPr>
          <p:cNvPr id="10" name="TextBox 9"/>
          <p:cNvSpPr txBox="1"/>
          <p:nvPr/>
        </p:nvSpPr>
        <p:spPr>
          <a:xfrm>
            <a:off x="7955279" y="260604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111827"/>
                </a:solidFill>
                <a:latin typeface="Segoe UI"/>
              </a:rPr>
              <a:t>MALLALA SRI CHARAN</a:t>
            </a:r>
          </a:p>
        </p:txBody>
      </p:sp>
      <p:sp>
        <p:nvSpPr>
          <p:cNvPr id="11" name="TextBox 10"/>
          <p:cNvSpPr txBox="1"/>
          <p:nvPr/>
        </p:nvSpPr>
        <p:spPr>
          <a:xfrm>
            <a:off x="7955279" y="297180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2510030246</a:t>
            </a:r>
          </a:p>
        </p:txBody>
      </p:sp>
      <p:sp>
        <p:nvSpPr>
          <p:cNvPr id="12" name="TextBox 11"/>
          <p:cNvSpPr txBox="1"/>
          <p:nvPr/>
        </p:nvSpPr>
        <p:spPr>
          <a:xfrm>
            <a:off x="7955279" y="352044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111827"/>
                </a:solidFill>
                <a:latin typeface="Segoe UI"/>
              </a:rPr>
              <a:t>YOGENDRA UNGARALA</a:t>
            </a:r>
          </a:p>
        </p:txBody>
      </p:sp>
      <p:sp>
        <p:nvSpPr>
          <p:cNvPr id="13" name="TextBox 12"/>
          <p:cNvSpPr txBox="1"/>
          <p:nvPr/>
        </p:nvSpPr>
        <p:spPr>
          <a:xfrm>
            <a:off x="7955279" y="388620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2510030147</a:t>
            </a:r>
          </a:p>
        </p:txBody>
      </p:sp>
      <p:sp>
        <p:nvSpPr>
          <p:cNvPr id="14" name="TextBox 13"/>
          <p:cNvSpPr txBox="1"/>
          <p:nvPr/>
        </p:nvSpPr>
        <p:spPr>
          <a:xfrm>
            <a:off x="7955279" y="443484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111827"/>
                </a:solidFill>
                <a:latin typeface="Segoe UI"/>
              </a:rPr>
              <a:t>GORANTAL PRANAV</a:t>
            </a:r>
          </a:p>
        </p:txBody>
      </p:sp>
      <p:sp>
        <p:nvSpPr>
          <p:cNvPr id="15" name="TextBox 14"/>
          <p:cNvSpPr txBox="1"/>
          <p:nvPr/>
        </p:nvSpPr>
        <p:spPr>
          <a:xfrm>
            <a:off x="7955279" y="4800600"/>
            <a:ext cx="356616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2510030008</a:t>
            </a:r>
          </a:p>
        </p:txBody>
      </p:sp>
      <p:sp>
        <p:nvSpPr>
          <p:cNvPr id="16" name="Rectangle 15"/>
          <p:cNvSpPr/>
          <p:nvPr/>
        </p:nvSpPr>
        <p:spPr>
          <a:xfrm>
            <a:off x="731520" y="5669280"/>
            <a:ext cx="10927080" cy="2743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06440"/>
            <a:ext cx="10881360" cy="4572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Department of CSE  ·  KLH  ·  Faculty Guide: P LALITHA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Scattered records cause duplicates and double bookings</a:t>
            </a:r>
          </a:p>
        </p:txBody>
      </p:sp>
      <p:sp>
        <p:nvSpPr>
          <p:cNvPr id="4" name="TextBox 3"/>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2</a:t>
            </a:r>
          </a:p>
        </p:txBody>
      </p:sp>
      <p:sp>
        <p:nvSpPr>
          <p:cNvPr id="5" name="TextBox 4"/>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6" name="Rounded Rectangle 5"/>
          <p:cNvSpPr/>
          <p:nvPr/>
        </p:nvSpPr>
        <p:spPr>
          <a:xfrm>
            <a:off x="548640" y="1783080"/>
            <a:ext cx="5120640" cy="411480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011680"/>
            <a:ext cx="45720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374151"/>
                </a:solidFill>
                <a:latin typeface="Segoe UI"/>
              </a:rPr>
              <a:t>Registers &amp; spreadsheets</a:t>
            </a:r>
          </a:p>
        </p:txBody>
      </p:sp>
      <p:sp>
        <p:nvSpPr>
          <p:cNvPr id="8" name="Rounded Rectangle 7"/>
          <p:cNvSpPr/>
          <p:nvPr/>
        </p:nvSpPr>
        <p:spPr>
          <a:xfrm>
            <a:off x="6537960" y="1783080"/>
            <a:ext cx="5120640" cy="4114800"/>
          </a:xfrm>
          <a:prstGeom prst="roundRect">
            <a:avLst>
              <a:gd name="adj" fmla="val 5000"/>
            </a:avLst>
          </a:prstGeom>
          <a:solidFill>
            <a:srgbClr val="DBEAFE"/>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0" y="2011680"/>
            <a:ext cx="45720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a:rPr>
              <a:t>GymVerse database</a:t>
            </a:r>
          </a:p>
        </p:txBody>
      </p:sp>
      <p:sp>
        <p:nvSpPr>
          <p:cNvPr id="10" name="TextBox 9"/>
          <p:cNvSpPr txBox="1"/>
          <p:nvPr/>
        </p:nvSpPr>
        <p:spPr>
          <a:xfrm>
            <a:off x="868680" y="2834640"/>
            <a:ext cx="4572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9CA3AF"/>
                </a:solidFill>
                <a:latin typeface="Segoe UI Symbol"/>
              </a:rPr>
              <a:t>✕</a:t>
            </a:r>
          </a:p>
        </p:txBody>
      </p:sp>
      <p:sp>
        <p:nvSpPr>
          <p:cNvPr id="11" name="TextBox 10"/>
          <p:cNvSpPr txBox="1"/>
          <p:nvPr/>
        </p:nvSpPr>
        <p:spPr>
          <a:xfrm>
            <a:off x="1371600" y="2852928"/>
            <a:ext cx="4114800" cy="7315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374151"/>
                </a:solidFill>
                <a:latin typeface="Segoe UI"/>
              </a:rPr>
              <a:t>Same member stored twice</a:t>
            </a:r>
          </a:p>
        </p:txBody>
      </p:sp>
      <p:sp>
        <p:nvSpPr>
          <p:cNvPr id="12" name="TextBox 11"/>
          <p:cNvSpPr txBox="1"/>
          <p:nvPr/>
        </p:nvSpPr>
        <p:spPr>
          <a:xfrm>
            <a:off x="6858000" y="2834640"/>
            <a:ext cx="4572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Symbol"/>
              </a:rPr>
              <a:t>✓</a:t>
            </a:r>
          </a:p>
        </p:txBody>
      </p:sp>
      <p:sp>
        <p:nvSpPr>
          <p:cNvPr id="13" name="TextBox 12"/>
          <p:cNvSpPr txBox="1"/>
          <p:nvPr/>
        </p:nvSpPr>
        <p:spPr>
          <a:xfrm>
            <a:off x="7360920" y="2852928"/>
            <a:ext cx="4114800" cy="7315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One record per member</a:t>
            </a:r>
          </a:p>
        </p:txBody>
      </p:sp>
      <p:sp>
        <p:nvSpPr>
          <p:cNvPr id="14" name="TextBox 13"/>
          <p:cNvSpPr txBox="1"/>
          <p:nvPr/>
        </p:nvSpPr>
        <p:spPr>
          <a:xfrm>
            <a:off x="868680" y="3749039"/>
            <a:ext cx="4572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9CA3AF"/>
                </a:solidFill>
                <a:latin typeface="Segoe UI Symbol"/>
              </a:rPr>
              <a:t>✕</a:t>
            </a:r>
          </a:p>
        </p:txBody>
      </p:sp>
      <p:sp>
        <p:nvSpPr>
          <p:cNvPr id="15" name="TextBox 14"/>
          <p:cNvSpPr txBox="1"/>
          <p:nvPr/>
        </p:nvSpPr>
        <p:spPr>
          <a:xfrm>
            <a:off x="1371600" y="3767327"/>
            <a:ext cx="4114800" cy="7315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374151"/>
                </a:solidFill>
                <a:latin typeface="Segoe UI"/>
              </a:rPr>
              <a:t>Expired plans go unnoticed</a:t>
            </a:r>
          </a:p>
        </p:txBody>
      </p:sp>
      <p:sp>
        <p:nvSpPr>
          <p:cNvPr id="16" name="TextBox 15"/>
          <p:cNvSpPr txBox="1"/>
          <p:nvPr/>
        </p:nvSpPr>
        <p:spPr>
          <a:xfrm>
            <a:off x="6858000" y="3749039"/>
            <a:ext cx="4572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Symbol"/>
              </a:rPr>
              <a:t>✓</a:t>
            </a:r>
          </a:p>
        </p:txBody>
      </p:sp>
      <p:sp>
        <p:nvSpPr>
          <p:cNvPr id="17" name="TextBox 16"/>
          <p:cNvSpPr txBox="1"/>
          <p:nvPr/>
        </p:nvSpPr>
        <p:spPr>
          <a:xfrm>
            <a:off x="7360920" y="3767327"/>
            <a:ext cx="4114800" cy="7315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Expiry tracked automatically</a:t>
            </a:r>
          </a:p>
        </p:txBody>
      </p:sp>
      <p:sp>
        <p:nvSpPr>
          <p:cNvPr id="18" name="TextBox 17"/>
          <p:cNvSpPr txBox="1"/>
          <p:nvPr/>
        </p:nvSpPr>
        <p:spPr>
          <a:xfrm>
            <a:off x="868680" y="4663440"/>
            <a:ext cx="4572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9CA3AF"/>
                </a:solidFill>
                <a:latin typeface="Segoe UI Symbol"/>
              </a:rPr>
              <a:t>✕</a:t>
            </a:r>
          </a:p>
        </p:txBody>
      </p:sp>
      <p:sp>
        <p:nvSpPr>
          <p:cNvPr id="19" name="TextBox 18"/>
          <p:cNvSpPr txBox="1"/>
          <p:nvPr/>
        </p:nvSpPr>
        <p:spPr>
          <a:xfrm>
            <a:off x="1371600" y="4681727"/>
            <a:ext cx="4114800" cy="7315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374151"/>
                </a:solidFill>
                <a:latin typeface="Segoe UI"/>
              </a:rPr>
              <a:t>Two people get the last class seat</a:t>
            </a:r>
          </a:p>
        </p:txBody>
      </p:sp>
      <p:sp>
        <p:nvSpPr>
          <p:cNvPr id="20" name="TextBox 19"/>
          <p:cNvSpPr txBox="1"/>
          <p:nvPr/>
        </p:nvSpPr>
        <p:spPr>
          <a:xfrm>
            <a:off x="6858000" y="4663440"/>
            <a:ext cx="457200" cy="54864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Symbol"/>
              </a:rPr>
              <a:t>✓</a:t>
            </a:r>
          </a:p>
        </p:txBody>
      </p:sp>
      <p:sp>
        <p:nvSpPr>
          <p:cNvPr id="21" name="TextBox 20"/>
          <p:cNvSpPr txBox="1"/>
          <p:nvPr/>
        </p:nvSpPr>
        <p:spPr>
          <a:xfrm>
            <a:off x="7360920" y="4681727"/>
            <a:ext cx="4114800" cy="7315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Capacity enforced on every booking</a:t>
            </a:r>
          </a:p>
        </p:txBody>
      </p:sp>
      <p:cxnSp>
        <p:nvCxnSpPr>
          <p:cNvPr id="22" name="Connector 21"/>
          <p:cNvCxnSpPr/>
          <p:nvPr/>
        </p:nvCxnSpPr>
        <p:spPr>
          <a:xfrm>
            <a:off x="5760720" y="3840480"/>
            <a:ext cx="685800" cy="0"/>
          </a:xfrm>
          <a:prstGeom prst="line">
            <a:avLst/>
          </a:prstGeom>
          <a:ln w="381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Only GymVerse enforces gym rules inside the database</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Novelty</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3</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graphicFrame>
        <p:nvGraphicFramePr>
          <p:cNvPr id="7" name="Table 6"/>
          <p:cNvGraphicFramePr>
            <a:graphicFrameLocks noGrp="1"/>
          </p:cNvGraphicFramePr>
          <p:nvPr/>
        </p:nvGraphicFramePr>
        <p:xfrm>
          <a:off x="548640" y="1737360"/>
          <a:ext cx="11064234" cy="4206240"/>
        </p:xfrm>
        <a:graphic>
          <a:graphicData uri="http://schemas.openxmlformats.org/drawingml/2006/table">
            <a:tbl>
              <a:tblPr>
                <a:tableStyleId>{5C22544A-7EE6-4342-B048-85BDC9FD1C3A}</a:tableStyleId>
              </a:tblPr>
              <a:tblGrid>
                <a:gridCol w="2697480"/>
                <a:gridCol w="1394459"/>
                <a:gridCol w="1394459"/>
                <a:gridCol w="1394459"/>
                <a:gridCol w="1394459"/>
                <a:gridCol w="1394459"/>
                <a:gridCol w="1394459"/>
              </a:tblGrid>
              <a:tr h="1280160">
                <a:tc>
                  <a:txBody>
                    <a:bodyPr wrap="square"/>
                    <a:lstStyle/>
                    <a:p>
                      <a:pPr algn="l"/>
                      <a:r>
                        <a:rPr sz="1800" b="1">
                          <a:solidFill>
                            <a:srgbClr val="111827"/>
                          </a:solidFill>
                          <a:latin typeface="Segoe UI"/>
                        </a:rPr>
                        <a:t>Approach</a:t>
                      </a:r>
                    </a:p>
                  </a:txBody>
                  <a:tcPr anchor="ctr" marL="73152" marR="73152">
                    <a:solidFill>
                      <a:srgbClr val="F3F4F6"/>
                    </a:solidFill>
                  </a:tcPr>
                </a:tc>
                <a:tc>
                  <a:txBody>
                    <a:bodyPr wrap="square"/>
                    <a:lstStyle/>
                    <a:p>
                      <a:pPr algn="ctr"/>
                      <a:r>
                        <a:rPr sz="1800" b="1">
                          <a:solidFill>
                            <a:srgbClr val="111827"/>
                          </a:solidFill>
                          <a:latin typeface="Segoe UI"/>
                        </a:rPr>
                        <a:t>One source of truth</a:t>
                      </a:r>
                    </a:p>
                  </a:txBody>
                  <a:tcPr anchor="ctr" marL="73152" marR="73152">
                    <a:solidFill>
                      <a:srgbClr val="F3F4F6"/>
                    </a:solidFill>
                  </a:tcPr>
                </a:tc>
                <a:tc>
                  <a:txBody>
                    <a:bodyPr wrap="square"/>
                    <a:lstStyle/>
                    <a:p>
                      <a:pPr algn="ctr"/>
                      <a:r>
                        <a:rPr sz="1800" b="1">
                          <a:solidFill>
                            <a:srgbClr val="111827"/>
                          </a:solidFill>
                          <a:latin typeface="Segoe UI"/>
                        </a:rPr>
                        <a:t>Rules enforced in database</a:t>
                      </a:r>
                    </a:p>
                  </a:txBody>
                  <a:tcPr anchor="ctr" marL="73152" marR="73152">
                    <a:solidFill>
                      <a:srgbClr val="F3F4F6"/>
                    </a:solidFill>
                  </a:tcPr>
                </a:tc>
                <a:tc>
                  <a:txBody>
                    <a:bodyPr wrap="square"/>
                    <a:lstStyle/>
                    <a:p>
                      <a:pPr algn="ctr"/>
                      <a:r>
                        <a:rPr sz="1800" b="1">
                          <a:solidFill>
                            <a:srgbClr val="111827"/>
                          </a:solidFill>
                          <a:latin typeface="Segoe UI"/>
                        </a:rPr>
                        <a:t>Safe with concurrent users</a:t>
                      </a:r>
                    </a:p>
                  </a:txBody>
                  <a:tcPr anchor="ctr" marL="73152" marR="73152">
                    <a:solidFill>
                      <a:srgbClr val="F3F4F6"/>
                    </a:solidFill>
                  </a:tcPr>
                </a:tc>
                <a:tc>
                  <a:txBody>
                    <a:bodyPr wrap="square"/>
                    <a:lstStyle/>
                    <a:p>
                      <a:pPr algn="ctr"/>
                      <a:r>
                        <a:rPr sz="1800" b="1">
                          <a:solidFill>
                            <a:srgbClr val="111827"/>
                          </a:solidFill>
                          <a:latin typeface="Segoe UI"/>
                        </a:rPr>
                        <a:t>Per-record access</a:t>
                      </a:r>
                    </a:p>
                  </a:txBody>
                  <a:tcPr anchor="ctr" marL="73152" marR="73152">
                    <a:solidFill>
                      <a:srgbClr val="F3F4F6"/>
                    </a:solidFill>
                  </a:tcPr>
                </a:tc>
                <a:tc>
                  <a:txBody>
                    <a:bodyPr wrap="square"/>
                    <a:lstStyle/>
                    <a:p>
                      <a:pPr algn="ctr"/>
                      <a:r>
                        <a:rPr sz="1800" b="1">
                          <a:solidFill>
                            <a:srgbClr val="111827"/>
                          </a:solidFill>
                          <a:latin typeface="Segoe UI"/>
                        </a:rPr>
                        <a:t>Audit trail</a:t>
                      </a:r>
                    </a:p>
                  </a:txBody>
                  <a:tcPr anchor="ctr" marL="73152" marR="73152">
                    <a:solidFill>
                      <a:srgbClr val="F3F4F6"/>
                    </a:solidFill>
                  </a:tcPr>
                </a:tc>
                <a:tc>
                  <a:txBody>
                    <a:bodyPr wrap="square"/>
                    <a:lstStyle/>
                    <a:p>
                      <a:pPr algn="ctr"/>
                      <a:r>
                        <a:rPr sz="1800" b="1">
                          <a:solidFill>
                            <a:srgbClr val="111827"/>
                          </a:solidFill>
                          <a:latin typeface="Segoe UI"/>
                        </a:rPr>
                        <a:t>AI on live data</a:t>
                      </a:r>
                    </a:p>
                  </a:txBody>
                  <a:tcPr anchor="ctr" marL="73152" marR="73152">
                    <a:solidFill>
                      <a:srgbClr val="F3F4F6"/>
                    </a:solidFill>
                  </a:tcPr>
                </a:tc>
              </a:tr>
              <a:tr h="731520">
                <a:tc>
                  <a:txBody>
                    <a:bodyPr wrap="square"/>
                    <a:lstStyle/>
                    <a:p>
                      <a:pPr algn="l"/>
                      <a:r>
                        <a:rPr sz="2000" b="1">
                          <a:solidFill>
                            <a:srgbClr val="111827"/>
                          </a:solidFill>
                          <a:latin typeface="Segoe UI"/>
                        </a:rPr>
                        <a:t>Paper registers</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r>
              <a:tr h="731520">
                <a:tc>
                  <a:txBody>
                    <a:bodyPr wrap="square"/>
                    <a:lstStyle/>
                    <a:p>
                      <a:pPr algn="l"/>
                      <a:r>
                        <a:rPr sz="2000" b="1">
                          <a:solidFill>
                            <a:srgbClr val="111827"/>
                          </a:solidFill>
                          <a:latin typeface="Segoe UI"/>
                        </a:rPr>
                        <a:t>Spreadsheets</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1800" b="0">
                          <a:solidFill>
                            <a:srgbClr val="374151"/>
                          </a:solidFill>
                          <a:latin typeface="Segoe UI"/>
                        </a:rPr>
                        <a:t>Partial</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c>
                  <a:txBody>
                    <a:bodyPr wrap="square"/>
                    <a:lstStyle/>
                    <a:p>
                      <a:pPr algn="ctr"/>
                      <a:r>
                        <a:rPr sz="1800" b="0">
                          <a:solidFill>
                            <a:srgbClr val="374151"/>
                          </a:solidFill>
                          <a:latin typeface="Segoe UI"/>
                        </a:rPr>
                        <a:t>Partial</a:t>
                      </a:r>
                    </a:p>
                  </a:txBody>
                  <a:tcPr anchor="ctr" marL="73152" marR="73152">
                    <a:solidFill>
                      <a:srgbClr val="FFFFFF"/>
                    </a:solidFill>
                  </a:tcPr>
                </a:tc>
                <a:tc>
                  <a:txBody>
                    <a:bodyPr wrap="square"/>
                    <a:lstStyle/>
                    <a:p>
                      <a:pPr algn="ctr"/>
                      <a:r>
                        <a:rPr sz="1800" b="0">
                          <a:solidFill>
                            <a:srgbClr val="374151"/>
                          </a:solidFill>
                          <a:latin typeface="Segoe UI"/>
                        </a:rPr>
                        <a:t>Partial</a:t>
                      </a:r>
                    </a:p>
                  </a:txBody>
                  <a:tcPr anchor="ctr" marL="73152" marR="73152">
                    <a:solidFill>
                      <a:srgbClr val="FFFFFF"/>
                    </a:solidFill>
                  </a:tcPr>
                </a:tc>
                <a:tc>
                  <a:txBody>
                    <a:bodyPr wrap="square"/>
                    <a:lstStyle/>
                    <a:p>
                      <a:pPr algn="ctr"/>
                      <a:r>
                        <a:rPr sz="2600" b="1">
                          <a:solidFill>
                            <a:srgbClr val="9CA3AF"/>
                          </a:solidFill>
                          <a:latin typeface="Segoe UI Symbol"/>
                        </a:rPr>
                        <a:t>✕</a:t>
                      </a:r>
                    </a:p>
                  </a:txBody>
                  <a:tcPr anchor="ctr" marL="73152" marR="73152">
                    <a:solidFill>
                      <a:srgbClr val="FFFFFF"/>
                    </a:solidFill>
                  </a:tcPr>
                </a:tc>
              </a:tr>
              <a:tr h="731520">
                <a:tc>
                  <a:txBody>
                    <a:bodyPr wrap="square"/>
                    <a:lstStyle/>
                    <a:p>
                      <a:pPr algn="l"/>
                      <a:r>
                        <a:rPr sz="2000" b="1">
                          <a:solidFill>
                            <a:srgbClr val="111827"/>
                          </a:solidFill>
                          <a:latin typeface="Segoe UI"/>
                        </a:rPr>
                        <a:t>[ADD APPROACH]</a:t>
                      </a:r>
                    </a:p>
                  </a:txBody>
                  <a:tcPr anchor="ctr" marL="73152" marR="73152">
                    <a:solidFill>
                      <a:srgbClr val="FFFFFF"/>
                    </a:solidFill>
                  </a:tcPr>
                </a:tc>
                <a:tc>
                  <a:txBody>
                    <a:bodyPr wrap="square"/>
                    <a:lstStyle/>
                    <a:p>
                      <a:pPr algn="ctr"/>
                      <a:r>
                        <a:rPr sz="1800" b="0">
                          <a:solidFill>
                            <a:srgbClr val="374151"/>
                          </a:solidFill>
                          <a:latin typeface="Segoe UI"/>
                        </a:rPr>
                        <a:t>[ADD]</a:t>
                      </a:r>
                    </a:p>
                  </a:txBody>
                  <a:tcPr anchor="ctr" marL="73152" marR="73152">
                    <a:solidFill>
                      <a:srgbClr val="FFFFFF"/>
                    </a:solidFill>
                  </a:tcPr>
                </a:tc>
                <a:tc>
                  <a:txBody>
                    <a:bodyPr wrap="square"/>
                    <a:lstStyle/>
                    <a:p>
                      <a:pPr algn="ctr"/>
                      <a:r>
                        <a:rPr sz="1800" b="0">
                          <a:solidFill>
                            <a:srgbClr val="374151"/>
                          </a:solidFill>
                          <a:latin typeface="Segoe UI"/>
                        </a:rPr>
                        <a:t>[ADD]</a:t>
                      </a:r>
                    </a:p>
                  </a:txBody>
                  <a:tcPr anchor="ctr" marL="73152" marR="73152">
                    <a:solidFill>
                      <a:srgbClr val="FFFFFF"/>
                    </a:solidFill>
                  </a:tcPr>
                </a:tc>
                <a:tc>
                  <a:txBody>
                    <a:bodyPr wrap="square"/>
                    <a:lstStyle/>
                    <a:p>
                      <a:pPr algn="ctr"/>
                      <a:r>
                        <a:rPr sz="1800" b="0">
                          <a:solidFill>
                            <a:srgbClr val="374151"/>
                          </a:solidFill>
                          <a:latin typeface="Segoe UI"/>
                        </a:rPr>
                        <a:t>[ADD]</a:t>
                      </a:r>
                    </a:p>
                  </a:txBody>
                  <a:tcPr anchor="ctr" marL="73152" marR="73152">
                    <a:solidFill>
                      <a:srgbClr val="FFFFFF"/>
                    </a:solidFill>
                  </a:tcPr>
                </a:tc>
                <a:tc>
                  <a:txBody>
                    <a:bodyPr wrap="square"/>
                    <a:lstStyle/>
                    <a:p>
                      <a:pPr algn="ctr"/>
                      <a:r>
                        <a:rPr sz="1800" b="0">
                          <a:solidFill>
                            <a:srgbClr val="374151"/>
                          </a:solidFill>
                          <a:latin typeface="Segoe UI"/>
                        </a:rPr>
                        <a:t>[ADD]</a:t>
                      </a:r>
                    </a:p>
                  </a:txBody>
                  <a:tcPr anchor="ctr" marL="73152" marR="73152">
                    <a:solidFill>
                      <a:srgbClr val="FFFFFF"/>
                    </a:solidFill>
                  </a:tcPr>
                </a:tc>
                <a:tc>
                  <a:txBody>
                    <a:bodyPr wrap="square"/>
                    <a:lstStyle/>
                    <a:p>
                      <a:pPr algn="ctr"/>
                      <a:r>
                        <a:rPr sz="1800" b="0">
                          <a:solidFill>
                            <a:srgbClr val="374151"/>
                          </a:solidFill>
                          <a:latin typeface="Segoe UI"/>
                        </a:rPr>
                        <a:t>[ADD]</a:t>
                      </a:r>
                    </a:p>
                  </a:txBody>
                  <a:tcPr anchor="ctr" marL="73152" marR="73152">
                    <a:solidFill>
                      <a:srgbClr val="FFFFFF"/>
                    </a:solidFill>
                  </a:tcPr>
                </a:tc>
                <a:tc>
                  <a:txBody>
                    <a:bodyPr wrap="square"/>
                    <a:lstStyle/>
                    <a:p>
                      <a:pPr algn="ctr"/>
                      <a:r>
                        <a:rPr sz="1800" b="0">
                          <a:solidFill>
                            <a:srgbClr val="374151"/>
                          </a:solidFill>
                          <a:latin typeface="Segoe UI"/>
                        </a:rPr>
                        <a:t>[ADD]</a:t>
                      </a:r>
                    </a:p>
                  </a:txBody>
                  <a:tcPr anchor="ctr" marL="73152" marR="73152">
                    <a:solidFill>
                      <a:srgbClr val="FFFFFF"/>
                    </a:solidFill>
                  </a:tcPr>
                </a:tc>
              </a:tr>
              <a:tr h="731520">
                <a:tc>
                  <a:txBody>
                    <a:bodyPr wrap="square"/>
                    <a:lstStyle/>
                    <a:p>
                      <a:pPr algn="l"/>
                      <a:r>
                        <a:rPr sz="2000" b="1">
                          <a:solidFill>
                            <a:srgbClr val="2563EB"/>
                          </a:solidFill>
                          <a:latin typeface="Segoe UI"/>
                        </a:rPr>
                        <a:t>GymVerse (ours)</a:t>
                      </a:r>
                    </a:p>
                  </a:txBody>
                  <a:tcPr anchor="ctr" marL="73152" marR="73152">
                    <a:solidFill>
                      <a:srgbClr val="DBEAFE"/>
                    </a:solidFill>
                  </a:tcPr>
                </a:tc>
                <a:tc>
                  <a:txBody>
                    <a:bodyPr wrap="square"/>
                    <a:lstStyle/>
                    <a:p>
                      <a:pPr algn="ctr"/>
                      <a:r>
                        <a:rPr sz="2600" b="1">
                          <a:solidFill>
                            <a:srgbClr val="2563EB"/>
                          </a:solidFill>
                          <a:latin typeface="Segoe UI Symbol"/>
                        </a:rPr>
                        <a:t>✓</a:t>
                      </a:r>
                    </a:p>
                  </a:txBody>
                  <a:tcPr anchor="ctr" marL="73152" marR="73152">
                    <a:solidFill>
                      <a:srgbClr val="DBEAFE"/>
                    </a:solidFill>
                  </a:tcPr>
                </a:tc>
                <a:tc>
                  <a:txBody>
                    <a:bodyPr wrap="square"/>
                    <a:lstStyle/>
                    <a:p>
                      <a:pPr algn="ctr"/>
                      <a:r>
                        <a:rPr sz="2600" b="1">
                          <a:solidFill>
                            <a:srgbClr val="2563EB"/>
                          </a:solidFill>
                          <a:latin typeface="Segoe UI Symbol"/>
                        </a:rPr>
                        <a:t>✓</a:t>
                      </a:r>
                    </a:p>
                  </a:txBody>
                  <a:tcPr anchor="ctr" marL="73152" marR="73152">
                    <a:solidFill>
                      <a:srgbClr val="DBEAFE"/>
                    </a:solidFill>
                  </a:tcPr>
                </a:tc>
                <a:tc>
                  <a:txBody>
                    <a:bodyPr wrap="square"/>
                    <a:lstStyle/>
                    <a:p>
                      <a:pPr algn="ctr"/>
                      <a:r>
                        <a:rPr sz="2600" b="1">
                          <a:solidFill>
                            <a:srgbClr val="2563EB"/>
                          </a:solidFill>
                          <a:latin typeface="Segoe UI Symbol"/>
                        </a:rPr>
                        <a:t>✓</a:t>
                      </a:r>
                    </a:p>
                  </a:txBody>
                  <a:tcPr anchor="ctr" marL="73152" marR="73152">
                    <a:solidFill>
                      <a:srgbClr val="DBEAFE"/>
                    </a:solidFill>
                  </a:tcPr>
                </a:tc>
                <a:tc>
                  <a:txBody>
                    <a:bodyPr wrap="square"/>
                    <a:lstStyle/>
                    <a:p>
                      <a:pPr algn="ctr"/>
                      <a:r>
                        <a:rPr sz="2600" b="1">
                          <a:solidFill>
                            <a:srgbClr val="2563EB"/>
                          </a:solidFill>
                          <a:latin typeface="Segoe UI Symbol"/>
                        </a:rPr>
                        <a:t>✓</a:t>
                      </a:r>
                    </a:p>
                  </a:txBody>
                  <a:tcPr anchor="ctr" marL="73152" marR="73152">
                    <a:solidFill>
                      <a:srgbClr val="DBEAFE"/>
                    </a:solidFill>
                  </a:tcPr>
                </a:tc>
                <a:tc>
                  <a:txBody>
                    <a:bodyPr wrap="square"/>
                    <a:lstStyle/>
                    <a:p>
                      <a:pPr algn="ctr"/>
                      <a:r>
                        <a:rPr sz="2600" b="1">
                          <a:solidFill>
                            <a:srgbClr val="2563EB"/>
                          </a:solidFill>
                          <a:latin typeface="Segoe UI Symbol"/>
                        </a:rPr>
                        <a:t>✓</a:t>
                      </a:r>
                    </a:p>
                  </a:txBody>
                  <a:tcPr anchor="ctr" marL="73152" marR="73152">
                    <a:solidFill>
                      <a:srgbClr val="DBEAFE"/>
                    </a:solidFill>
                  </a:tcPr>
                </a:tc>
                <a:tc>
                  <a:txBody>
                    <a:bodyPr wrap="square"/>
                    <a:lstStyle/>
                    <a:p>
                      <a:pPr algn="ctr"/>
                      <a:r>
                        <a:rPr sz="2600" b="1">
                          <a:solidFill>
                            <a:srgbClr val="2563EB"/>
                          </a:solidFill>
                          <a:latin typeface="Segoe UI Symbol"/>
                        </a:rPr>
                        <a:t>✓</a:t>
                      </a:r>
                    </a:p>
                  </a:txBody>
                  <a:tcPr anchor="ctr" marL="73152" marR="73152">
                    <a:solidFill>
                      <a:srgbClr val="DBEAFE"/>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Three contributions set GymVerse apart</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Novelty</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4</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7" name="Rounded Rectangle 6"/>
          <p:cNvSpPr/>
          <p:nvPr/>
        </p:nvSpPr>
        <p:spPr>
          <a:xfrm>
            <a:off x="548640" y="1783080"/>
            <a:ext cx="3520440" cy="416052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103120"/>
            <a:ext cx="685800" cy="685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Segoe UI"/>
              </a:rPr>
              <a:t>1</a:t>
            </a:r>
          </a:p>
        </p:txBody>
      </p:sp>
      <p:sp>
        <p:nvSpPr>
          <p:cNvPr id="9" name="TextBox 8"/>
          <p:cNvSpPr txBox="1"/>
          <p:nvPr/>
        </p:nvSpPr>
        <p:spPr>
          <a:xfrm>
            <a:off x="868680" y="3017520"/>
            <a:ext cx="2926080" cy="1005840"/>
          </a:xfrm>
          <a:prstGeom prst="rect">
            <a:avLst/>
          </a:prstGeom>
          <a:noFill/>
        </p:spPr>
        <p:txBody>
          <a:bodyPr wrap="square" lIns="36576" rIns="36576" tIns="18288" bIns="18288" anchor="t">
            <a:spAutoFit/>
          </a:bodyPr>
          <a:lstStyle/>
          <a:p>
            <a:pPr algn="l">
              <a:lnSpc>
                <a:spcPct val="95000"/>
              </a:lnSpc>
              <a:spcAft>
                <a:spcPts val="0"/>
              </a:spcAft>
            </a:pPr>
            <a:r>
              <a:rPr sz="2200" b="1" i="0">
                <a:solidFill>
                  <a:srgbClr val="111827"/>
                </a:solidFill>
                <a:latin typeface="Segoe UI"/>
              </a:rPr>
              <a:t>Rules live in the database</a:t>
            </a:r>
          </a:p>
        </p:txBody>
      </p:sp>
      <p:sp>
        <p:nvSpPr>
          <p:cNvPr id="10" name="TextBox 9"/>
          <p:cNvSpPr txBox="1"/>
          <p:nvPr/>
        </p:nvSpPr>
        <p:spPr>
          <a:xfrm>
            <a:off x="868680" y="4069080"/>
            <a:ext cx="2926080" cy="164592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Unique indexes, row locks and triggers stop duplicates and overbooking.</a:t>
            </a:r>
          </a:p>
        </p:txBody>
      </p:sp>
      <p:sp>
        <p:nvSpPr>
          <p:cNvPr id="11" name="Rounded Rectangle 10"/>
          <p:cNvSpPr/>
          <p:nvPr/>
        </p:nvSpPr>
        <p:spPr>
          <a:xfrm>
            <a:off x="4343400" y="1783080"/>
            <a:ext cx="3520440" cy="416052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63440" y="2103120"/>
            <a:ext cx="685800" cy="685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Segoe UI"/>
              </a:rPr>
              <a:t>2</a:t>
            </a:r>
          </a:p>
        </p:txBody>
      </p:sp>
      <p:sp>
        <p:nvSpPr>
          <p:cNvPr id="13" name="TextBox 12"/>
          <p:cNvSpPr txBox="1"/>
          <p:nvPr/>
        </p:nvSpPr>
        <p:spPr>
          <a:xfrm>
            <a:off x="4663440" y="3017520"/>
            <a:ext cx="2926080" cy="1005840"/>
          </a:xfrm>
          <a:prstGeom prst="rect">
            <a:avLst/>
          </a:prstGeom>
          <a:noFill/>
        </p:spPr>
        <p:txBody>
          <a:bodyPr wrap="square" lIns="36576" rIns="36576" tIns="18288" bIns="18288" anchor="t">
            <a:spAutoFit/>
          </a:bodyPr>
          <a:lstStyle/>
          <a:p>
            <a:pPr algn="l">
              <a:lnSpc>
                <a:spcPct val="95000"/>
              </a:lnSpc>
              <a:spcAft>
                <a:spcPts val="0"/>
              </a:spcAft>
            </a:pPr>
            <a:r>
              <a:rPr sz="2200" b="1" i="0">
                <a:solidFill>
                  <a:srgbClr val="111827"/>
                </a:solidFill>
                <a:latin typeface="Segoe UI"/>
              </a:rPr>
              <a:t>Every record checks who is asking</a:t>
            </a:r>
          </a:p>
        </p:txBody>
      </p:sp>
      <p:sp>
        <p:nvSpPr>
          <p:cNvPr id="14" name="TextBox 13"/>
          <p:cNvSpPr txBox="1"/>
          <p:nvPr/>
        </p:nvSpPr>
        <p:spPr>
          <a:xfrm>
            <a:off x="4663440" y="4069080"/>
            <a:ext cx="2926080" cy="164592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Four roles: members see only themselves, trainers only their roster.</a:t>
            </a:r>
          </a:p>
        </p:txBody>
      </p:sp>
      <p:sp>
        <p:nvSpPr>
          <p:cNvPr id="15" name="Rounded Rectangle 14"/>
          <p:cNvSpPr/>
          <p:nvPr/>
        </p:nvSpPr>
        <p:spPr>
          <a:xfrm>
            <a:off x="8138160" y="1783080"/>
            <a:ext cx="3520440" cy="416052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458200" y="2103120"/>
            <a:ext cx="685800" cy="685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Segoe UI"/>
              </a:rPr>
              <a:t>3</a:t>
            </a:r>
          </a:p>
        </p:txBody>
      </p:sp>
      <p:sp>
        <p:nvSpPr>
          <p:cNvPr id="17" name="TextBox 16"/>
          <p:cNvSpPr txBox="1"/>
          <p:nvPr/>
        </p:nvSpPr>
        <p:spPr>
          <a:xfrm>
            <a:off x="8458200" y="3017520"/>
            <a:ext cx="2926080" cy="1005840"/>
          </a:xfrm>
          <a:prstGeom prst="rect">
            <a:avLst/>
          </a:prstGeom>
          <a:noFill/>
        </p:spPr>
        <p:txBody>
          <a:bodyPr wrap="square" lIns="36576" rIns="36576" tIns="18288" bIns="18288" anchor="t">
            <a:spAutoFit/>
          </a:bodyPr>
          <a:lstStyle/>
          <a:p>
            <a:pPr algn="l">
              <a:lnSpc>
                <a:spcPct val="95000"/>
              </a:lnSpc>
              <a:spcAft>
                <a:spcPts val="0"/>
              </a:spcAft>
            </a:pPr>
            <a:r>
              <a:rPr sz="2200" b="1" i="0">
                <a:solidFill>
                  <a:srgbClr val="111827"/>
                </a:solidFill>
                <a:latin typeface="Segoe UI"/>
              </a:rPr>
              <a:t>AI grounded on live data</a:t>
            </a:r>
          </a:p>
        </p:txBody>
      </p:sp>
      <p:sp>
        <p:nvSpPr>
          <p:cNvPr id="18" name="TextBox 17"/>
          <p:cNvSpPr txBox="1"/>
          <p:nvPr/>
        </p:nvSpPr>
        <p:spPr>
          <a:xfrm>
            <a:off x="8458200" y="4069080"/>
            <a:ext cx="2926080" cy="164592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Answers from the real plan catalogue, with automatic model fallback.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Every request passes four guards before touching data</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Novelty</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5</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7" name="Rounded Rectangle 6"/>
          <p:cNvSpPr/>
          <p:nvPr/>
        </p:nvSpPr>
        <p:spPr>
          <a:xfrm>
            <a:off x="457200" y="1874519"/>
            <a:ext cx="164592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React app</a:t>
            </a:r>
          </a:p>
        </p:txBody>
      </p:sp>
      <p:cxnSp>
        <p:nvCxnSpPr>
          <p:cNvPr id="8" name="Connector 7"/>
          <p:cNvCxnSpPr/>
          <p:nvPr/>
        </p:nvCxnSpPr>
        <p:spPr>
          <a:xfrm>
            <a:off x="2121408" y="2331720"/>
            <a:ext cx="32918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80" y="1874519"/>
            <a:ext cx="146304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Rate limit</a:t>
            </a:r>
          </a:p>
        </p:txBody>
      </p:sp>
      <p:cxnSp>
        <p:nvCxnSpPr>
          <p:cNvPr id="10" name="Connector 9"/>
          <p:cNvCxnSpPr/>
          <p:nvPr/>
        </p:nvCxnSpPr>
        <p:spPr>
          <a:xfrm>
            <a:off x="395020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60520" y="1874519"/>
            <a:ext cx="1463040" cy="91440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Session check</a:t>
            </a:r>
          </a:p>
        </p:txBody>
      </p:sp>
      <p:cxnSp>
        <p:nvCxnSpPr>
          <p:cNvPr id="12" name="Connector 11"/>
          <p:cNvCxnSpPr/>
          <p:nvPr/>
        </p:nvCxnSpPr>
        <p:spPr>
          <a:xfrm>
            <a:off x="564184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852160" y="1874519"/>
            <a:ext cx="1463040" cy="91440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Role + record access</a:t>
            </a:r>
          </a:p>
        </p:txBody>
      </p:sp>
      <p:cxnSp>
        <p:nvCxnSpPr>
          <p:cNvPr id="14" name="Connector 13"/>
          <p:cNvCxnSpPr/>
          <p:nvPr/>
        </p:nvCxnSpPr>
        <p:spPr>
          <a:xfrm>
            <a:off x="733348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543800" y="1874519"/>
            <a:ext cx="146304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Input validation</a:t>
            </a:r>
          </a:p>
        </p:txBody>
      </p:sp>
      <p:sp>
        <p:nvSpPr>
          <p:cNvPr id="16" name="TextBox 15"/>
          <p:cNvSpPr txBox="1"/>
          <p:nvPr/>
        </p:nvSpPr>
        <p:spPr>
          <a:xfrm>
            <a:off x="2468880" y="2852928"/>
            <a:ext cx="329184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Express API: four guards</a:t>
            </a:r>
          </a:p>
        </p:txBody>
      </p:sp>
      <p:cxnSp>
        <p:nvCxnSpPr>
          <p:cNvPr id="17" name="Connector 16"/>
          <p:cNvCxnSpPr/>
          <p:nvPr/>
        </p:nvCxnSpPr>
        <p:spPr>
          <a:xfrm>
            <a:off x="8275320" y="2807208"/>
            <a:ext cx="0" cy="60350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52160" y="3429000"/>
            <a:ext cx="3154680" cy="77724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Controllers + transactions</a:t>
            </a:r>
          </a:p>
        </p:txBody>
      </p:sp>
      <p:sp>
        <p:nvSpPr>
          <p:cNvPr id="19" name="Rounded Rectangle 18"/>
          <p:cNvSpPr/>
          <p:nvPr/>
        </p:nvSpPr>
        <p:spPr>
          <a:xfrm>
            <a:off x="9372600" y="1600200"/>
            <a:ext cx="2377440" cy="4251960"/>
          </a:xfrm>
          <a:prstGeom prst="roundRect">
            <a:avLst>
              <a:gd name="adj" fmla="val 5000"/>
            </a:avLst>
          </a:prstGeom>
          <a:solidFill>
            <a:srgbClr val="FFFFFF"/>
          </a:solidFill>
          <a:ln w="19050">
            <a:solidFill>
              <a:srgbClr val="1118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72600" y="1664208"/>
            <a:ext cx="2377440" cy="457200"/>
          </a:xfrm>
          <a:prstGeom prst="rect">
            <a:avLst/>
          </a:prstGeom>
          <a:noFill/>
        </p:spPr>
        <p:txBody>
          <a:bodyPr wrap="square" lIns="36576" rIns="36576" tIns="18288" bIns="18288" anchor="t">
            <a:spAutoFit/>
          </a:bodyPr>
          <a:lstStyle/>
          <a:p>
            <a:pPr algn="ctr">
              <a:lnSpc>
                <a:spcPct val="100000"/>
              </a:lnSpc>
              <a:spcAft>
                <a:spcPts val="0"/>
              </a:spcAft>
            </a:pPr>
            <a:r>
              <a:rPr sz="2000" b="1" i="0">
                <a:solidFill>
                  <a:srgbClr val="111827"/>
                </a:solidFill>
                <a:latin typeface="Segoe UI"/>
              </a:rPr>
              <a:t>PostgreSQL</a:t>
            </a:r>
          </a:p>
        </p:txBody>
      </p:sp>
      <p:sp>
        <p:nvSpPr>
          <p:cNvPr id="21" name="Rounded Rectangle 20"/>
          <p:cNvSpPr/>
          <p:nvPr/>
        </p:nvSpPr>
        <p:spPr>
          <a:xfrm>
            <a:off x="9509760" y="2194560"/>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Unique &amp; partial indexes</a:t>
            </a:r>
          </a:p>
        </p:txBody>
      </p:sp>
      <p:sp>
        <p:nvSpPr>
          <p:cNvPr id="22" name="Rounded Rectangle 21"/>
          <p:cNvSpPr/>
          <p:nvPr/>
        </p:nvSpPr>
        <p:spPr>
          <a:xfrm>
            <a:off x="9509760" y="3081528"/>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Row locks</a:t>
            </a:r>
          </a:p>
        </p:txBody>
      </p:sp>
      <p:sp>
        <p:nvSpPr>
          <p:cNvPr id="23" name="Rounded Rectangle 22"/>
          <p:cNvSpPr/>
          <p:nvPr/>
        </p:nvSpPr>
        <p:spPr>
          <a:xfrm>
            <a:off x="9509760" y="3968496"/>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Audit + capacity triggers</a:t>
            </a:r>
          </a:p>
        </p:txBody>
      </p:sp>
      <p:sp>
        <p:nvSpPr>
          <p:cNvPr id="24" name="Rounded Rectangle 23"/>
          <p:cNvSpPr/>
          <p:nvPr/>
        </p:nvSpPr>
        <p:spPr>
          <a:xfrm>
            <a:off x="9509760" y="4855464"/>
            <a:ext cx="2103120" cy="73152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Versioned migrations</a:t>
            </a:r>
          </a:p>
        </p:txBody>
      </p:sp>
      <p:cxnSp>
        <p:nvCxnSpPr>
          <p:cNvPr id="25" name="Connector 24"/>
          <p:cNvCxnSpPr/>
          <p:nvPr/>
        </p:nvCxnSpPr>
        <p:spPr>
          <a:xfrm>
            <a:off x="9025128" y="3813048"/>
            <a:ext cx="32918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852160" y="4800600"/>
            <a:ext cx="1508760" cy="82296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AI model fallback</a:t>
            </a:r>
          </a:p>
        </p:txBody>
      </p:sp>
      <p:sp>
        <p:nvSpPr>
          <p:cNvPr id="27" name="Rounded Rectangle 26"/>
          <p:cNvSpPr/>
          <p:nvPr/>
        </p:nvSpPr>
        <p:spPr>
          <a:xfrm>
            <a:off x="7498079" y="4800600"/>
            <a:ext cx="1508760" cy="82296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Chat history (MongoDB)</a:t>
            </a:r>
          </a:p>
        </p:txBody>
      </p:sp>
      <p:cxnSp>
        <p:nvCxnSpPr>
          <p:cNvPr id="28" name="Connector 27"/>
          <p:cNvCxnSpPr/>
          <p:nvPr/>
        </p:nvCxnSpPr>
        <p:spPr>
          <a:xfrm>
            <a:off x="6601968" y="4224528"/>
            <a:ext cx="0" cy="55778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247888" y="4224528"/>
            <a:ext cx="0" cy="55778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840480" y="4800600"/>
            <a:ext cx="1783080" cy="82296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374151"/>
                </a:solidFill>
                <a:latin typeface="Segoe UI"/>
              </a:rPr>
              <a:t>Gemini → Groq</a:t>
            </a:r>
          </a:p>
        </p:txBody>
      </p:sp>
      <p:cxnSp>
        <p:nvCxnSpPr>
          <p:cNvPr id="31" name="Connector 30"/>
          <p:cNvCxnSpPr/>
          <p:nvPr/>
        </p:nvCxnSpPr>
        <p:spPr>
          <a:xfrm flipH="1">
            <a:off x="5641848" y="521208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48640" y="5971032"/>
            <a:ext cx="274320" cy="27432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14400" y="5897880"/>
            <a:ext cx="256032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Novel in GymVerse</a:t>
            </a:r>
          </a:p>
        </p:txBody>
      </p:sp>
      <p:sp>
        <p:nvSpPr>
          <p:cNvPr id="34" name="Rounded Rectangle 33"/>
          <p:cNvSpPr/>
          <p:nvPr/>
        </p:nvSpPr>
        <p:spPr>
          <a:xfrm>
            <a:off x="3474720" y="5971032"/>
            <a:ext cx="274320" cy="274320"/>
          </a:xfrm>
          <a:prstGeom prst="roundRect">
            <a:avLst>
              <a:gd name="adj" fmla="val 2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840480" y="5897880"/>
            <a:ext cx="2560320" cy="4114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Standard component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The same design adapts from one PC to gym chains</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Adaptability</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6</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7" name="Rounded Rectangle 6"/>
          <p:cNvSpPr/>
          <p:nvPr/>
        </p:nvSpPr>
        <p:spPr>
          <a:xfrm>
            <a:off x="548640" y="1737360"/>
            <a:ext cx="3520440" cy="1389888"/>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2011679"/>
            <a:ext cx="777240" cy="822960"/>
          </a:xfrm>
          <a:prstGeom prst="rect">
            <a:avLst/>
          </a:prstGeom>
          <a:noFill/>
        </p:spPr>
        <p:txBody>
          <a:bodyPr wrap="square" lIns="36576" rIns="36576" tIns="18288" bIns="18288" anchor="t">
            <a:spAutoFit/>
          </a:bodyPr>
          <a:lstStyle/>
          <a:p>
            <a:pPr algn="ctr">
              <a:lnSpc>
                <a:spcPct val="100000"/>
              </a:lnSpc>
              <a:spcAft>
                <a:spcPts val="0"/>
              </a:spcAft>
            </a:pPr>
            <a:r>
              <a:rPr sz="3000" b="0" i="0">
                <a:solidFill>
                  <a:srgbClr val="374151"/>
                </a:solidFill>
                <a:latin typeface="Segoe UI Emoji"/>
              </a:rPr>
              <a:t>🏢</a:t>
            </a:r>
          </a:p>
        </p:txBody>
      </p:sp>
      <p:sp>
        <p:nvSpPr>
          <p:cNvPr id="9" name="TextBox 8"/>
          <p:cNvSpPr txBox="1"/>
          <p:nvPr/>
        </p:nvSpPr>
        <p:spPr>
          <a:xfrm>
            <a:off x="1508760" y="1901952"/>
            <a:ext cx="246888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Gym chains</a:t>
            </a:r>
          </a:p>
        </p:txBody>
      </p:sp>
      <p:sp>
        <p:nvSpPr>
          <p:cNvPr id="10" name="TextBox 9"/>
          <p:cNvSpPr txBox="1"/>
          <p:nvPr/>
        </p:nvSpPr>
        <p:spPr>
          <a:xfrm>
            <a:off x="1508760" y="2377439"/>
            <a:ext cx="2468880" cy="6858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Needs a branch column</a:t>
            </a:r>
          </a:p>
        </p:txBody>
      </p:sp>
      <p:sp>
        <p:nvSpPr>
          <p:cNvPr id="11" name="Rounded Rectangle 10"/>
          <p:cNvSpPr/>
          <p:nvPr/>
        </p:nvSpPr>
        <p:spPr>
          <a:xfrm>
            <a:off x="4343400" y="1737360"/>
            <a:ext cx="3520440" cy="1389888"/>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0560" y="2011679"/>
            <a:ext cx="777240" cy="822960"/>
          </a:xfrm>
          <a:prstGeom prst="rect">
            <a:avLst/>
          </a:prstGeom>
          <a:noFill/>
        </p:spPr>
        <p:txBody>
          <a:bodyPr wrap="square" lIns="36576" rIns="36576" tIns="18288" bIns="18288" anchor="t">
            <a:spAutoFit/>
          </a:bodyPr>
          <a:lstStyle/>
          <a:p>
            <a:pPr algn="ctr">
              <a:lnSpc>
                <a:spcPct val="100000"/>
              </a:lnSpc>
              <a:spcAft>
                <a:spcPts val="0"/>
              </a:spcAft>
            </a:pPr>
            <a:r>
              <a:rPr sz="3000" b="0" i="0">
                <a:solidFill>
                  <a:srgbClr val="374151"/>
                </a:solidFill>
                <a:latin typeface="Segoe UI Emoji"/>
              </a:rPr>
              <a:t>🧘</a:t>
            </a:r>
          </a:p>
        </p:txBody>
      </p:sp>
      <p:sp>
        <p:nvSpPr>
          <p:cNvPr id="13" name="TextBox 12"/>
          <p:cNvSpPr txBox="1"/>
          <p:nvPr/>
        </p:nvSpPr>
        <p:spPr>
          <a:xfrm>
            <a:off x="5303520" y="1901952"/>
            <a:ext cx="246888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Studios</a:t>
            </a:r>
          </a:p>
        </p:txBody>
      </p:sp>
      <p:sp>
        <p:nvSpPr>
          <p:cNvPr id="14" name="TextBox 13"/>
          <p:cNvSpPr txBox="1"/>
          <p:nvPr/>
        </p:nvSpPr>
        <p:spPr>
          <a:xfrm>
            <a:off x="5303520" y="2377439"/>
            <a:ext cx="2468880" cy="6858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Yoga &amp; dance: works as-is</a:t>
            </a:r>
          </a:p>
        </p:txBody>
      </p:sp>
      <p:sp>
        <p:nvSpPr>
          <p:cNvPr id="15" name="Rounded Rectangle 14"/>
          <p:cNvSpPr/>
          <p:nvPr/>
        </p:nvSpPr>
        <p:spPr>
          <a:xfrm>
            <a:off x="8138160" y="1737360"/>
            <a:ext cx="3520440" cy="1389888"/>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75320" y="2011679"/>
            <a:ext cx="777240" cy="822960"/>
          </a:xfrm>
          <a:prstGeom prst="rect">
            <a:avLst/>
          </a:prstGeom>
          <a:noFill/>
        </p:spPr>
        <p:txBody>
          <a:bodyPr wrap="square" lIns="36576" rIns="36576" tIns="18288" bIns="18288" anchor="t">
            <a:spAutoFit/>
          </a:bodyPr>
          <a:lstStyle/>
          <a:p>
            <a:pPr algn="ctr">
              <a:lnSpc>
                <a:spcPct val="100000"/>
              </a:lnSpc>
              <a:spcAft>
                <a:spcPts val="0"/>
              </a:spcAft>
            </a:pPr>
            <a:r>
              <a:rPr sz="3000" b="0" i="0">
                <a:solidFill>
                  <a:srgbClr val="374151"/>
                </a:solidFill>
                <a:latin typeface="Segoe UI Emoji"/>
              </a:rPr>
              <a:t>🩺</a:t>
            </a:r>
          </a:p>
        </p:txBody>
      </p:sp>
      <p:sp>
        <p:nvSpPr>
          <p:cNvPr id="17" name="TextBox 16"/>
          <p:cNvSpPr txBox="1"/>
          <p:nvPr/>
        </p:nvSpPr>
        <p:spPr>
          <a:xfrm>
            <a:off x="9098280" y="1901952"/>
            <a:ext cx="246888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Physio clinics</a:t>
            </a:r>
          </a:p>
        </p:txBody>
      </p:sp>
      <p:sp>
        <p:nvSpPr>
          <p:cNvPr id="18" name="TextBox 17"/>
          <p:cNvSpPr txBox="1"/>
          <p:nvPr/>
        </p:nvSpPr>
        <p:spPr>
          <a:xfrm>
            <a:off x="9098280" y="2377439"/>
            <a:ext cx="2468880" cy="6858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Sessions map to appointments</a:t>
            </a:r>
          </a:p>
        </p:txBody>
      </p:sp>
      <p:sp>
        <p:nvSpPr>
          <p:cNvPr id="19" name="Rounded Rectangle 18"/>
          <p:cNvSpPr/>
          <p:nvPr/>
        </p:nvSpPr>
        <p:spPr>
          <a:xfrm>
            <a:off x="548640" y="3310128"/>
            <a:ext cx="3520440" cy="1389888"/>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3584448"/>
            <a:ext cx="777240" cy="822960"/>
          </a:xfrm>
          <a:prstGeom prst="rect">
            <a:avLst/>
          </a:prstGeom>
          <a:noFill/>
        </p:spPr>
        <p:txBody>
          <a:bodyPr wrap="square" lIns="36576" rIns="36576" tIns="18288" bIns="18288" anchor="t">
            <a:spAutoFit/>
          </a:bodyPr>
          <a:lstStyle/>
          <a:p>
            <a:pPr algn="ctr">
              <a:lnSpc>
                <a:spcPct val="100000"/>
              </a:lnSpc>
              <a:spcAft>
                <a:spcPts val="0"/>
              </a:spcAft>
            </a:pPr>
            <a:r>
              <a:rPr sz="3000" b="0" i="0">
                <a:solidFill>
                  <a:srgbClr val="374151"/>
                </a:solidFill>
                <a:latin typeface="Segoe UI Emoji"/>
              </a:rPr>
              <a:t>🎓</a:t>
            </a:r>
          </a:p>
        </p:txBody>
      </p:sp>
      <p:sp>
        <p:nvSpPr>
          <p:cNvPr id="21" name="TextBox 20"/>
          <p:cNvSpPr txBox="1"/>
          <p:nvPr/>
        </p:nvSpPr>
        <p:spPr>
          <a:xfrm>
            <a:off x="1508760" y="3474720"/>
            <a:ext cx="246888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College gyms</a:t>
            </a:r>
          </a:p>
        </p:txBody>
      </p:sp>
      <p:sp>
        <p:nvSpPr>
          <p:cNvPr id="22" name="TextBox 21"/>
          <p:cNvSpPr txBox="1"/>
          <p:nvPr/>
        </p:nvSpPr>
        <p:spPr>
          <a:xfrm>
            <a:off x="1508760" y="3950208"/>
            <a:ext cx="2468880" cy="6858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Students as members</a:t>
            </a:r>
          </a:p>
        </p:txBody>
      </p:sp>
      <p:sp>
        <p:nvSpPr>
          <p:cNvPr id="23" name="Rounded Rectangle 22"/>
          <p:cNvSpPr/>
          <p:nvPr/>
        </p:nvSpPr>
        <p:spPr>
          <a:xfrm>
            <a:off x="4343400" y="3310128"/>
            <a:ext cx="3520440" cy="1389888"/>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480560" y="3584448"/>
            <a:ext cx="777240" cy="822960"/>
          </a:xfrm>
          <a:prstGeom prst="rect">
            <a:avLst/>
          </a:prstGeom>
          <a:noFill/>
        </p:spPr>
        <p:txBody>
          <a:bodyPr wrap="square" lIns="36576" rIns="36576" tIns="18288" bIns="18288" anchor="t">
            <a:spAutoFit/>
          </a:bodyPr>
          <a:lstStyle/>
          <a:p>
            <a:pPr algn="ctr">
              <a:lnSpc>
                <a:spcPct val="100000"/>
              </a:lnSpc>
              <a:spcAft>
                <a:spcPts val="0"/>
              </a:spcAft>
            </a:pPr>
            <a:r>
              <a:rPr sz="3000" b="0" i="0">
                <a:solidFill>
                  <a:srgbClr val="374151"/>
                </a:solidFill>
                <a:latin typeface="Segoe UI Emoji"/>
              </a:rPr>
              <a:t>💻</a:t>
            </a:r>
          </a:p>
        </p:txBody>
      </p:sp>
      <p:sp>
        <p:nvSpPr>
          <p:cNvPr id="25" name="TextBox 24"/>
          <p:cNvSpPr txBox="1"/>
          <p:nvPr/>
        </p:nvSpPr>
        <p:spPr>
          <a:xfrm>
            <a:off x="5303520" y="3474720"/>
            <a:ext cx="246888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Low-resource gyms</a:t>
            </a:r>
          </a:p>
        </p:txBody>
      </p:sp>
      <p:sp>
        <p:nvSpPr>
          <p:cNvPr id="26" name="TextBox 25"/>
          <p:cNvSpPr txBox="1"/>
          <p:nvPr/>
        </p:nvSpPr>
        <p:spPr>
          <a:xfrm>
            <a:off x="5303520" y="3950208"/>
            <a:ext cx="2468880" cy="6858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One PC; AI and email optional</a:t>
            </a:r>
          </a:p>
        </p:txBody>
      </p:sp>
      <p:sp>
        <p:nvSpPr>
          <p:cNvPr id="27" name="Rounded Rectangle 26"/>
          <p:cNvSpPr/>
          <p:nvPr/>
        </p:nvSpPr>
        <p:spPr>
          <a:xfrm>
            <a:off x="8138160" y="3310128"/>
            <a:ext cx="3520440" cy="1389888"/>
          </a:xfrm>
          <a:prstGeom prst="roundRect">
            <a:avLst>
              <a:gd name="adj" fmla="val 8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75320" y="3584448"/>
            <a:ext cx="777240" cy="822960"/>
          </a:xfrm>
          <a:prstGeom prst="rect">
            <a:avLst/>
          </a:prstGeom>
          <a:noFill/>
        </p:spPr>
        <p:txBody>
          <a:bodyPr wrap="square" lIns="36576" rIns="36576" tIns="18288" bIns="18288" anchor="t">
            <a:spAutoFit/>
          </a:bodyPr>
          <a:lstStyle/>
          <a:p>
            <a:pPr algn="ctr">
              <a:lnSpc>
                <a:spcPct val="100000"/>
              </a:lnSpc>
              <a:spcAft>
                <a:spcPts val="0"/>
              </a:spcAft>
            </a:pPr>
            <a:r>
              <a:rPr sz="3000" b="0" i="0">
                <a:solidFill>
                  <a:srgbClr val="374151"/>
                </a:solidFill>
                <a:latin typeface="Segoe UI Emoji"/>
              </a:rPr>
              <a:t>📈</a:t>
            </a:r>
          </a:p>
        </p:txBody>
      </p:sp>
      <p:sp>
        <p:nvSpPr>
          <p:cNvPr id="29" name="TextBox 28"/>
          <p:cNvSpPr txBox="1"/>
          <p:nvPr/>
        </p:nvSpPr>
        <p:spPr>
          <a:xfrm>
            <a:off x="9098280" y="3474720"/>
            <a:ext cx="246888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Large data volumes</a:t>
            </a:r>
          </a:p>
        </p:txBody>
      </p:sp>
      <p:sp>
        <p:nvSpPr>
          <p:cNvPr id="30" name="TextBox 29"/>
          <p:cNvSpPr txBox="1"/>
          <p:nvPr/>
        </p:nvSpPr>
        <p:spPr>
          <a:xfrm>
            <a:off x="9098280" y="3950208"/>
            <a:ext cx="2468880" cy="6858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Under 10 ms at 1M check-ins</a:t>
            </a:r>
          </a:p>
        </p:txBody>
      </p:sp>
      <p:sp>
        <p:nvSpPr>
          <p:cNvPr id="31" name="Rounded Rectangle 30"/>
          <p:cNvSpPr/>
          <p:nvPr/>
        </p:nvSpPr>
        <p:spPr>
          <a:xfrm>
            <a:off x="548640" y="4937760"/>
            <a:ext cx="5440680" cy="1234440"/>
          </a:xfrm>
          <a:prstGeom prst="roundRect">
            <a:avLst>
              <a:gd name="adj" fmla="val 8000"/>
            </a:avLst>
          </a:prstGeom>
          <a:solidFill>
            <a:srgbClr val="DBEAFE"/>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029200"/>
            <a:ext cx="502920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2563EB"/>
                </a:solidFill>
                <a:latin typeface="Segoe UI"/>
              </a:rPr>
              <a:t>Configurable, no code change</a:t>
            </a:r>
          </a:p>
        </p:txBody>
      </p:sp>
      <p:sp>
        <p:nvSpPr>
          <p:cNvPr id="33" name="TextBox 32"/>
          <p:cNvSpPr txBox="1"/>
          <p:nvPr/>
        </p:nvSpPr>
        <p:spPr>
          <a:xfrm>
            <a:off x="777240" y="5486400"/>
            <a:ext cx="5029200" cy="6400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Plans · AI models · email · chat history · production mode</a:t>
            </a:r>
          </a:p>
        </p:txBody>
      </p:sp>
      <p:sp>
        <p:nvSpPr>
          <p:cNvPr id="34" name="Rounded Rectangle 33"/>
          <p:cNvSpPr/>
          <p:nvPr/>
        </p:nvSpPr>
        <p:spPr>
          <a:xfrm>
            <a:off x="6172200" y="4937760"/>
            <a:ext cx="5440680" cy="12344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0" y="5029200"/>
            <a:ext cx="502920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Fixed core</a:t>
            </a:r>
          </a:p>
        </p:txBody>
      </p:sp>
      <p:sp>
        <p:nvSpPr>
          <p:cNvPr id="36" name="TextBox 35"/>
          <p:cNvSpPr txBox="1"/>
          <p:nvPr/>
        </p:nvSpPr>
        <p:spPr>
          <a:xfrm>
            <a:off x="6400800" y="5486400"/>
            <a:ext cx="5029200" cy="64008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Integrity rules · record access · audit trail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Tested four ways, on 1,000× more members than the seed</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7</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7" name="Rounded Rectangle 6"/>
          <p:cNvSpPr/>
          <p:nvPr/>
        </p:nvSpPr>
        <p:spPr>
          <a:xfrm>
            <a:off x="548640" y="1783080"/>
            <a:ext cx="3520440" cy="324612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1965960"/>
            <a:ext cx="30175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a:rPr>
              <a:t>Data</a:t>
            </a:r>
          </a:p>
        </p:txBody>
      </p:sp>
      <p:sp>
        <p:nvSpPr>
          <p:cNvPr id="9" name="TextBox 8"/>
          <p:cNvSpPr txBox="1"/>
          <p:nvPr/>
        </p:nvSpPr>
        <p:spPr>
          <a:xfrm>
            <a:off x="822959" y="2606040"/>
            <a:ext cx="3017520" cy="2286000"/>
          </a:xfrm>
          <a:prstGeom prst="rect">
            <a:avLst/>
          </a:prstGeom>
          <a:noFill/>
        </p:spPr>
        <p:txBody>
          <a:bodyPr wrap="square" lIns="36576" rIns="36576" tIns="18288" bIns="18288" anchor="t">
            <a:spAutoFit/>
          </a:bodyPr>
          <a:lstStyle/>
          <a:p>
            <a:pPr algn="l">
              <a:lnSpc>
                <a:spcPct val="100000"/>
              </a:lnSpc>
              <a:spcAft>
                <a:spcPts val="1400"/>
              </a:spcAft>
            </a:pPr>
            <a:r>
              <a:rPr sz="2000" b="0" i="0">
                <a:solidFill>
                  <a:srgbClr val="374151"/>
                </a:solidFill>
                <a:latin typeface="Segoe UI"/>
              </a:rPr>
              <a:t>Seed: 50 members, 300 visits</a:t>
            </a:r>
          </a:p>
          <a:p>
            <a:pPr algn="l">
              <a:lnSpc>
                <a:spcPct val="100000"/>
              </a:lnSpc>
              <a:spcAft>
                <a:spcPts val="1400"/>
              </a:spcAft>
            </a:pPr>
            <a:r>
              <a:rPr sz="2000" b="0" i="0">
                <a:solidFill>
                  <a:srgbClr val="374151"/>
                </a:solidFill>
                <a:latin typeface="Segoe UI"/>
              </a:rPr>
              <a:t>Benchmark: 50k members, 1M check-ins (synthetic)</a:t>
            </a:r>
          </a:p>
        </p:txBody>
      </p:sp>
      <p:sp>
        <p:nvSpPr>
          <p:cNvPr id="10" name="Rounded Rectangle 9"/>
          <p:cNvSpPr/>
          <p:nvPr/>
        </p:nvSpPr>
        <p:spPr>
          <a:xfrm>
            <a:off x="4343400" y="1783080"/>
            <a:ext cx="3520440" cy="324612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17720" y="1965960"/>
            <a:ext cx="30175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a:rPr>
              <a:t>Baselines</a:t>
            </a:r>
          </a:p>
        </p:txBody>
      </p:sp>
      <p:sp>
        <p:nvSpPr>
          <p:cNvPr id="12" name="TextBox 11"/>
          <p:cNvSpPr txBox="1"/>
          <p:nvPr/>
        </p:nvSpPr>
        <p:spPr>
          <a:xfrm>
            <a:off x="4617720" y="2606040"/>
            <a:ext cx="3017520" cy="2286000"/>
          </a:xfrm>
          <a:prstGeom prst="rect">
            <a:avLst/>
          </a:prstGeom>
          <a:noFill/>
        </p:spPr>
        <p:txBody>
          <a:bodyPr wrap="square" lIns="36576" rIns="36576" tIns="18288" bIns="18288" anchor="t">
            <a:spAutoFit/>
          </a:bodyPr>
          <a:lstStyle/>
          <a:p>
            <a:pPr algn="l">
              <a:lnSpc>
                <a:spcPct val="100000"/>
              </a:lnSpc>
              <a:spcAft>
                <a:spcPts val="1400"/>
              </a:spcAft>
            </a:pPr>
            <a:r>
              <a:rPr sz="2000" b="0" i="0">
                <a:solidFill>
                  <a:srgbClr val="374151"/>
                </a:solidFill>
                <a:latin typeface="Segoe UI"/>
              </a:rPr>
              <a:t>No supporting indexes</a:t>
            </a:r>
          </a:p>
          <a:p>
            <a:pPr algn="l">
              <a:lnSpc>
                <a:spcPct val="100000"/>
              </a:lnSpc>
              <a:spcAft>
                <a:spcPts val="1400"/>
              </a:spcAft>
            </a:pPr>
            <a:r>
              <a:rPr sz="2000" b="0" i="0">
                <a:solidFill>
                  <a:srgbClr val="374151"/>
                </a:solidFill>
                <a:latin typeface="Segoe UI"/>
              </a:rPr>
              <a:t>Indexes before migration 16</a:t>
            </a:r>
          </a:p>
        </p:txBody>
      </p:sp>
      <p:sp>
        <p:nvSpPr>
          <p:cNvPr id="13" name="Rounded Rectangle 12"/>
          <p:cNvSpPr/>
          <p:nvPr/>
        </p:nvSpPr>
        <p:spPr>
          <a:xfrm>
            <a:off x="8138160" y="1783080"/>
            <a:ext cx="3520440" cy="324612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0" y="1965960"/>
            <a:ext cx="3017520" cy="502920"/>
          </a:xfrm>
          <a:prstGeom prst="rect">
            <a:avLst/>
          </a:prstGeom>
          <a:noFill/>
        </p:spPr>
        <p:txBody>
          <a:bodyPr wrap="square" lIns="36576" rIns="36576" tIns="18288" bIns="18288" anchor="t">
            <a:spAutoFit/>
          </a:bodyPr>
          <a:lstStyle/>
          <a:p>
            <a:pPr algn="l">
              <a:lnSpc>
                <a:spcPct val="100000"/>
              </a:lnSpc>
              <a:spcAft>
                <a:spcPts val="0"/>
              </a:spcAft>
            </a:pPr>
            <a:r>
              <a:rPr sz="2400" b="1" i="0">
                <a:solidFill>
                  <a:srgbClr val="2563EB"/>
                </a:solidFill>
                <a:latin typeface="Segoe UI"/>
              </a:rPr>
              <a:t>Metrics</a:t>
            </a:r>
          </a:p>
        </p:txBody>
      </p:sp>
      <p:sp>
        <p:nvSpPr>
          <p:cNvPr id="15" name="TextBox 14"/>
          <p:cNvSpPr txBox="1"/>
          <p:nvPr/>
        </p:nvSpPr>
        <p:spPr>
          <a:xfrm>
            <a:off x="8412480" y="2606040"/>
            <a:ext cx="3017520" cy="2286000"/>
          </a:xfrm>
          <a:prstGeom prst="rect">
            <a:avLst/>
          </a:prstGeom>
          <a:noFill/>
        </p:spPr>
        <p:txBody>
          <a:bodyPr wrap="square" lIns="36576" rIns="36576" tIns="18288" bIns="18288" anchor="t">
            <a:spAutoFit/>
          </a:bodyPr>
          <a:lstStyle/>
          <a:p>
            <a:pPr algn="l">
              <a:lnSpc>
                <a:spcPct val="100000"/>
              </a:lnSpc>
              <a:spcAft>
                <a:spcPts val="1400"/>
              </a:spcAft>
            </a:pPr>
            <a:r>
              <a:rPr sz="2000" b="0" i="0">
                <a:solidFill>
                  <a:srgbClr val="374151"/>
                </a:solidFill>
                <a:latin typeface="Segoe UI"/>
              </a:rPr>
              <a:t>Median of 15 query runs</a:t>
            </a:r>
          </a:p>
          <a:p>
            <a:pPr algn="l">
              <a:lnSpc>
                <a:spcPct val="100000"/>
              </a:lnSpc>
              <a:spcAft>
                <a:spcPts val="1400"/>
              </a:spcAft>
            </a:pPr>
            <a:r>
              <a:rPr sz="2000" b="0" i="0">
                <a:solidFill>
                  <a:srgbClr val="374151"/>
                </a:solidFill>
                <a:latin typeface="Segoe UI"/>
              </a:rPr>
              <a:t>Pass rate of every check</a:t>
            </a:r>
          </a:p>
        </p:txBody>
      </p:sp>
      <p:sp>
        <p:nvSpPr>
          <p:cNvPr id="16" name="Rounded Rectangle 15"/>
          <p:cNvSpPr/>
          <p:nvPr/>
        </p:nvSpPr>
        <p:spPr>
          <a:xfrm>
            <a:off x="548640" y="5303520"/>
            <a:ext cx="2606040"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11827"/>
                </a:solidFill>
                <a:latin typeface="Segoe UI"/>
              </a:rPr>
              <a:t>Unit &amp; route tests</a:t>
            </a:r>
          </a:p>
        </p:txBody>
      </p:sp>
      <p:sp>
        <p:nvSpPr>
          <p:cNvPr id="17" name="Rounded Rectangle 16"/>
          <p:cNvSpPr/>
          <p:nvPr/>
        </p:nvSpPr>
        <p:spPr>
          <a:xfrm>
            <a:off x="3383280" y="5303520"/>
            <a:ext cx="2606040"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11827"/>
                </a:solidFill>
                <a:latin typeface="Segoe UI"/>
              </a:rPr>
              <a:t>Fresh-DB stack check</a:t>
            </a:r>
          </a:p>
        </p:txBody>
      </p:sp>
      <p:sp>
        <p:nvSpPr>
          <p:cNvPr id="18" name="Rounded Rectangle 17"/>
          <p:cNvSpPr/>
          <p:nvPr/>
        </p:nvSpPr>
        <p:spPr>
          <a:xfrm>
            <a:off x="6217920" y="5303520"/>
            <a:ext cx="2606040"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11827"/>
                </a:solidFill>
                <a:latin typeface="Segoe UI"/>
              </a:rPr>
              <a:t>Live end-to-end</a:t>
            </a:r>
          </a:p>
        </p:txBody>
      </p:sp>
      <p:sp>
        <p:nvSpPr>
          <p:cNvPr id="19" name="Rounded Rectangle 18"/>
          <p:cNvSpPr/>
          <p:nvPr/>
        </p:nvSpPr>
        <p:spPr>
          <a:xfrm>
            <a:off x="9052560" y="5303520"/>
            <a:ext cx="2606040" cy="68580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11827"/>
                </a:solidFill>
                <a:latin typeface="Segoe UI"/>
              </a:rPr>
              <a:t>Index benchmark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New indexes make key queries up to 81× faster</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8</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graphicFrame>
        <p:nvGraphicFramePr>
          <p:cNvPr id="7" name="Chart 6"/>
          <p:cNvGraphicFramePr>
            <a:graphicFrameLocks noGrp="1"/>
          </p:cNvGraphicFramePr>
          <p:nvPr/>
        </p:nvGraphicFramePr>
        <p:xfrm>
          <a:off x="457200" y="1645920"/>
          <a:ext cx="8138160" cy="4617720"/>
        </p:xfrm>
        <a:graphic>
          <a:graphicData uri="http://schemas.openxmlformats.org/drawingml/2006/chart">
            <c:chart xmlns:c="http://schemas.openxmlformats.org/drawingml/2006/chart" r:id="rId3"/>
          </a:graphicData>
        </a:graphic>
      </p:graphicFrame>
      <p:sp>
        <p:nvSpPr>
          <p:cNvPr id="8" name="TextBox 7"/>
          <p:cNvSpPr txBox="1"/>
          <p:nvPr/>
        </p:nvSpPr>
        <p:spPr>
          <a:xfrm>
            <a:off x="8732520" y="1783080"/>
            <a:ext cx="3200400" cy="45720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6B7280"/>
                </a:solidFill>
                <a:latin typeface="Segoe UI"/>
              </a:rPr>
              <a:t>Speed-up after 16</a:t>
            </a:r>
          </a:p>
        </p:txBody>
      </p:sp>
      <p:sp>
        <p:nvSpPr>
          <p:cNvPr id="9" name="TextBox 8"/>
          <p:cNvSpPr txBox="1"/>
          <p:nvPr/>
        </p:nvSpPr>
        <p:spPr>
          <a:xfrm>
            <a:off x="8732520" y="2286000"/>
            <a:ext cx="1325880" cy="640080"/>
          </a:xfrm>
          <a:prstGeom prst="rect">
            <a:avLst/>
          </a:prstGeom>
          <a:noFill/>
        </p:spPr>
        <p:txBody>
          <a:bodyPr wrap="square" lIns="36576" rIns="36576" tIns="18288" bIns="18288" anchor="t">
            <a:spAutoFit/>
          </a:bodyPr>
          <a:lstStyle/>
          <a:p>
            <a:pPr algn="l">
              <a:lnSpc>
                <a:spcPct val="100000"/>
              </a:lnSpc>
              <a:spcAft>
                <a:spcPts val="0"/>
              </a:spcAft>
            </a:pPr>
            <a:r>
              <a:rPr sz="3200" b="1" i="0">
                <a:solidFill>
                  <a:srgbClr val="2563EB"/>
                </a:solidFill>
                <a:latin typeface="Segoe UI"/>
              </a:rPr>
              <a:t>81×</a:t>
            </a:r>
          </a:p>
        </p:txBody>
      </p:sp>
      <p:sp>
        <p:nvSpPr>
          <p:cNvPr id="10" name="TextBox 9"/>
          <p:cNvSpPr txBox="1"/>
          <p:nvPr/>
        </p:nvSpPr>
        <p:spPr>
          <a:xfrm>
            <a:off x="10012680" y="2395728"/>
            <a:ext cx="2011680" cy="54864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Member search</a:t>
            </a:r>
          </a:p>
        </p:txBody>
      </p:sp>
      <p:sp>
        <p:nvSpPr>
          <p:cNvPr id="11" name="TextBox 10"/>
          <p:cNvSpPr txBox="1"/>
          <p:nvPr/>
        </p:nvSpPr>
        <p:spPr>
          <a:xfrm>
            <a:off x="8732520" y="3108960"/>
            <a:ext cx="1325880" cy="640080"/>
          </a:xfrm>
          <a:prstGeom prst="rect">
            <a:avLst/>
          </a:prstGeom>
          <a:noFill/>
        </p:spPr>
        <p:txBody>
          <a:bodyPr wrap="square" lIns="36576" rIns="36576" tIns="18288" bIns="18288" anchor="t">
            <a:spAutoFit/>
          </a:bodyPr>
          <a:lstStyle/>
          <a:p>
            <a:pPr algn="l">
              <a:lnSpc>
                <a:spcPct val="100000"/>
              </a:lnSpc>
              <a:spcAft>
                <a:spcPts val="0"/>
              </a:spcAft>
            </a:pPr>
            <a:r>
              <a:rPr sz="3200" b="1" i="0">
                <a:solidFill>
                  <a:srgbClr val="2563EB"/>
                </a:solidFill>
                <a:latin typeface="Segoe UI"/>
              </a:rPr>
              <a:t>54×</a:t>
            </a:r>
          </a:p>
        </p:txBody>
      </p:sp>
      <p:sp>
        <p:nvSpPr>
          <p:cNvPr id="12" name="TextBox 11"/>
          <p:cNvSpPr txBox="1"/>
          <p:nvPr/>
        </p:nvSpPr>
        <p:spPr>
          <a:xfrm>
            <a:off x="10012680" y="3218688"/>
            <a:ext cx="2011680" cy="54864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Subscriptions list</a:t>
            </a:r>
          </a:p>
        </p:txBody>
      </p:sp>
      <p:sp>
        <p:nvSpPr>
          <p:cNvPr id="13" name="TextBox 12"/>
          <p:cNvSpPr txBox="1"/>
          <p:nvPr/>
        </p:nvSpPr>
        <p:spPr>
          <a:xfrm>
            <a:off x="8732520" y="3931920"/>
            <a:ext cx="1325880" cy="640080"/>
          </a:xfrm>
          <a:prstGeom prst="rect">
            <a:avLst/>
          </a:prstGeom>
          <a:noFill/>
        </p:spPr>
        <p:txBody>
          <a:bodyPr wrap="square" lIns="36576" rIns="36576" tIns="18288" bIns="18288" anchor="t">
            <a:spAutoFit/>
          </a:bodyPr>
          <a:lstStyle/>
          <a:p>
            <a:pPr algn="l">
              <a:lnSpc>
                <a:spcPct val="100000"/>
              </a:lnSpc>
              <a:spcAft>
                <a:spcPts val="0"/>
              </a:spcAft>
            </a:pPr>
            <a:r>
              <a:rPr sz="3200" b="1" i="0">
                <a:solidFill>
                  <a:srgbClr val="2563EB"/>
                </a:solidFill>
                <a:latin typeface="Segoe UI"/>
              </a:rPr>
              <a:t>45×</a:t>
            </a:r>
          </a:p>
        </p:txBody>
      </p:sp>
      <p:sp>
        <p:nvSpPr>
          <p:cNvPr id="14" name="TextBox 13"/>
          <p:cNvSpPr txBox="1"/>
          <p:nvPr/>
        </p:nvSpPr>
        <p:spPr>
          <a:xfrm>
            <a:off x="10012680" y="4041648"/>
            <a:ext cx="2011680" cy="54864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Attendance log</a:t>
            </a:r>
          </a:p>
        </p:txBody>
      </p:sp>
      <p:sp>
        <p:nvSpPr>
          <p:cNvPr id="15" name="TextBox 14"/>
          <p:cNvSpPr txBox="1"/>
          <p:nvPr/>
        </p:nvSpPr>
        <p:spPr>
          <a:xfrm>
            <a:off x="8732520" y="4754880"/>
            <a:ext cx="1325880" cy="640080"/>
          </a:xfrm>
          <a:prstGeom prst="rect">
            <a:avLst/>
          </a:prstGeom>
          <a:noFill/>
        </p:spPr>
        <p:txBody>
          <a:bodyPr wrap="square" lIns="36576" rIns="36576" tIns="18288" bIns="18288" anchor="t">
            <a:spAutoFit/>
          </a:bodyPr>
          <a:lstStyle/>
          <a:p>
            <a:pPr algn="l">
              <a:lnSpc>
                <a:spcPct val="100000"/>
              </a:lnSpc>
              <a:spcAft>
                <a:spcPts val="0"/>
              </a:spcAft>
            </a:pPr>
            <a:r>
              <a:rPr sz="3200" b="1" i="0">
                <a:solidFill>
                  <a:srgbClr val="2563EB"/>
                </a:solidFill>
                <a:latin typeface="Segoe UI"/>
              </a:rPr>
              <a:t>4.5×</a:t>
            </a:r>
          </a:p>
        </p:txBody>
      </p:sp>
      <p:sp>
        <p:nvSpPr>
          <p:cNvPr id="16" name="TextBox 15"/>
          <p:cNvSpPr txBox="1"/>
          <p:nvPr/>
        </p:nvSpPr>
        <p:spPr>
          <a:xfrm>
            <a:off x="10012680" y="4864608"/>
            <a:ext cx="2011680" cy="54864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374151"/>
                </a:solidFill>
                <a:latin typeface="Segoe UI"/>
              </a:rPr>
              <a:t>Payment history</a:t>
            </a:r>
          </a:p>
        </p:txBody>
      </p:sp>
      <p:sp>
        <p:nvSpPr>
          <p:cNvPr id="17" name="TextBox 16"/>
          <p:cNvSpPr txBox="1"/>
          <p:nvPr/>
        </p:nvSpPr>
        <p:spPr>
          <a:xfrm>
            <a:off x="8732520" y="5623560"/>
            <a:ext cx="3291840" cy="4572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6B7280"/>
                </a:solidFill>
                <a:latin typeface="Segoe UI"/>
              </a:rPr>
              <a:t>50k members, 1M check-ins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All 116 end-to-end checks pass across every role</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9</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graphicFrame>
        <p:nvGraphicFramePr>
          <p:cNvPr id="7" name="Chart 6"/>
          <p:cNvGraphicFramePr>
            <a:graphicFrameLocks noGrp="1"/>
          </p:cNvGraphicFramePr>
          <p:nvPr/>
        </p:nvGraphicFramePr>
        <p:xfrm>
          <a:off x="457200" y="1691640"/>
          <a:ext cx="7223760" cy="4526280"/>
        </p:xfrm>
        <a:graphic>
          <a:graphicData uri="http://schemas.openxmlformats.org/drawingml/2006/chart">
            <c:chart xmlns:c="http://schemas.openxmlformats.org/drawingml/2006/chart" r:id="rId3"/>
          </a:graphicData>
        </a:graphic>
      </p:graphicFrame>
      <p:sp>
        <p:nvSpPr>
          <p:cNvPr id="8" name="Rounded Rectangle 7"/>
          <p:cNvSpPr/>
          <p:nvPr/>
        </p:nvSpPr>
        <p:spPr>
          <a:xfrm>
            <a:off x="8001000" y="178308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01000" y="2057400"/>
            <a:ext cx="1783080" cy="731520"/>
          </a:xfrm>
          <a:prstGeom prst="rect">
            <a:avLst/>
          </a:prstGeom>
          <a:noFill/>
        </p:spPr>
        <p:txBody>
          <a:bodyPr wrap="square" lIns="36576" rIns="36576" tIns="18288" bIns="18288" anchor="t">
            <a:spAutoFit/>
          </a:bodyPr>
          <a:lstStyle/>
          <a:p>
            <a:pPr algn="ctr">
              <a:lnSpc>
                <a:spcPct val="100000"/>
              </a:lnSpc>
              <a:spcAft>
                <a:spcPts val="0"/>
              </a:spcAft>
            </a:pPr>
            <a:r>
              <a:rPr sz="3400" b="1" i="0">
                <a:solidFill>
                  <a:srgbClr val="2563EB"/>
                </a:solidFill>
                <a:latin typeface="Segoe UI"/>
              </a:rPr>
              <a:t>235</a:t>
            </a:r>
          </a:p>
        </p:txBody>
      </p:sp>
      <p:sp>
        <p:nvSpPr>
          <p:cNvPr id="10" name="TextBox 9"/>
          <p:cNvSpPr txBox="1"/>
          <p:nvPr/>
        </p:nvSpPr>
        <p:spPr>
          <a:xfrm>
            <a:off x="8110727" y="2807208"/>
            <a:ext cx="1563624" cy="914400"/>
          </a:xfrm>
          <a:prstGeom prst="rect">
            <a:avLst/>
          </a:prstGeom>
          <a:noFill/>
        </p:spPr>
        <p:txBody>
          <a:bodyPr wrap="square" lIns="36576" rIns="36576" tIns="18288" bIns="18288" anchor="t">
            <a:spAutoFit/>
          </a:bodyPr>
          <a:lstStyle/>
          <a:p>
            <a:pPr algn="ctr">
              <a:lnSpc>
                <a:spcPct val="95000"/>
              </a:lnSpc>
              <a:spcAft>
                <a:spcPts val="0"/>
              </a:spcAft>
            </a:pPr>
            <a:r>
              <a:rPr sz="1800" b="0" i="0">
                <a:solidFill>
                  <a:srgbClr val="374151"/>
                </a:solidFill>
                <a:latin typeface="Segoe UI"/>
              </a:rPr>
              <a:t>unit &amp; route tests pass</a:t>
            </a:r>
          </a:p>
        </p:txBody>
      </p:sp>
      <p:sp>
        <p:nvSpPr>
          <p:cNvPr id="11" name="Rounded Rectangle 10"/>
          <p:cNvSpPr/>
          <p:nvPr/>
        </p:nvSpPr>
        <p:spPr>
          <a:xfrm>
            <a:off x="9921240" y="178308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21240" y="2057400"/>
            <a:ext cx="1783080" cy="731520"/>
          </a:xfrm>
          <a:prstGeom prst="rect">
            <a:avLst/>
          </a:prstGeom>
          <a:noFill/>
        </p:spPr>
        <p:txBody>
          <a:bodyPr wrap="square" lIns="36576" rIns="36576" tIns="18288" bIns="18288" anchor="t">
            <a:spAutoFit/>
          </a:bodyPr>
          <a:lstStyle/>
          <a:p>
            <a:pPr algn="ctr">
              <a:lnSpc>
                <a:spcPct val="100000"/>
              </a:lnSpc>
              <a:spcAft>
                <a:spcPts val="0"/>
              </a:spcAft>
            </a:pPr>
            <a:r>
              <a:rPr sz="3400" b="1" i="0">
                <a:solidFill>
                  <a:srgbClr val="2563EB"/>
                </a:solidFill>
                <a:latin typeface="Segoe UI"/>
              </a:rPr>
              <a:t>71/71</a:t>
            </a:r>
          </a:p>
        </p:txBody>
      </p:sp>
      <p:sp>
        <p:nvSpPr>
          <p:cNvPr id="13" name="TextBox 12"/>
          <p:cNvSpPr txBox="1"/>
          <p:nvPr/>
        </p:nvSpPr>
        <p:spPr>
          <a:xfrm>
            <a:off x="10030967" y="2807208"/>
            <a:ext cx="1563624" cy="914400"/>
          </a:xfrm>
          <a:prstGeom prst="rect">
            <a:avLst/>
          </a:prstGeom>
          <a:noFill/>
        </p:spPr>
        <p:txBody>
          <a:bodyPr wrap="square" lIns="36576" rIns="36576" tIns="18288" bIns="18288" anchor="t">
            <a:spAutoFit/>
          </a:bodyPr>
          <a:lstStyle/>
          <a:p>
            <a:pPr algn="ctr">
              <a:lnSpc>
                <a:spcPct val="95000"/>
              </a:lnSpc>
              <a:spcAft>
                <a:spcPts val="0"/>
              </a:spcAft>
            </a:pPr>
            <a:r>
              <a:rPr sz="1800" b="0" i="0">
                <a:solidFill>
                  <a:srgbClr val="374151"/>
                </a:solidFill>
                <a:latin typeface="Segoe UI"/>
              </a:rPr>
              <a:t>fresh-DB stack checks</a:t>
            </a:r>
          </a:p>
        </p:txBody>
      </p:sp>
      <p:sp>
        <p:nvSpPr>
          <p:cNvPr id="14" name="Rounded Rectangle 13"/>
          <p:cNvSpPr/>
          <p:nvPr/>
        </p:nvSpPr>
        <p:spPr>
          <a:xfrm>
            <a:off x="8001000" y="402336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01000" y="4297680"/>
            <a:ext cx="1783080" cy="731520"/>
          </a:xfrm>
          <a:prstGeom prst="rect">
            <a:avLst/>
          </a:prstGeom>
          <a:noFill/>
        </p:spPr>
        <p:txBody>
          <a:bodyPr wrap="square" lIns="36576" rIns="36576" tIns="18288" bIns="18288" anchor="t">
            <a:spAutoFit/>
          </a:bodyPr>
          <a:lstStyle/>
          <a:p>
            <a:pPr algn="ctr">
              <a:lnSpc>
                <a:spcPct val="100000"/>
              </a:lnSpc>
              <a:spcAft>
                <a:spcPts val="0"/>
              </a:spcAft>
            </a:pPr>
            <a:r>
              <a:rPr sz="3400" b="1" i="0">
                <a:solidFill>
                  <a:srgbClr val="2563EB"/>
                </a:solidFill>
                <a:latin typeface="Segoe UI"/>
              </a:rPr>
              <a:t>7/7</a:t>
            </a:r>
          </a:p>
        </p:txBody>
      </p:sp>
      <p:sp>
        <p:nvSpPr>
          <p:cNvPr id="16" name="TextBox 15"/>
          <p:cNvSpPr txBox="1"/>
          <p:nvPr/>
        </p:nvSpPr>
        <p:spPr>
          <a:xfrm>
            <a:off x="8110727" y="5047488"/>
            <a:ext cx="1563624" cy="914400"/>
          </a:xfrm>
          <a:prstGeom prst="rect">
            <a:avLst/>
          </a:prstGeom>
          <a:noFill/>
        </p:spPr>
        <p:txBody>
          <a:bodyPr wrap="square" lIns="36576" rIns="36576" tIns="18288" bIns="18288" anchor="t">
            <a:spAutoFit/>
          </a:bodyPr>
          <a:lstStyle/>
          <a:p>
            <a:pPr algn="ctr">
              <a:lnSpc>
                <a:spcPct val="95000"/>
              </a:lnSpc>
              <a:spcAft>
                <a:spcPts val="0"/>
              </a:spcAft>
            </a:pPr>
            <a:r>
              <a:rPr sz="1800" b="0" i="0">
                <a:solidFill>
                  <a:srgbClr val="374151"/>
                </a:solidFill>
                <a:latin typeface="Segoe UI"/>
              </a:rPr>
              <a:t>frontend tests</a:t>
            </a:r>
          </a:p>
        </p:txBody>
      </p:sp>
      <p:sp>
        <p:nvSpPr>
          <p:cNvPr id="17" name="Rounded Rectangle 16"/>
          <p:cNvSpPr/>
          <p:nvPr/>
        </p:nvSpPr>
        <p:spPr>
          <a:xfrm>
            <a:off x="9921240" y="402336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21240" y="4297680"/>
            <a:ext cx="1783080" cy="731520"/>
          </a:xfrm>
          <a:prstGeom prst="rect">
            <a:avLst/>
          </a:prstGeom>
          <a:noFill/>
        </p:spPr>
        <p:txBody>
          <a:bodyPr wrap="square" lIns="36576" rIns="36576" tIns="18288" bIns="18288" anchor="t">
            <a:spAutoFit/>
          </a:bodyPr>
          <a:lstStyle/>
          <a:p>
            <a:pPr algn="ctr">
              <a:lnSpc>
                <a:spcPct val="100000"/>
              </a:lnSpc>
              <a:spcAft>
                <a:spcPts val="0"/>
              </a:spcAft>
            </a:pPr>
            <a:r>
              <a:rPr sz="3400" b="1" i="0">
                <a:solidFill>
                  <a:srgbClr val="2563EB"/>
                </a:solidFill>
                <a:latin typeface="Segoe UI"/>
              </a:rPr>
              <a:t>0</a:t>
            </a:r>
          </a:p>
        </p:txBody>
      </p:sp>
      <p:sp>
        <p:nvSpPr>
          <p:cNvPr id="19" name="TextBox 18"/>
          <p:cNvSpPr txBox="1"/>
          <p:nvPr/>
        </p:nvSpPr>
        <p:spPr>
          <a:xfrm>
            <a:off x="10030967" y="5047488"/>
            <a:ext cx="1563624" cy="914400"/>
          </a:xfrm>
          <a:prstGeom prst="rect">
            <a:avLst/>
          </a:prstGeom>
          <a:noFill/>
        </p:spPr>
        <p:txBody>
          <a:bodyPr wrap="square" lIns="36576" rIns="36576" tIns="18288" bIns="18288" anchor="t">
            <a:spAutoFit/>
          </a:bodyPr>
          <a:lstStyle/>
          <a:p>
            <a:pPr algn="ctr">
              <a:lnSpc>
                <a:spcPct val="95000"/>
              </a:lnSpc>
              <a:spcAft>
                <a:spcPts val="0"/>
              </a:spcAft>
            </a:pPr>
            <a:r>
              <a:rPr sz="1800" b="0" i="0">
                <a:solidFill>
                  <a:srgbClr val="374151"/>
                </a:solidFill>
                <a:latin typeface="Segoe UI"/>
              </a:rPr>
              <a:t>server errors (5xx)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What GymVerse does not solve yet</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10</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7" name="Rounded Rectangle 6"/>
          <p:cNvSpPr/>
          <p:nvPr/>
        </p:nvSpPr>
        <p:spPr>
          <a:xfrm>
            <a:off x="548640" y="1783080"/>
            <a:ext cx="3520440" cy="192024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02920" cy="50292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6B7280"/>
                </a:solidFill>
                <a:latin typeface="Segoe UI"/>
              </a:rPr>
              <a:t>!</a:t>
            </a:r>
          </a:p>
        </p:txBody>
      </p:sp>
      <p:sp>
        <p:nvSpPr>
          <p:cNvPr id="9" name="TextBox 8"/>
          <p:cNvSpPr txBox="1"/>
          <p:nvPr/>
        </p:nvSpPr>
        <p:spPr>
          <a:xfrm>
            <a:off x="822959" y="2651760"/>
            <a:ext cx="3017520" cy="1005840"/>
          </a:xfrm>
          <a:prstGeom prst="rect">
            <a:avLst/>
          </a:prstGeom>
          <a:noFill/>
        </p:spPr>
        <p:txBody>
          <a:bodyPr wrap="square" lIns="36576" rIns="36576" tIns="18288" bIns="18288" anchor="t">
            <a:spAutoFit/>
          </a:bodyPr>
          <a:lstStyle/>
          <a:p>
            <a:pPr algn="l">
              <a:lnSpc>
                <a:spcPct val="95000"/>
              </a:lnSpc>
              <a:spcAft>
                <a:spcPts val="0"/>
              </a:spcAft>
            </a:pPr>
            <a:r>
              <a:rPr sz="2000" b="0" i="0">
                <a:solidFill>
                  <a:srgbClr val="111827"/>
                </a:solidFill>
                <a:latin typeface="Segoe UI"/>
              </a:rPr>
              <a:t>Two admins can double-book a trainer at the same instant</a:t>
            </a:r>
          </a:p>
        </p:txBody>
      </p:sp>
      <p:sp>
        <p:nvSpPr>
          <p:cNvPr id="10" name="Rounded Rectangle 9"/>
          <p:cNvSpPr/>
          <p:nvPr/>
        </p:nvSpPr>
        <p:spPr>
          <a:xfrm>
            <a:off x="4343400" y="1783080"/>
            <a:ext cx="3520440" cy="192024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17720" y="2057400"/>
            <a:ext cx="502920" cy="50292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6B7280"/>
                </a:solidFill>
                <a:latin typeface="Segoe UI"/>
              </a:rPr>
              <a:t>!</a:t>
            </a:r>
          </a:p>
        </p:txBody>
      </p:sp>
      <p:sp>
        <p:nvSpPr>
          <p:cNvPr id="12" name="TextBox 11"/>
          <p:cNvSpPr txBox="1"/>
          <p:nvPr/>
        </p:nvSpPr>
        <p:spPr>
          <a:xfrm>
            <a:off x="4617720" y="2651760"/>
            <a:ext cx="3017520" cy="1005840"/>
          </a:xfrm>
          <a:prstGeom prst="rect">
            <a:avLst/>
          </a:prstGeom>
          <a:noFill/>
        </p:spPr>
        <p:txBody>
          <a:bodyPr wrap="square" lIns="36576" rIns="36576" tIns="18288" bIns="18288" anchor="t">
            <a:spAutoFit/>
          </a:bodyPr>
          <a:lstStyle/>
          <a:p>
            <a:pPr algn="l">
              <a:lnSpc>
                <a:spcPct val="95000"/>
              </a:lnSpc>
              <a:spcAft>
                <a:spcPts val="0"/>
              </a:spcAft>
            </a:pPr>
            <a:r>
              <a:rPr sz="2000" b="0" i="0">
                <a:solidFill>
                  <a:srgbClr val="111827"/>
                </a:solidFill>
                <a:latin typeface="Segoe UI"/>
              </a:rPr>
              <a:t>Suspended members can still book classes</a:t>
            </a:r>
          </a:p>
        </p:txBody>
      </p:sp>
      <p:sp>
        <p:nvSpPr>
          <p:cNvPr id="13" name="Rounded Rectangle 12"/>
          <p:cNvSpPr/>
          <p:nvPr/>
        </p:nvSpPr>
        <p:spPr>
          <a:xfrm>
            <a:off x="8138160" y="1783080"/>
            <a:ext cx="3520440" cy="192024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412480" y="2057400"/>
            <a:ext cx="502920" cy="50292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6B7280"/>
                </a:solidFill>
                <a:latin typeface="Segoe UI"/>
              </a:rPr>
              <a:t>!</a:t>
            </a:r>
          </a:p>
        </p:txBody>
      </p:sp>
      <p:sp>
        <p:nvSpPr>
          <p:cNvPr id="15" name="TextBox 14"/>
          <p:cNvSpPr txBox="1"/>
          <p:nvPr/>
        </p:nvSpPr>
        <p:spPr>
          <a:xfrm>
            <a:off x="8412480" y="2651760"/>
            <a:ext cx="3017520" cy="1005840"/>
          </a:xfrm>
          <a:prstGeom prst="rect">
            <a:avLst/>
          </a:prstGeom>
          <a:noFill/>
        </p:spPr>
        <p:txBody>
          <a:bodyPr wrap="square" lIns="36576" rIns="36576" tIns="18288" bIns="18288" anchor="t">
            <a:spAutoFit/>
          </a:bodyPr>
          <a:lstStyle/>
          <a:p>
            <a:pPr algn="l">
              <a:lnSpc>
                <a:spcPct val="95000"/>
              </a:lnSpc>
              <a:spcAft>
                <a:spcPts val="0"/>
              </a:spcAft>
            </a:pPr>
            <a:r>
              <a:rPr sz="2000" b="0" i="0">
                <a:solidFill>
                  <a:srgbClr val="111827"/>
                </a:solidFill>
                <a:latin typeface="Segoe UI"/>
              </a:rPr>
              <a:t>Benchmark uses synthetic data on one PC</a:t>
            </a:r>
          </a:p>
        </p:txBody>
      </p:sp>
      <p:sp>
        <p:nvSpPr>
          <p:cNvPr id="16" name="Rounded Rectangle 15"/>
          <p:cNvSpPr/>
          <p:nvPr/>
        </p:nvSpPr>
        <p:spPr>
          <a:xfrm>
            <a:off x="548640" y="3931920"/>
            <a:ext cx="3520440" cy="192024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2959" y="4206240"/>
            <a:ext cx="502920" cy="50292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6B7280"/>
                </a:solidFill>
                <a:latin typeface="Segoe UI"/>
              </a:rPr>
              <a:t>!</a:t>
            </a:r>
          </a:p>
        </p:txBody>
      </p:sp>
      <p:sp>
        <p:nvSpPr>
          <p:cNvPr id="18" name="TextBox 17"/>
          <p:cNvSpPr txBox="1"/>
          <p:nvPr/>
        </p:nvSpPr>
        <p:spPr>
          <a:xfrm>
            <a:off x="822959" y="4800600"/>
            <a:ext cx="3017520" cy="1005840"/>
          </a:xfrm>
          <a:prstGeom prst="rect">
            <a:avLst/>
          </a:prstGeom>
          <a:noFill/>
        </p:spPr>
        <p:txBody>
          <a:bodyPr wrap="square" lIns="36576" rIns="36576" tIns="18288" bIns="18288" anchor="t">
            <a:spAutoFit/>
          </a:bodyPr>
          <a:lstStyle/>
          <a:p>
            <a:pPr algn="l">
              <a:lnSpc>
                <a:spcPct val="95000"/>
              </a:lnSpc>
              <a:spcAft>
                <a:spcPts val="0"/>
              </a:spcAft>
            </a:pPr>
            <a:r>
              <a:rPr sz="2000" b="0" i="0">
                <a:solidFill>
                  <a:srgbClr val="111827"/>
                </a:solidFill>
                <a:latin typeface="Segoe UI"/>
              </a:rPr>
              <a:t>No multi-user load test yet</a:t>
            </a:r>
          </a:p>
        </p:txBody>
      </p:sp>
      <p:sp>
        <p:nvSpPr>
          <p:cNvPr id="19" name="Rounded Rectangle 18"/>
          <p:cNvSpPr/>
          <p:nvPr/>
        </p:nvSpPr>
        <p:spPr>
          <a:xfrm>
            <a:off x="4343400" y="3931920"/>
            <a:ext cx="3520440" cy="192024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617720" y="4206240"/>
            <a:ext cx="502920" cy="50292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6B7280"/>
                </a:solidFill>
                <a:latin typeface="Segoe UI"/>
              </a:rPr>
              <a:t>!</a:t>
            </a:r>
          </a:p>
        </p:txBody>
      </p:sp>
      <p:sp>
        <p:nvSpPr>
          <p:cNvPr id="21" name="TextBox 20"/>
          <p:cNvSpPr txBox="1"/>
          <p:nvPr/>
        </p:nvSpPr>
        <p:spPr>
          <a:xfrm>
            <a:off x="4617720" y="4800600"/>
            <a:ext cx="3017520" cy="1005840"/>
          </a:xfrm>
          <a:prstGeom prst="rect">
            <a:avLst/>
          </a:prstGeom>
          <a:noFill/>
        </p:spPr>
        <p:txBody>
          <a:bodyPr wrap="square" lIns="36576" rIns="36576" tIns="18288" bIns="18288" anchor="t">
            <a:spAutoFit/>
          </a:bodyPr>
          <a:lstStyle/>
          <a:p>
            <a:pPr algn="l">
              <a:lnSpc>
                <a:spcPct val="95000"/>
              </a:lnSpc>
              <a:spcAft>
                <a:spcPts val="0"/>
              </a:spcAft>
            </a:pPr>
            <a:r>
              <a:rPr sz="2000" b="0" i="0">
                <a:solidFill>
                  <a:srgbClr val="111827"/>
                </a:solidFill>
                <a:latin typeface="Segoe UI"/>
              </a:rPr>
              <a:t>Progress, diet and equipment tables have no screens</a:t>
            </a:r>
          </a:p>
        </p:txBody>
      </p:sp>
      <p:sp>
        <p:nvSpPr>
          <p:cNvPr id="22" name="Rounded Rectangle 21"/>
          <p:cNvSpPr/>
          <p:nvPr/>
        </p:nvSpPr>
        <p:spPr>
          <a:xfrm>
            <a:off x="8138160" y="3931920"/>
            <a:ext cx="3520440" cy="192024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412480" y="4206240"/>
            <a:ext cx="502920" cy="50292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6B7280"/>
                </a:solidFill>
                <a:latin typeface="Segoe UI"/>
              </a:rPr>
              <a:t>!</a:t>
            </a:r>
          </a:p>
        </p:txBody>
      </p:sp>
      <p:sp>
        <p:nvSpPr>
          <p:cNvPr id="24" name="TextBox 23"/>
          <p:cNvSpPr txBox="1"/>
          <p:nvPr/>
        </p:nvSpPr>
        <p:spPr>
          <a:xfrm>
            <a:off x="8412480" y="4800600"/>
            <a:ext cx="3017520" cy="1005840"/>
          </a:xfrm>
          <a:prstGeom prst="rect">
            <a:avLst/>
          </a:prstGeom>
          <a:noFill/>
        </p:spPr>
        <p:txBody>
          <a:bodyPr wrap="square" lIns="36576" rIns="36576" tIns="18288" bIns="18288" anchor="t">
            <a:spAutoFit/>
          </a:bodyPr>
          <a:lstStyle/>
          <a:p>
            <a:pPr algn="l">
              <a:lnSpc>
                <a:spcPct val="95000"/>
              </a:lnSpc>
              <a:spcAft>
                <a:spcPts val="0"/>
              </a:spcAft>
            </a:pPr>
            <a:r>
              <a:rPr sz="2000" b="0" i="0">
                <a:solidFill>
                  <a:srgbClr val="111827"/>
                </a:solidFill>
                <a:latin typeface="Segoe UI"/>
              </a:rPr>
              <a:t>AI replies depend on free-tier model quotas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Documented and reproducible in three commands</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563EB"/>
                </a:solidFill>
                <a:latin typeface="Segoe UI"/>
              </a:rPr>
              <a:t>Dissemination</a:t>
            </a:r>
          </a:p>
        </p:txBody>
      </p:sp>
      <p:sp>
        <p:nvSpPr>
          <p:cNvPr id="5" name="TextBox 4"/>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11</a:t>
            </a:r>
          </a:p>
        </p:txBody>
      </p:sp>
      <p:sp>
        <p:nvSpPr>
          <p:cNvPr id="6" name="TextBox 5"/>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7" name="TextBox 6"/>
          <p:cNvSpPr txBox="1"/>
          <p:nvPr/>
        </p:nvSpPr>
        <p:spPr>
          <a:xfrm>
            <a:off x="548640" y="1783080"/>
            <a:ext cx="576072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6B7280"/>
                </a:solidFill>
                <a:latin typeface="Segoe UI"/>
              </a:rPr>
              <a:t>Code</a:t>
            </a:r>
          </a:p>
        </p:txBody>
      </p:sp>
      <p:sp>
        <p:nvSpPr>
          <p:cNvPr id="8" name="TextBox 7"/>
          <p:cNvSpPr txBox="1"/>
          <p:nvPr/>
        </p:nvSpPr>
        <p:spPr>
          <a:xfrm>
            <a:off x="548640" y="2167128"/>
            <a:ext cx="5760720" cy="64008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[ADD REPO LINK AFTER PUSHING CODE]</a:t>
            </a:r>
          </a:p>
        </p:txBody>
      </p:sp>
      <p:sp>
        <p:nvSpPr>
          <p:cNvPr id="9" name="TextBox 8"/>
          <p:cNvSpPr txBox="1"/>
          <p:nvPr/>
        </p:nvSpPr>
        <p:spPr>
          <a:xfrm>
            <a:off x="548640" y="2862072"/>
            <a:ext cx="576072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6B7280"/>
                </a:solidFill>
                <a:latin typeface="Segoe UI"/>
              </a:rPr>
              <a:t>Documentation</a:t>
            </a:r>
          </a:p>
        </p:txBody>
      </p:sp>
      <p:sp>
        <p:nvSpPr>
          <p:cNvPr id="10" name="TextBox 9"/>
          <p:cNvSpPr txBox="1"/>
          <p:nvPr/>
        </p:nvSpPr>
        <p:spPr>
          <a:xfrm>
            <a:off x="548640" y="3246120"/>
            <a:ext cx="5760720" cy="64008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PROJECT_GUIDE.md · API docs at /api-docs</a:t>
            </a:r>
          </a:p>
        </p:txBody>
      </p:sp>
      <p:sp>
        <p:nvSpPr>
          <p:cNvPr id="11" name="TextBox 10"/>
          <p:cNvSpPr txBox="1"/>
          <p:nvPr/>
        </p:nvSpPr>
        <p:spPr>
          <a:xfrm>
            <a:off x="548640" y="3941063"/>
            <a:ext cx="576072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6B7280"/>
                </a:solidFill>
                <a:latin typeface="Segoe UI"/>
              </a:rPr>
              <a:t>Licence</a:t>
            </a:r>
          </a:p>
        </p:txBody>
      </p:sp>
      <p:sp>
        <p:nvSpPr>
          <p:cNvPr id="12" name="TextBox 11"/>
          <p:cNvSpPr txBox="1"/>
          <p:nvPr/>
        </p:nvSpPr>
        <p:spPr>
          <a:xfrm>
            <a:off x="548640" y="4325112"/>
            <a:ext cx="5760720" cy="64008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[ADD LICENSE]</a:t>
            </a:r>
          </a:p>
        </p:txBody>
      </p:sp>
      <p:sp>
        <p:nvSpPr>
          <p:cNvPr id="13" name="TextBox 12"/>
          <p:cNvSpPr txBox="1"/>
          <p:nvPr/>
        </p:nvSpPr>
        <p:spPr>
          <a:xfrm>
            <a:off x="548640" y="5020056"/>
            <a:ext cx="5760720" cy="41148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6B7280"/>
                </a:solidFill>
                <a:latin typeface="Segoe UI"/>
              </a:rPr>
              <a:t>Paper · demo · talks</a:t>
            </a:r>
          </a:p>
        </p:txBody>
      </p:sp>
      <p:sp>
        <p:nvSpPr>
          <p:cNvPr id="14" name="TextBox 13"/>
          <p:cNvSpPr txBox="1"/>
          <p:nvPr/>
        </p:nvSpPr>
        <p:spPr>
          <a:xfrm>
            <a:off x="548640" y="5404104"/>
            <a:ext cx="5760720" cy="64008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111827"/>
                </a:solidFill>
                <a:latin typeface="Segoe UI"/>
              </a:rPr>
              <a:t>[ADD PAPER/DEMO LINK] · [ADD TALKS]</a:t>
            </a:r>
          </a:p>
        </p:txBody>
      </p:sp>
      <p:sp>
        <p:nvSpPr>
          <p:cNvPr id="15" name="Rounded Rectangle 14"/>
          <p:cNvSpPr/>
          <p:nvPr/>
        </p:nvSpPr>
        <p:spPr>
          <a:xfrm>
            <a:off x="6675120" y="1783080"/>
            <a:ext cx="4983480" cy="2697480"/>
          </a:xfrm>
          <a:prstGeom prst="roundRect">
            <a:avLst>
              <a:gd name="adj" fmla="val 5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949440" y="1938528"/>
            <a:ext cx="448056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FFFFFF"/>
                </a:solidFill>
                <a:latin typeface="Segoe UI"/>
              </a:rPr>
              <a:t>Reproduce (backend)</a:t>
            </a:r>
          </a:p>
        </p:txBody>
      </p:sp>
      <p:sp>
        <p:nvSpPr>
          <p:cNvPr id="17" name="TextBox 16"/>
          <p:cNvSpPr txBox="1"/>
          <p:nvPr/>
        </p:nvSpPr>
        <p:spPr>
          <a:xfrm>
            <a:off x="6949440" y="2514600"/>
            <a:ext cx="365760" cy="45720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9CA3AF"/>
                </a:solidFill>
                <a:latin typeface="Segoe UI"/>
              </a:rPr>
              <a:t>1</a:t>
            </a:r>
          </a:p>
        </p:txBody>
      </p:sp>
      <p:sp>
        <p:nvSpPr>
          <p:cNvPr id="18" name="TextBox 17"/>
          <p:cNvSpPr txBox="1"/>
          <p:nvPr/>
        </p:nvSpPr>
        <p:spPr>
          <a:xfrm>
            <a:off x="7315200" y="2514600"/>
            <a:ext cx="4206240" cy="4572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FFFFFF"/>
                </a:solidFill>
                <a:latin typeface="Consolas"/>
              </a:rPr>
              <a:t>npm install</a:t>
            </a:r>
          </a:p>
        </p:txBody>
      </p:sp>
      <p:sp>
        <p:nvSpPr>
          <p:cNvPr id="19" name="TextBox 18"/>
          <p:cNvSpPr txBox="1"/>
          <p:nvPr/>
        </p:nvSpPr>
        <p:spPr>
          <a:xfrm>
            <a:off x="6949440" y="3118104"/>
            <a:ext cx="365760" cy="45720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9CA3AF"/>
                </a:solidFill>
                <a:latin typeface="Segoe UI"/>
              </a:rPr>
              <a:t>2</a:t>
            </a:r>
          </a:p>
        </p:txBody>
      </p:sp>
      <p:sp>
        <p:nvSpPr>
          <p:cNvPr id="20" name="TextBox 19"/>
          <p:cNvSpPr txBox="1"/>
          <p:nvPr/>
        </p:nvSpPr>
        <p:spPr>
          <a:xfrm>
            <a:off x="7315200" y="3118104"/>
            <a:ext cx="4206240" cy="4572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FFFFFF"/>
                </a:solidFill>
                <a:latin typeface="Consolas"/>
              </a:rPr>
              <a:t>npm run migrate &amp;&amp; npm run seed</a:t>
            </a:r>
          </a:p>
        </p:txBody>
      </p:sp>
      <p:sp>
        <p:nvSpPr>
          <p:cNvPr id="21" name="TextBox 20"/>
          <p:cNvSpPr txBox="1"/>
          <p:nvPr/>
        </p:nvSpPr>
        <p:spPr>
          <a:xfrm>
            <a:off x="6949440" y="3721608"/>
            <a:ext cx="365760" cy="45720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9CA3AF"/>
                </a:solidFill>
                <a:latin typeface="Segoe UI"/>
              </a:rPr>
              <a:t>3</a:t>
            </a:r>
          </a:p>
        </p:txBody>
      </p:sp>
      <p:sp>
        <p:nvSpPr>
          <p:cNvPr id="22" name="TextBox 21"/>
          <p:cNvSpPr txBox="1"/>
          <p:nvPr/>
        </p:nvSpPr>
        <p:spPr>
          <a:xfrm>
            <a:off x="7315200" y="3721608"/>
            <a:ext cx="4206240" cy="4572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FFFFFF"/>
                </a:solidFill>
                <a:latin typeface="Consolas"/>
              </a:rPr>
              <a:t>npm run dev</a:t>
            </a:r>
          </a:p>
        </p:txBody>
      </p:sp>
      <p:sp>
        <p:nvSpPr>
          <p:cNvPr id="23" name="Rounded Rectangle 22"/>
          <p:cNvSpPr/>
          <p:nvPr/>
        </p:nvSpPr>
        <p:spPr>
          <a:xfrm>
            <a:off x="6675120" y="4663440"/>
            <a:ext cx="1463040" cy="1463040"/>
          </a:xfrm>
          <a:prstGeom prst="roundRect">
            <a:avLst>
              <a:gd name="adj" fmla="val 4000"/>
            </a:avLst>
          </a:prstGeom>
          <a:solidFill>
            <a:srgbClr val="F3F4F6"/>
          </a:solidFill>
          <a:ln w="15875">
            <a:solidFill>
              <a:srgbClr val="9CA3A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11827"/>
                </a:solidFill>
                <a:latin typeface="Segoe UI"/>
              </a:rPr>
              <a:t>[ADD QR]</a:t>
            </a:r>
          </a:p>
        </p:txBody>
      </p:sp>
      <p:sp>
        <p:nvSpPr>
          <p:cNvPr id="24" name="TextBox 23"/>
          <p:cNvSpPr txBox="1"/>
          <p:nvPr/>
        </p:nvSpPr>
        <p:spPr>
          <a:xfrm>
            <a:off x="8366760" y="4754880"/>
            <a:ext cx="3291840" cy="457200"/>
          </a:xfrm>
          <a:prstGeom prst="rect">
            <a:avLst/>
          </a:prstGeom>
          <a:noFill/>
        </p:spPr>
        <p:txBody>
          <a:bodyPr wrap="square" lIns="36576" rIns="36576" tIns="18288" bIns="18288" anchor="t">
            <a:spAutoFit/>
          </a:bodyPr>
          <a:lstStyle/>
          <a:p>
            <a:pPr algn="l">
              <a:lnSpc>
                <a:spcPct val="100000"/>
              </a:lnSpc>
              <a:spcAft>
                <a:spcPts val="0"/>
              </a:spcAft>
            </a:pPr>
            <a:r>
              <a:rPr sz="1800" b="1" i="0">
                <a:solidFill>
                  <a:srgbClr val="6B7280"/>
                </a:solidFill>
                <a:latin typeface="Segoe UI"/>
              </a:rPr>
              <a:t>Verify on a fresh DB:</a:t>
            </a:r>
          </a:p>
        </p:txBody>
      </p:sp>
      <p:sp>
        <p:nvSpPr>
          <p:cNvPr id="25" name="TextBox 24"/>
          <p:cNvSpPr txBox="1"/>
          <p:nvPr/>
        </p:nvSpPr>
        <p:spPr>
          <a:xfrm>
            <a:off x="8366760" y="5212080"/>
            <a:ext cx="3291840" cy="457200"/>
          </a:xfrm>
          <a:prstGeom prst="rect">
            <a:avLst/>
          </a:prstGeom>
          <a:noFill/>
        </p:spPr>
        <p:txBody>
          <a:bodyPr wrap="square" lIns="36576" rIns="36576" tIns="18288" bIns="18288" anchor="t">
            <a:spAutoFit/>
          </a:bodyPr>
          <a:lstStyle/>
          <a:p>
            <a:pPr algn="l">
              <a:lnSpc>
                <a:spcPct val="100000"/>
              </a:lnSpc>
              <a:spcAft>
                <a:spcPts val="0"/>
              </a:spcAft>
            </a:pPr>
            <a:r>
              <a:rPr sz="1800" b="0" i="0">
                <a:solidFill>
                  <a:srgbClr val="111827"/>
                </a:solidFill>
                <a:latin typeface="Consolas"/>
              </a:rPr>
              <a:t>node verify_stack.js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GymVerse keeps gym data correct, private and fast</a:t>
            </a:r>
          </a:p>
        </p:txBody>
      </p:sp>
      <p:sp>
        <p:nvSpPr>
          <p:cNvPr id="4" name="TextBox 3"/>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12</a:t>
            </a:r>
          </a:p>
        </p:txBody>
      </p:sp>
      <p:sp>
        <p:nvSpPr>
          <p:cNvPr id="5" name="TextBox 4"/>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6" name="Oval 5"/>
          <p:cNvSpPr/>
          <p:nvPr/>
        </p:nvSpPr>
        <p:spPr>
          <a:xfrm>
            <a:off x="548640" y="1783080"/>
            <a:ext cx="731520" cy="7315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Segoe UI"/>
              </a:rPr>
              <a:t>1</a:t>
            </a:r>
          </a:p>
        </p:txBody>
      </p:sp>
      <p:sp>
        <p:nvSpPr>
          <p:cNvPr id="7" name="TextBox 6"/>
          <p:cNvSpPr txBox="1"/>
          <p:nvPr/>
        </p:nvSpPr>
        <p:spPr>
          <a:xfrm>
            <a:off x="1508760" y="1874519"/>
            <a:ext cx="9966960" cy="640080"/>
          </a:xfrm>
          <a:prstGeom prst="rect">
            <a:avLst/>
          </a:prstGeom>
          <a:noFill/>
        </p:spPr>
        <p:txBody>
          <a:bodyPr wrap="square" lIns="36576" rIns="36576" tIns="18288" bIns="18288" anchor="t">
            <a:spAutoFit/>
          </a:bodyPr>
          <a:lstStyle/>
          <a:p>
            <a:pPr algn="l">
              <a:lnSpc>
                <a:spcPct val="100000"/>
              </a:lnSpc>
              <a:spcAft>
                <a:spcPts val="0"/>
              </a:spcAft>
            </a:pPr>
            <a:r>
              <a:rPr sz="2600" b="1" i="0">
                <a:solidFill>
                  <a:srgbClr val="111827"/>
                </a:solidFill>
                <a:latin typeface="Segoe UI"/>
              </a:rPr>
              <a:t>Integrity lives in the database, not the screens</a:t>
            </a:r>
          </a:p>
        </p:txBody>
      </p:sp>
      <p:sp>
        <p:nvSpPr>
          <p:cNvPr id="8" name="Oval 7"/>
          <p:cNvSpPr/>
          <p:nvPr/>
        </p:nvSpPr>
        <p:spPr>
          <a:xfrm>
            <a:off x="548640" y="2880360"/>
            <a:ext cx="731520" cy="7315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Segoe UI"/>
              </a:rPr>
              <a:t>2</a:t>
            </a:r>
          </a:p>
        </p:txBody>
      </p:sp>
      <p:sp>
        <p:nvSpPr>
          <p:cNvPr id="9" name="TextBox 8"/>
          <p:cNvSpPr txBox="1"/>
          <p:nvPr/>
        </p:nvSpPr>
        <p:spPr>
          <a:xfrm>
            <a:off x="1508760" y="2971800"/>
            <a:ext cx="9966960" cy="640080"/>
          </a:xfrm>
          <a:prstGeom prst="rect">
            <a:avLst/>
          </a:prstGeom>
          <a:noFill/>
        </p:spPr>
        <p:txBody>
          <a:bodyPr wrap="square" lIns="36576" rIns="36576" tIns="18288" bIns="18288" anchor="t">
            <a:spAutoFit/>
          </a:bodyPr>
          <a:lstStyle/>
          <a:p>
            <a:pPr algn="l">
              <a:lnSpc>
                <a:spcPct val="100000"/>
              </a:lnSpc>
              <a:spcAft>
                <a:spcPts val="0"/>
              </a:spcAft>
            </a:pPr>
            <a:r>
              <a:rPr sz="2600" b="1" i="0">
                <a:solidFill>
                  <a:srgbClr val="111827"/>
                </a:solidFill>
                <a:latin typeface="Segoe UI"/>
              </a:rPr>
              <a:t>Every record is checked against who is asking</a:t>
            </a:r>
          </a:p>
        </p:txBody>
      </p:sp>
      <p:sp>
        <p:nvSpPr>
          <p:cNvPr id="10" name="Oval 9"/>
          <p:cNvSpPr/>
          <p:nvPr/>
        </p:nvSpPr>
        <p:spPr>
          <a:xfrm>
            <a:off x="548640" y="3977639"/>
            <a:ext cx="731520" cy="7315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Segoe UI"/>
              </a:rPr>
              <a:t>3</a:t>
            </a:r>
          </a:p>
        </p:txBody>
      </p:sp>
      <p:sp>
        <p:nvSpPr>
          <p:cNvPr id="11" name="TextBox 10"/>
          <p:cNvSpPr txBox="1"/>
          <p:nvPr/>
        </p:nvSpPr>
        <p:spPr>
          <a:xfrm>
            <a:off x="1508760" y="4069079"/>
            <a:ext cx="9966960" cy="640080"/>
          </a:xfrm>
          <a:prstGeom prst="rect">
            <a:avLst/>
          </a:prstGeom>
          <a:noFill/>
        </p:spPr>
        <p:txBody>
          <a:bodyPr wrap="square" lIns="36576" rIns="36576" tIns="18288" bIns="18288" anchor="t">
            <a:spAutoFit/>
          </a:bodyPr>
          <a:lstStyle/>
          <a:p>
            <a:pPr algn="l">
              <a:lnSpc>
                <a:spcPct val="100000"/>
              </a:lnSpc>
              <a:spcAft>
                <a:spcPts val="0"/>
              </a:spcAft>
            </a:pPr>
            <a:r>
              <a:rPr sz="2600" b="1" i="0">
                <a:solidFill>
                  <a:srgbClr val="111827"/>
                </a:solidFill>
                <a:latin typeface="Segoe UI"/>
              </a:rPr>
              <a:t>The right indexes made key queries up to 81× faster</a:t>
            </a:r>
          </a:p>
        </p:txBody>
      </p:sp>
      <p:sp>
        <p:nvSpPr>
          <p:cNvPr id="12" name="Rounded Rectangle 11"/>
          <p:cNvSpPr/>
          <p:nvPr/>
        </p:nvSpPr>
        <p:spPr>
          <a:xfrm>
            <a:off x="548640" y="5212080"/>
            <a:ext cx="11064240" cy="82296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5330952"/>
            <a:ext cx="10607040" cy="594360"/>
          </a:xfrm>
          <a:prstGeom prst="rect">
            <a:avLst/>
          </a:prstGeom>
          <a:noFill/>
        </p:spPr>
        <p:txBody>
          <a:bodyPr wrap="square" lIns="36576" rIns="36576" tIns="18288" bIns="18288" anchor="ctr">
            <a:spAutoFit/>
          </a:bodyPr>
          <a:lstStyle/>
          <a:p>
            <a:pPr algn="l">
              <a:lnSpc>
                <a:spcPct val="100000"/>
              </a:lnSpc>
              <a:spcAft>
                <a:spcPts val="0"/>
              </a:spcAft>
            </a:pPr>
            <a:r>
              <a:rPr sz="2000" b="0" i="0">
                <a:solidFill>
                  <a:srgbClr val="374151"/>
                </a:solidFill>
                <a:latin typeface="Segoe UI"/>
              </a:rPr>
              <a:t>Next: database-level double-booking guard · multi-branch support · load testing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418320" cy="1143000"/>
          </a:xfrm>
          <a:prstGeom prst="rect">
            <a:avLst/>
          </a:prstGeom>
          <a:noFill/>
        </p:spPr>
        <p:txBody>
          <a:bodyPr wrap="square" lIns="36576" rIns="36576" tIns="18288" bIns="18288" anchor="t">
            <a:spAutoFit/>
          </a:bodyPr>
          <a:lstStyle/>
          <a:p>
            <a:pPr algn="l">
              <a:lnSpc>
                <a:spcPct val="95000"/>
              </a:lnSpc>
              <a:spcAft>
                <a:spcPts val="0"/>
              </a:spcAft>
            </a:pPr>
            <a:r>
              <a:rPr sz="3400" b="1" i="0">
                <a:solidFill>
                  <a:srgbClr val="111827"/>
                </a:solidFill>
                <a:latin typeface="Segoe UI"/>
              </a:rPr>
              <a:t>Thank you — questions?</a:t>
            </a:r>
          </a:p>
        </p:txBody>
      </p:sp>
      <p:sp>
        <p:nvSpPr>
          <p:cNvPr id="4" name="TextBox 3"/>
          <p:cNvSpPr txBox="1"/>
          <p:nvPr/>
        </p:nvSpPr>
        <p:spPr>
          <a:xfrm>
            <a:off x="11155680" y="6355080"/>
            <a:ext cx="640080" cy="365760"/>
          </a:xfrm>
          <a:prstGeom prst="rect">
            <a:avLst/>
          </a:prstGeom>
          <a:noFill/>
        </p:spPr>
        <p:txBody>
          <a:bodyPr wrap="square" lIns="36576" rIns="36576" tIns="18288" bIns="18288" anchor="t">
            <a:spAutoFit/>
          </a:bodyPr>
          <a:lstStyle/>
          <a:p>
            <a:pPr algn="r">
              <a:lnSpc>
                <a:spcPct val="100000"/>
              </a:lnSpc>
              <a:spcAft>
                <a:spcPts val="0"/>
              </a:spcAft>
            </a:pPr>
            <a:r>
              <a:rPr sz="1400" b="0" i="0">
                <a:solidFill>
                  <a:srgbClr val="6B7280"/>
                </a:solidFill>
                <a:latin typeface="Segoe UI"/>
              </a:rPr>
              <a:t>13</a:t>
            </a:r>
          </a:p>
        </p:txBody>
      </p:sp>
      <p:sp>
        <p:nvSpPr>
          <p:cNvPr id="5" name="TextBox 4"/>
          <p:cNvSpPr txBox="1"/>
          <p:nvPr/>
        </p:nvSpPr>
        <p:spPr>
          <a:xfrm>
            <a:off x="548640" y="6355080"/>
            <a:ext cx="3657600" cy="365760"/>
          </a:xfrm>
          <a:prstGeom prst="rect">
            <a:avLst/>
          </a:prstGeom>
          <a:noFill/>
        </p:spPr>
        <p:txBody>
          <a:bodyPr wrap="square" lIns="36576" rIns="36576" tIns="18288" bIns="18288" anchor="t">
            <a:spAutoFit/>
          </a:bodyPr>
          <a:lstStyle/>
          <a:p>
            <a:pPr algn="l">
              <a:lnSpc>
                <a:spcPct val="100000"/>
              </a:lnSpc>
              <a:spcAft>
                <a:spcPts val="0"/>
              </a:spcAft>
            </a:pPr>
            <a:r>
              <a:rPr sz="1400" b="0" i="0">
                <a:solidFill>
                  <a:srgbClr val="6B7280"/>
                </a:solidFill>
                <a:latin typeface="Segoe UI"/>
              </a:rPr>
              <a:t>GymVerse · DBMS Mini Project</a:t>
            </a:r>
          </a:p>
        </p:txBody>
      </p:sp>
      <p:sp>
        <p:nvSpPr>
          <p:cNvPr id="6" name="TextBox 5"/>
          <p:cNvSpPr txBox="1"/>
          <p:nvPr/>
        </p:nvSpPr>
        <p:spPr>
          <a:xfrm>
            <a:off x="548640" y="1783080"/>
            <a:ext cx="640080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6B7280"/>
                </a:solidFill>
                <a:latin typeface="Segoe UI"/>
              </a:rPr>
              <a:t>Team</a:t>
            </a:r>
          </a:p>
        </p:txBody>
      </p:sp>
      <p:sp>
        <p:nvSpPr>
          <p:cNvPr id="7" name="TextBox 6"/>
          <p:cNvSpPr txBox="1"/>
          <p:nvPr/>
        </p:nvSpPr>
        <p:spPr>
          <a:xfrm>
            <a:off x="548640" y="2286000"/>
            <a:ext cx="6583680" cy="5029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NYASHADAM SRIKAR  ·  2510030006</a:t>
            </a:r>
          </a:p>
        </p:txBody>
      </p:sp>
      <p:sp>
        <p:nvSpPr>
          <p:cNvPr id="8" name="TextBox 7"/>
          <p:cNvSpPr txBox="1"/>
          <p:nvPr/>
        </p:nvSpPr>
        <p:spPr>
          <a:xfrm>
            <a:off x="548640" y="2852928"/>
            <a:ext cx="6583680" cy="5029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MALLALA SRI CHARAN  ·  2510030246</a:t>
            </a:r>
          </a:p>
        </p:txBody>
      </p:sp>
      <p:sp>
        <p:nvSpPr>
          <p:cNvPr id="9" name="TextBox 8"/>
          <p:cNvSpPr txBox="1"/>
          <p:nvPr/>
        </p:nvSpPr>
        <p:spPr>
          <a:xfrm>
            <a:off x="548640" y="3419856"/>
            <a:ext cx="6583680" cy="5029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YOGENDRA UNGARALA  ·  2510030147</a:t>
            </a:r>
          </a:p>
        </p:txBody>
      </p:sp>
      <p:sp>
        <p:nvSpPr>
          <p:cNvPr id="10" name="TextBox 9"/>
          <p:cNvSpPr txBox="1"/>
          <p:nvPr/>
        </p:nvSpPr>
        <p:spPr>
          <a:xfrm>
            <a:off x="548640" y="3986783"/>
            <a:ext cx="6583680" cy="502920"/>
          </a:xfrm>
          <a:prstGeom prst="rect">
            <a:avLst/>
          </a:prstGeom>
          <a:noFill/>
        </p:spPr>
        <p:txBody>
          <a:bodyPr wrap="square" lIns="36576" rIns="36576" tIns="18288" bIns="18288" anchor="t">
            <a:spAutoFit/>
          </a:bodyPr>
          <a:lstStyle/>
          <a:p>
            <a:pPr algn="l">
              <a:lnSpc>
                <a:spcPct val="100000"/>
              </a:lnSpc>
              <a:spcAft>
                <a:spcPts val="0"/>
              </a:spcAft>
            </a:pPr>
            <a:r>
              <a:rPr sz="2000" b="0" i="0">
                <a:solidFill>
                  <a:srgbClr val="111827"/>
                </a:solidFill>
                <a:latin typeface="Segoe UI"/>
              </a:rPr>
              <a:t>GORANTAL PRANAV  ·  2510030008</a:t>
            </a:r>
          </a:p>
        </p:txBody>
      </p:sp>
      <p:sp>
        <p:nvSpPr>
          <p:cNvPr id="11" name="TextBox 10"/>
          <p:cNvSpPr txBox="1"/>
          <p:nvPr/>
        </p:nvSpPr>
        <p:spPr>
          <a:xfrm>
            <a:off x="548640" y="4754880"/>
            <a:ext cx="6400800" cy="457200"/>
          </a:xfrm>
          <a:prstGeom prst="rect">
            <a:avLst/>
          </a:prstGeom>
          <a:noFill/>
        </p:spPr>
        <p:txBody>
          <a:bodyPr wrap="square" lIns="36576" rIns="36576" tIns="18288" bIns="18288" anchor="t">
            <a:spAutoFit/>
          </a:bodyPr>
          <a:lstStyle/>
          <a:p>
            <a:pPr algn="l">
              <a:lnSpc>
                <a:spcPct val="100000"/>
              </a:lnSpc>
              <a:spcAft>
                <a:spcPts val="0"/>
              </a:spcAft>
            </a:pPr>
            <a:r>
              <a:rPr sz="2000" b="1" i="0">
                <a:solidFill>
                  <a:srgbClr val="6B7280"/>
                </a:solidFill>
                <a:latin typeface="Segoe UI"/>
              </a:rPr>
              <a:t>Contact</a:t>
            </a:r>
          </a:p>
        </p:txBody>
      </p:sp>
      <p:sp>
        <p:nvSpPr>
          <p:cNvPr id="12" name="TextBox 11"/>
          <p:cNvSpPr txBox="1"/>
          <p:nvPr/>
        </p:nvSpPr>
        <p:spPr>
          <a:xfrm>
            <a:off x="548640" y="5212080"/>
            <a:ext cx="6583680" cy="502920"/>
          </a:xfrm>
          <a:prstGeom prst="rect">
            <a:avLst/>
          </a:prstGeom>
          <a:noFill/>
        </p:spPr>
        <p:txBody>
          <a:bodyPr wrap="square" lIns="36576" rIns="36576" tIns="18288" bIns="18288" anchor="t">
            <a:spAutoFit/>
          </a:bodyPr>
          <a:lstStyle/>
          <a:p>
            <a:pPr algn="l">
              <a:lnSpc>
                <a:spcPct val="100000"/>
              </a:lnSpc>
              <a:spcAft>
                <a:spcPts val="0"/>
              </a:spcAft>
            </a:pPr>
            <a:r>
              <a:rPr sz="2200" b="1" i="0">
                <a:solidFill>
                  <a:srgbClr val="111827"/>
                </a:solidFill>
                <a:latin typeface="Segoe UI"/>
              </a:rPr>
              <a:t>[ADD EMAIL]</a:t>
            </a:r>
          </a:p>
        </p:txBody>
      </p:sp>
      <p:sp>
        <p:nvSpPr>
          <p:cNvPr id="13" name="Rounded Rectangle 12"/>
          <p:cNvSpPr/>
          <p:nvPr/>
        </p:nvSpPr>
        <p:spPr>
          <a:xfrm>
            <a:off x="8412480" y="1828800"/>
            <a:ext cx="3017520" cy="3017520"/>
          </a:xfrm>
          <a:prstGeom prst="roundRect">
            <a:avLst>
              <a:gd name="adj" fmla="val 4000"/>
            </a:avLst>
          </a:prstGeom>
          <a:solidFill>
            <a:srgbClr val="F3F4F6"/>
          </a:solidFill>
          <a:ln w="15875">
            <a:solidFill>
              <a:srgbClr val="9CA3A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111827"/>
                </a:solidFill>
                <a:latin typeface="Segoe UI"/>
              </a:rPr>
              <a:t>[ADD QR AFTER PUSHING CODE]</a:t>
            </a:r>
          </a:p>
        </p:txBody>
      </p:sp>
      <p:sp>
        <p:nvSpPr>
          <p:cNvPr id="14" name="TextBox 13"/>
          <p:cNvSpPr txBox="1"/>
          <p:nvPr/>
        </p:nvSpPr>
        <p:spPr>
          <a:xfrm>
            <a:off x="8412480" y="4983480"/>
            <a:ext cx="3017520" cy="457200"/>
          </a:xfrm>
          <a:prstGeom prst="rect">
            <a:avLst/>
          </a:prstGeom>
          <a:noFill/>
        </p:spPr>
        <p:txBody>
          <a:bodyPr wrap="square" lIns="36576" rIns="36576" tIns="18288" bIns="18288" anchor="t">
            <a:spAutoFit/>
          </a:bodyPr>
          <a:lstStyle/>
          <a:p>
            <a:pPr algn="ctr">
              <a:lnSpc>
                <a:spcPct val="100000"/>
              </a:lnSpc>
              <a:spcAft>
                <a:spcPts val="0"/>
              </a:spcAft>
            </a:pPr>
            <a:r>
              <a:rPr sz="1800" b="0" i="0">
                <a:solidFill>
                  <a:srgbClr val="6B7280"/>
                </a:solidFill>
                <a:latin typeface="Segoe UI"/>
              </a:rPr>
              <a:t>Code &amp;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