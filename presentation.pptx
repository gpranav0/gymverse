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harts/chart1.xml" ContentType="application/vnd.openxmlformats-officedocument.drawingml.chart+xml"/>
  <Override PartName="/ppt/notesSlides/notesSlide7.xml" ContentType="application/vnd.openxmlformats-officedocument.presentationml.notesSlide+xml"/>
  <Override PartName="/ppt/charts/chart2.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84" d="100"/>
          <a:sy n="84" d="100"/>
        </p:scale>
        <p:origin x="629" y="7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col"/>
        <c:grouping val="clustered"/>
        <c:varyColors val="1"/>
        <c:ser>
          <c:idx val="0"/>
          <c:order val="0"/>
          <c:tx>
            <c:strRef>
              <c:f>Sheet1!$B$1</c:f>
              <c:strCache>
                <c:ptCount val="1"/>
                <c:pt idx="0">
                  <c:v>No indexes</c:v>
                </c:pt>
              </c:strCache>
            </c:strRef>
          </c:tx>
          <c:spPr>
            <a:solidFill>
              <a:srgbClr val="D1D5DB"/>
            </a:solidFill>
            <a:ln>
              <a:noFill/>
            </a:ln>
          </c:spPr>
          <c:invertIfNegative val="1"/>
          <c:cat>
            <c:strRef>
              <c:f>Sheet1!$A$2:$A$5</c:f>
              <c:strCache>
                <c:ptCount val="4"/>
                <c:pt idx="0">
                  <c:v>Payment history</c:v>
                </c:pt>
                <c:pt idx="1">
                  <c:v>Subscriptions list</c:v>
                </c:pt>
                <c:pt idx="2">
                  <c:v>Attendance log</c:v>
                </c:pt>
                <c:pt idx="3">
                  <c:v>Member search</c:v>
                </c:pt>
              </c:strCache>
            </c:strRef>
          </c:cat>
          <c:val>
            <c:numRef>
              <c:f>Sheet1!$B$2:$B$5</c:f>
              <c:numCache>
                <c:formatCode>General</c:formatCode>
                <c:ptCount val="4"/>
                <c:pt idx="0">
                  <c:v>99.052000000000007</c:v>
                </c:pt>
                <c:pt idx="1">
                  <c:v>170.56100000000001</c:v>
                </c:pt>
                <c:pt idx="2">
                  <c:v>277.291</c:v>
                </c:pt>
                <c:pt idx="3">
                  <c:v>214.88399999999999</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1959-4931-8849-28F0D312239D}"/>
            </c:ext>
          </c:extLst>
        </c:ser>
        <c:ser>
          <c:idx val="1"/>
          <c:order val="1"/>
          <c:tx>
            <c:strRef>
              <c:f>Sheet1!$C$1</c:f>
              <c:strCache>
                <c:ptCount val="1"/>
                <c:pt idx="0">
                  <c:v>Before migration 16</c:v>
                </c:pt>
              </c:strCache>
            </c:strRef>
          </c:tx>
          <c:spPr>
            <a:solidFill>
              <a:srgbClr val="9CA3AF"/>
            </a:solidFill>
            <a:ln>
              <a:noFill/>
            </a:ln>
          </c:spPr>
          <c:invertIfNegative val="1"/>
          <c:cat>
            <c:strRef>
              <c:f>Sheet1!$A$2:$A$5</c:f>
              <c:strCache>
                <c:ptCount val="4"/>
                <c:pt idx="0">
                  <c:v>Payment history</c:v>
                </c:pt>
                <c:pt idx="1">
                  <c:v>Subscriptions list</c:v>
                </c:pt>
                <c:pt idx="2">
                  <c:v>Attendance log</c:v>
                </c:pt>
                <c:pt idx="3">
                  <c:v>Member search</c:v>
                </c:pt>
              </c:strCache>
            </c:strRef>
          </c:cat>
          <c:val>
            <c:numRef>
              <c:f>Sheet1!$C$2:$C$5</c:f>
              <c:numCache>
                <c:formatCode>General</c:formatCode>
                <c:ptCount val="4"/>
                <c:pt idx="0">
                  <c:v>1.6539999999999999</c:v>
                </c:pt>
                <c:pt idx="1">
                  <c:v>147.185</c:v>
                </c:pt>
                <c:pt idx="2">
                  <c:v>374.44299999999998</c:v>
                </c:pt>
                <c:pt idx="3">
                  <c:v>225.905</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1-1959-4931-8849-28F0D312239D}"/>
            </c:ext>
          </c:extLst>
        </c:ser>
        <c:ser>
          <c:idx val="2"/>
          <c:order val="2"/>
          <c:tx>
            <c:strRef>
              <c:f>Sheet1!$D$1</c:f>
              <c:strCache>
                <c:ptCount val="1"/>
                <c:pt idx="0">
                  <c:v>GymVerse (after 16)</c:v>
                </c:pt>
              </c:strCache>
            </c:strRef>
          </c:tx>
          <c:spPr>
            <a:solidFill>
              <a:srgbClr val="2563EB"/>
            </a:solidFill>
            <a:ln>
              <a:noFill/>
            </a:ln>
          </c:spPr>
          <c:invertIfNegative val="1"/>
          <c:dLbls>
            <c:numFmt formatCode="0.0&quot; ms&quot;" sourceLinked="0"/>
            <c:spPr>
              <a:noFill/>
              <a:ln>
                <a:noFill/>
              </a:ln>
              <a:effectLst/>
            </c:spPr>
            <c:txPr>
              <a:bodyPr/>
              <a:lstStyle/>
              <a:p>
                <a:pPr>
                  <a:defRPr sz="1600" b="1">
                    <a:solidFill>
                      <a:srgbClr val="2563EB"/>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Payment history</c:v>
                </c:pt>
                <c:pt idx="1">
                  <c:v>Subscriptions list</c:v>
                </c:pt>
                <c:pt idx="2">
                  <c:v>Attendance log</c:v>
                </c:pt>
                <c:pt idx="3">
                  <c:v>Member search</c:v>
                </c:pt>
              </c:strCache>
            </c:strRef>
          </c:cat>
          <c:val>
            <c:numRef>
              <c:f>Sheet1!$D$2:$D$5</c:f>
              <c:numCache>
                <c:formatCode>General</c:formatCode>
                <c:ptCount val="4"/>
                <c:pt idx="0">
                  <c:v>0.36699999999999999</c:v>
                </c:pt>
                <c:pt idx="1">
                  <c:v>2.742</c:v>
                </c:pt>
                <c:pt idx="2">
                  <c:v>8.3689999999999998</c:v>
                </c:pt>
                <c:pt idx="3">
                  <c:v>2.7839999999999998</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2-1959-4931-8849-28F0D312239D}"/>
            </c:ext>
          </c:extLst>
        </c:ser>
        <c:dLbls>
          <c:showLegendKey val="0"/>
          <c:showVal val="0"/>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D1D5DB"/>
            </a:solidFill>
          </a:ln>
        </c:spPr>
        <c:txPr>
          <a:bodyPr/>
          <a:lstStyle/>
          <a:p>
            <a:pPr>
              <a:defRPr sz="1800"/>
            </a:pPr>
            <a:endParaRPr lang="en-US"/>
          </a:p>
        </c:txPr>
        <c:crossAx val="-2113994440"/>
        <c:crosses val="min"/>
        <c:auto val="1"/>
        <c:lblAlgn val="ctr"/>
        <c:lblOffset val="100"/>
        <c:noMultiLvlLbl val="0"/>
      </c:catAx>
      <c:valAx>
        <c:axId val="-2113994440"/>
        <c:scaling>
          <c:logBase val="10"/>
          <c:orientation val="minMax"/>
          <c:max val="1000"/>
          <c:min val="0.1"/>
        </c:scaling>
        <c:delete val="0"/>
        <c:axPos val="l"/>
        <c:majorGridlines>
          <c:spPr>
            <a:ln>
              <a:solidFill>
                <a:srgbClr val="F3F4F6"/>
              </a:solidFill>
            </a:ln>
          </c:spPr>
        </c:majorGridlines>
        <c:title>
          <c:tx>
            <c:rich>
              <a:bodyPr/>
              <a:lstStyle/>
              <a:p>
                <a:r>
                  <a:rPr sz="1600">
                    <a:solidFill>
                      <a:srgbClr val="6B7280"/>
                    </a:solidFill>
                  </a:rPr>
                  <a:t>Median time (ms, log scale)</a:t>
                </a:r>
              </a:p>
            </c:rich>
          </c:tx>
          <c:overlay val="0"/>
        </c:title>
        <c:numFmt formatCode="General" sourceLinked="1"/>
        <c:majorTickMark val="out"/>
        <c:minorTickMark val="none"/>
        <c:tickLblPos val="nextTo"/>
        <c:spPr>
          <a:ln>
            <a:noFill/>
          </a:ln>
        </c:spPr>
        <c:txPr>
          <a:bodyPr/>
          <a:lstStyle/>
          <a:p>
            <a:pPr>
              <a:defRPr sz="1600">
                <a:solidFill>
                  <a:srgbClr val="6B7280"/>
                </a:solidFill>
              </a:defRPr>
            </a:pPr>
            <a:endParaRPr lang="en-US"/>
          </a:p>
        </c:txPr>
        <c:crossAx val="-2068027336"/>
        <c:crosses val="autoZero"/>
        <c:crossBetween val="between"/>
      </c:valAx>
    </c:plotArea>
    <c:legend>
      <c:legendPos val="b"/>
      <c:overlay val="0"/>
      <c:txPr>
        <a:bodyPr/>
        <a:lstStyle/>
        <a:p>
          <a:pPr>
            <a:defRPr sz="1800"/>
          </a:pPr>
          <a:endParaRPr lang="en-US"/>
        </a:p>
      </c:txPr>
    </c:legend>
    <c:plotVisOnly val="1"/>
    <c:dispBlanksAs val="gap"/>
    <c:showDLblsOverMax val="1"/>
  </c:chart>
  <c:txPr>
    <a:bodyPr/>
    <a:lstStyle/>
    <a:p>
      <a:pPr>
        <a:defRPr sz="1800">
          <a:solidFill>
            <a:srgbClr val="374151"/>
          </a:solidFill>
          <a:latin typeface="Segoe UI"/>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GB"/>
  <c:roundedCorners val="1"/>
  <c:style val="2"/>
  <c:chart>
    <c:autoTitleDeleted val="1"/>
    <c:plotArea>
      <c:layout/>
      <c:barChart>
        <c:barDir val="bar"/>
        <c:grouping val="clustered"/>
        <c:varyColors val="1"/>
        <c:ser>
          <c:idx val="0"/>
          <c:order val="0"/>
          <c:tx>
            <c:strRef>
              <c:f>Sheet1!$B$1</c:f>
              <c:strCache>
                <c:ptCount val="1"/>
                <c:pt idx="0">
                  <c:v>Checks passed</c:v>
                </c:pt>
              </c:strCache>
            </c:strRef>
          </c:tx>
          <c:spPr>
            <a:solidFill>
              <a:srgbClr val="2563EB"/>
            </a:solidFill>
            <a:ln>
              <a:noFill/>
            </a:ln>
          </c:spPr>
          <c:invertIfNegative val="1"/>
          <c:dLbls>
            <c:spPr>
              <a:noFill/>
              <a:ln>
                <a:noFill/>
              </a:ln>
              <a:effectLst/>
            </c:spPr>
            <c:txPr>
              <a:bodyPr/>
              <a:lstStyle/>
              <a:p>
                <a:pPr>
                  <a:defRPr sz="1800" b="1">
                    <a:solidFill>
                      <a:srgbClr val="111827"/>
                    </a:solidFill>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Accounts &amp; security</c:v>
                </c:pt>
                <c:pt idx="1">
                  <c:v>Training &amp; classes</c:v>
                </c:pt>
                <c:pt idx="2">
                  <c:v>Dashboards, health &amp; UI</c:v>
                </c:pt>
                <c:pt idx="3">
                  <c:v>Members &amp; plans</c:v>
                </c:pt>
                <c:pt idx="4">
                  <c:v>Payments &amp; subscriptions</c:v>
                </c:pt>
                <c:pt idx="5">
                  <c:v>Attendance &amp; rosters</c:v>
                </c:pt>
              </c:strCache>
            </c:strRef>
          </c:cat>
          <c:val>
            <c:numRef>
              <c:f>Sheet1!$B$2:$B$7</c:f>
              <c:numCache>
                <c:formatCode>General</c:formatCode>
                <c:ptCount val="6"/>
                <c:pt idx="0">
                  <c:v>37</c:v>
                </c:pt>
                <c:pt idx="1">
                  <c:v>28</c:v>
                </c:pt>
                <c:pt idx="2">
                  <c:v>14</c:v>
                </c:pt>
                <c:pt idx="3">
                  <c:v>13</c:v>
                </c:pt>
                <c:pt idx="4">
                  <c:v>12</c:v>
                </c:pt>
                <c:pt idx="5">
                  <c:v>12</c:v>
                </c:pt>
              </c:numCache>
            </c:numRef>
          </c:val>
          <c:extLst>
            <c:ext xmlns:c14="http://schemas.microsoft.com/office/drawing/2007/8/2/chart" uri="{6F2FDCE9-48DA-4B69-8628-5D25D57E5C99}">
              <c14:invertSolidFillFmt>
                <c14:spPr xmlns:c14="http://schemas.microsoft.com/office/drawing/2007/8/2/chart">
                  <a:solidFill>
                    <a:srgbClr val="FFFFFF"/>
                  </a:solidFill>
                  <a:ln>
                    <a:noFill/>
                  </a:ln>
                </c14:spPr>
              </c14:invertSolidFillFmt>
            </c:ext>
            <c:ext xmlns:c16="http://schemas.microsoft.com/office/drawing/2014/chart" uri="{C3380CC4-5D6E-409C-BE32-E72D297353CC}">
              <c16:uniqueId val="{00000000-9BBC-4CFD-A40B-B6BF1CA3C778}"/>
            </c:ext>
          </c:extLst>
        </c:ser>
        <c:dLbls>
          <c:showLegendKey val="0"/>
          <c:showVal val="0"/>
          <c:showCatName val="0"/>
          <c:showSerName val="0"/>
          <c:showPercent val="0"/>
          <c:showBubbleSize val="0"/>
        </c:dLbls>
        <c:gapWidth val="55"/>
        <c:axId val="-2068027336"/>
        <c:axId val="-2113994440"/>
      </c:barChart>
      <c:catAx>
        <c:axId val="-2068027336"/>
        <c:scaling>
          <c:orientation val="maxMin"/>
        </c:scaling>
        <c:delete val="0"/>
        <c:axPos val="l"/>
        <c:numFmt formatCode="General" sourceLinked="0"/>
        <c:majorTickMark val="out"/>
        <c:minorTickMark val="none"/>
        <c:tickLblPos val="nextTo"/>
        <c:spPr>
          <a:ln>
            <a:solidFill>
              <a:srgbClr val="D1D5DB"/>
            </a:solidFill>
          </a:ln>
        </c:spPr>
        <c:txPr>
          <a:bodyPr/>
          <a:lstStyle/>
          <a:p>
            <a:pPr>
              <a:defRPr sz="1800"/>
            </a:pPr>
            <a:endParaRPr lang="en-US"/>
          </a:p>
        </c:txPr>
        <c:crossAx val="-2113994440"/>
        <c:crosses val="min"/>
        <c:auto val="1"/>
        <c:lblAlgn val="ctr"/>
        <c:lblOffset val="100"/>
        <c:noMultiLvlLbl val="0"/>
      </c:catAx>
      <c:valAx>
        <c:axId val="-2113994440"/>
        <c:scaling>
          <c:orientation val="minMax"/>
          <c:max val="44.4"/>
          <c:min val="0"/>
        </c:scaling>
        <c:delete val="1"/>
        <c:axPos val="t"/>
        <c:numFmt formatCode="General" sourceLinked="1"/>
        <c:majorTickMark val="out"/>
        <c:minorTickMark val="none"/>
        <c:tickLblPos val="nextTo"/>
        <c:crossAx val="-2068027336"/>
        <c:crosses val="autoZero"/>
        <c:crossBetween val="between"/>
      </c:valAx>
    </c:plotArea>
    <c:plotVisOnly val="1"/>
    <c:dispBlanksAs val="gap"/>
    <c:showDLblsOverMax val="1"/>
  </c:chart>
  <c:txPr>
    <a:bodyPr/>
    <a:lstStyle/>
    <a:p>
      <a:pPr>
        <a:defRPr sz="1800">
          <a:solidFill>
            <a:srgbClr val="374151"/>
          </a:solidFill>
          <a:latin typeface="Segoe UI"/>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6637447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Introduce GymVerse: a PostgreSQL-backed gym management system with a web app and an AI assistant. Team of four, Database Management Systems mini project.</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Many gyms keep separate registers and spreadsheets. Nothing stops the same member being entered twice, an expired plan going unnoticed, or two people taking the last class seat at the same time. Spreadsheets store data but cannot enforce these rules. GymVerse moves the rules into the database.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Rows are approaches; columns are capabilities. 'Partial' for spreadsheets: data validation, sheet-level sharing and version history exist but do not enforce gym rules or per-record access. [ADD APPROACH]: add another existing system you compared against, and fill in its row.</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request passes rate limiting, a session check (JWT plus server-side revocation), role and per-record access, and input validation; controllers run multi-row writes in transactions. The numbered badges mark our contributions. 1) Rules live in the database: partial unique indexes (one active subscription, one open check-in), row locks for bookings and subscriptions, triggers for capacity and auditing. 2) Four roles checked per record: a member reaches only their own data, a trainer only their roster. 3) The AI assistant reads the live plan catalogue and falls back across Gemini models, then Groq. Chat history in MongoDB is optional.</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schema models generic concepts: people, plans, sessions with capacity, bookings and payments. Studios fit as-is; clinics map sessions to appointments; chains need a branch column (not built yet); a small gym can run everything on one PC with the AI assistant and email switched off. The benchmark shows the same queries stay under 10 ms at 1,000,000 check-ins. Plans, AI models, email, chat history and production mode are configuration; integrity rules, record access and the audit trail are the fixed core.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Setup: a throwaway PostgreSQL 18.6 database built from the real migrations with synthetic volumes (50,000 members, 150,000 subscriptions, 300,000 payments, 1,000,000 check-ins) on one Windows PC. Each of the app's own list and search queries ran 15 times per index setup with EXPLAIN ANALYZE; we report the median, on a log scale. Baselines: no supporting indexes, and the indexes before migration 16. Payment history: 99.1 / 1.7 / 0.37 ms. Subscriptions list: 170.6 / 147.2 / 2.74 ms. Attendance log: 277.3 / 374.4 / 8.37 ms. Member search: 214.9 / 225.9 / 2.78 ms. Before migration 16 the attendance log was slower than with no indexes; both used a full scan, so that gap is timing noise.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Live run against the real database: 116 of 116 checks, each write confirmed with a direct database query. Unit and route tests: 235 passed, 1 skipped. verify_stack.js builds a fresh database from every migration: 71 of 71. Frontend tests: 7 of 7. No 5xx responses during the run. An earlier run found a real bug (a migration depended on a function older databases lacked); migration 17 fixed it before these numbers were taken.</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Honest limits. Trainer double-booking is checked in the API but not by a database constraint, so two simultaneous requests can both pass. Check-in blocks suspended members but class enrolment does not. The benchmark uses synthetic data on one PC, with no multi-user load test. The AI assistant relies on free-tier model quotas. Also: progress, diet and equipment tables exist in SQL without screens.</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Code: the GitHub repository currently holds only the first commit, so the link and QR code are placeholders until the code is pushed. Documentation: PROJECT_GUIDE.md explains every part of the system; Swagger API docs are served at /api-docs; the SQL files are in database/. Reproduce: in gymverse-backend run npm install, npm run migrate &amp;&amp; npm run seed, npm run dev; then npm install &amp;&amp; npm run dev in gymverse-frontend. node verify_stack.js checks everything on a throwaway database. Add the licence, any paper or demo link, and talks or publications before presenting.</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Three takeaways: correctness is enforced by the database; privacy is enforced on every record; and measured indexes kept key queries fast at scale (up to 81× faster). Future work: a database constraint against trainer double-booking, multi-branch support, and load testing. Invite questions and point to the QR code for the code and documentation.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9/16/2026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9/16/2026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9/16/2026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9/16/2026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9/16/2026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9/16/2026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731520" y="868680"/>
            <a:ext cx="6583680" cy="45720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2563EB"/>
                </a:solidFill>
                <a:latin typeface="Segoe UI"/>
              </a:rPr>
              <a:t>DATABASE MANAGEMENT SYSTEMS · MINI PROJECT</a:t>
            </a:r>
          </a:p>
        </p:txBody>
      </p:sp>
      <p:sp>
        <p:nvSpPr>
          <p:cNvPr id="3" name="TextBox 2"/>
          <p:cNvSpPr txBox="1"/>
          <p:nvPr/>
        </p:nvSpPr>
        <p:spPr>
          <a:xfrm>
            <a:off x="731520" y="1325880"/>
            <a:ext cx="6583680" cy="1188720"/>
          </a:xfrm>
          <a:prstGeom prst="rect">
            <a:avLst/>
          </a:prstGeom>
          <a:noFill/>
        </p:spPr>
        <p:txBody>
          <a:bodyPr wrap="square" lIns="36576" tIns="18288" rIns="36576" bIns="18288" anchor="t">
            <a:spAutoFit/>
          </a:bodyPr>
          <a:lstStyle/>
          <a:p>
            <a:pPr algn="l">
              <a:lnSpc>
                <a:spcPct val="100000"/>
              </a:lnSpc>
              <a:spcAft>
                <a:spcPts val="0"/>
              </a:spcAft>
            </a:pPr>
            <a:r>
              <a:rPr sz="6600" b="1">
                <a:solidFill>
                  <a:srgbClr val="111827"/>
                </a:solidFill>
                <a:latin typeface="Segoe UI"/>
              </a:rPr>
              <a:t>GymVerse</a:t>
            </a:r>
          </a:p>
        </p:txBody>
      </p:sp>
      <p:sp>
        <p:nvSpPr>
          <p:cNvPr id="4" name="TextBox 3"/>
          <p:cNvSpPr txBox="1"/>
          <p:nvPr/>
        </p:nvSpPr>
        <p:spPr>
          <a:xfrm>
            <a:off x="731520" y="2560320"/>
            <a:ext cx="6400800" cy="1005840"/>
          </a:xfrm>
          <a:prstGeom prst="rect">
            <a:avLst/>
          </a:prstGeom>
          <a:noFill/>
        </p:spPr>
        <p:txBody>
          <a:bodyPr wrap="square" lIns="36576" tIns="18288" rIns="36576" bIns="18288" anchor="t">
            <a:spAutoFit/>
          </a:bodyPr>
          <a:lstStyle/>
          <a:p>
            <a:pPr algn="l">
              <a:lnSpc>
                <a:spcPct val="100000"/>
              </a:lnSpc>
              <a:spcAft>
                <a:spcPts val="0"/>
              </a:spcAft>
            </a:pPr>
            <a:r>
              <a:rPr sz="2800" b="0">
                <a:solidFill>
                  <a:srgbClr val="111827"/>
                </a:solidFill>
                <a:latin typeface="Segoe UI"/>
              </a:rPr>
              <a:t>The Digital Transformation of Fitness Management</a:t>
            </a:r>
          </a:p>
        </p:txBody>
      </p:sp>
      <p:sp>
        <p:nvSpPr>
          <p:cNvPr id="5" name="TextBox 4"/>
          <p:cNvSpPr txBox="1"/>
          <p:nvPr/>
        </p:nvSpPr>
        <p:spPr>
          <a:xfrm>
            <a:off x="731520" y="3749039"/>
            <a:ext cx="6035040" cy="914400"/>
          </a:xfrm>
          <a:prstGeom prst="rect">
            <a:avLst/>
          </a:prstGeom>
          <a:noFill/>
        </p:spPr>
        <p:txBody>
          <a:bodyPr wrap="square" lIns="36576" tIns="18288" rIns="36576" bIns="18288" anchor="t">
            <a:spAutoFit/>
          </a:bodyPr>
          <a:lstStyle/>
          <a:p>
            <a:pPr algn="l">
              <a:lnSpc>
                <a:spcPct val="100000"/>
              </a:lnSpc>
              <a:spcAft>
                <a:spcPts val="0"/>
              </a:spcAft>
            </a:pPr>
            <a:r>
              <a:rPr sz="2000" b="0" dirty="0">
                <a:solidFill>
                  <a:srgbClr val="6B7280"/>
                </a:solidFill>
                <a:latin typeface="Segoe UI"/>
              </a:rPr>
              <a:t>One connected, self-protecting database for gym operations</a:t>
            </a:r>
          </a:p>
        </p:txBody>
      </p:sp>
      <p:sp>
        <p:nvSpPr>
          <p:cNvPr id="16" name="Rectangle 15"/>
          <p:cNvSpPr/>
          <p:nvPr/>
        </p:nvSpPr>
        <p:spPr>
          <a:xfrm>
            <a:off x="731520" y="5669280"/>
            <a:ext cx="10927080" cy="27432"/>
          </a:xfrm>
          <a:prstGeom prst="rect">
            <a:avLst/>
          </a:prstGeom>
          <a:solidFill>
            <a:srgbClr val="D1D5D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731520" y="5806440"/>
            <a:ext cx="10881360" cy="45720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6B7280"/>
                </a:solidFill>
                <a:latin typeface="Segoe UI"/>
              </a:rPr>
              <a:t>Department of CSE  ·  KLH  ·  Faculty Guide: P LALITHA</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pPr>
            <a:r>
              <a:rPr sz="3400" b="1">
                <a:solidFill>
                  <a:srgbClr val="111827"/>
                </a:solidFill>
                <a:latin typeface="Segoe UI"/>
              </a:rPr>
              <a:t>Scattered records cause duplicates and double bookings</a:t>
            </a:r>
          </a:p>
        </p:txBody>
      </p:sp>
      <p:sp>
        <p:nvSpPr>
          <p:cNvPr id="4" name="TextBox 3"/>
          <p:cNvSpPr txBox="1"/>
          <p:nvPr/>
        </p:nvSpPr>
        <p:spPr>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pPr>
            <a:r>
              <a:rPr sz="1400" b="0">
                <a:solidFill>
                  <a:srgbClr val="6B7280"/>
                </a:solidFill>
                <a:latin typeface="Segoe UI"/>
              </a:rPr>
              <a:t>2</a:t>
            </a:r>
          </a:p>
        </p:txBody>
      </p:sp>
      <p:sp>
        <p:nvSpPr>
          <p:cNvPr id="5" name="Rounded Rectangle 4"/>
          <p:cNvSpPr/>
          <p:nvPr/>
        </p:nvSpPr>
        <p:spPr>
          <a:xfrm>
            <a:off x="548640" y="1783080"/>
            <a:ext cx="5120640" cy="4114800"/>
          </a:xfrm>
          <a:prstGeom prst="roundRect">
            <a:avLst>
              <a:gd name="adj" fmla="val 5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68680" y="2011680"/>
            <a:ext cx="4572000" cy="548640"/>
          </a:xfrm>
          <a:prstGeom prst="rect">
            <a:avLst/>
          </a:prstGeom>
          <a:noFill/>
        </p:spPr>
        <p:txBody>
          <a:bodyPr wrap="square" lIns="36576" tIns="18288" rIns="36576" bIns="18288" anchor="t">
            <a:spAutoFit/>
          </a:bodyPr>
          <a:lstStyle/>
          <a:p>
            <a:pPr algn="l">
              <a:lnSpc>
                <a:spcPct val="100000"/>
              </a:lnSpc>
              <a:spcAft>
                <a:spcPts val="0"/>
              </a:spcAft>
            </a:pPr>
            <a:r>
              <a:rPr sz="2400" b="1">
                <a:solidFill>
                  <a:srgbClr val="374151"/>
                </a:solidFill>
                <a:latin typeface="Segoe UI"/>
              </a:rPr>
              <a:t>Registers &amp; spreadsheets</a:t>
            </a:r>
          </a:p>
        </p:txBody>
      </p:sp>
      <p:sp>
        <p:nvSpPr>
          <p:cNvPr id="7" name="Rounded Rectangle 6"/>
          <p:cNvSpPr/>
          <p:nvPr/>
        </p:nvSpPr>
        <p:spPr>
          <a:xfrm>
            <a:off x="6537960" y="1783080"/>
            <a:ext cx="5120640" cy="4114800"/>
          </a:xfrm>
          <a:prstGeom prst="roundRect">
            <a:avLst>
              <a:gd name="adj" fmla="val 5000"/>
            </a:avLst>
          </a:prstGeom>
          <a:solidFill>
            <a:srgbClr val="DBEAFE"/>
          </a:solidFill>
          <a:ln w="19050">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6858000" y="2011680"/>
            <a:ext cx="4572000" cy="548640"/>
          </a:xfrm>
          <a:prstGeom prst="rect">
            <a:avLst/>
          </a:prstGeom>
          <a:noFill/>
        </p:spPr>
        <p:txBody>
          <a:bodyPr wrap="square" lIns="36576" tIns="18288" rIns="36576" bIns="18288" anchor="t">
            <a:spAutoFit/>
          </a:bodyPr>
          <a:lstStyle/>
          <a:p>
            <a:pPr algn="l">
              <a:lnSpc>
                <a:spcPct val="100000"/>
              </a:lnSpc>
              <a:spcAft>
                <a:spcPts val="0"/>
              </a:spcAft>
            </a:pPr>
            <a:r>
              <a:rPr sz="2400" b="1">
                <a:solidFill>
                  <a:srgbClr val="2563EB"/>
                </a:solidFill>
                <a:latin typeface="Segoe UI"/>
              </a:rPr>
              <a:t>GymVerse database</a:t>
            </a:r>
          </a:p>
        </p:txBody>
      </p:sp>
      <p:sp>
        <p:nvSpPr>
          <p:cNvPr id="9" name="TextBox 8"/>
          <p:cNvSpPr txBox="1"/>
          <p:nvPr/>
        </p:nvSpPr>
        <p:spPr>
          <a:xfrm>
            <a:off x="868680" y="2834640"/>
            <a:ext cx="457200" cy="548640"/>
          </a:xfrm>
          <a:prstGeom prst="rect">
            <a:avLst/>
          </a:prstGeom>
          <a:noFill/>
        </p:spPr>
        <p:txBody>
          <a:bodyPr wrap="square" lIns="36576" tIns="18288" rIns="36576" bIns="18288" anchor="t">
            <a:spAutoFit/>
          </a:bodyPr>
          <a:lstStyle/>
          <a:p>
            <a:pPr algn="l">
              <a:lnSpc>
                <a:spcPct val="100000"/>
              </a:lnSpc>
              <a:spcAft>
                <a:spcPts val="0"/>
              </a:spcAft>
            </a:pPr>
            <a:r>
              <a:rPr sz="2400" b="1">
                <a:solidFill>
                  <a:srgbClr val="9CA3AF"/>
                </a:solidFill>
                <a:latin typeface="Segoe UI Symbol"/>
              </a:rPr>
              <a:t>✕</a:t>
            </a:r>
          </a:p>
        </p:txBody>
      </p:sp>
      <p:sp>
        <p:nvSpPr>
          <p:cNvPr id="10" name="TextBox 9"/>
          <p:cNvSpPr txBox="1"/>
          <p:nvPr/>
        </p:nvSpPr>
        <p:spPr>
          <a:xfrm>
            <a:off x="1371600" y="2852928"/>
            <a:ext cx="4114800" cy="731520"/>
          </a:xfrm>
          <a:prstGeom prst="rect">
            <a:avLst/>
          </a:prstGeom>
          <a:noFill/>
        </p:spPr>
        <p:txBody>
          <a:bodyPr wrap="square" lIns="36576" tIns="18288" rIns="36576" bIns="18288" anchor="t">
            <a:spAutoFit/>
          </a:bodyPr>
          <a:lstStyle/>
          <a:p>
            <a:pPr algn="l">
              <a:lnSpc>
                <a:spcPct val="100000"/>
              </a:lnSpc>
              <a:spcAft>
                <a:spcPts val="0"/>
              </a:spcAft>
            </a:pPr>
            <a:r>
              <a:rPr sz="2000" b="0">
                <a:solidFill>
                  <a:srgbClr val="374151"/>
                </a:solidFill>
                <a:latin typeface="Segoe UI"/>
              </a:rPr>
              <a:t>Same member stored twice</a:t>
            </a:r>
          </a:p>
        </p:txBody>
      </p:sp>
      <p:sp>
        <p:nvSpPr>
          <p:cNvPr id="11" name="TextBox 10"/>
          <p:cNvSpPr txBox="1"/>
          <p:nvPr/>
        </p:nvSpPr>
        <p:spPr>
          <a:xfrm>
            <a:off x="6858000" y="2834640"/>
            <a:ext cx="457200" cy="548640"/>
          </a:xfrm>
          <a:prstGeom prst="rect">
            <a:avLst/>
          </a:prstGeom>
          <a:noFill/>
        </p:spPr>
        <p:txBody>
          <a:bodyPr wrap="square" lIns="36576" tIns="18288" rIns="36576" bIns="18288" anchor="t">
            <a:spAutoFit/>
          </a:bodyPr>
          <a:lstStyle/>
          <a:p>
            <a:pPr algn="l">
              <a:lnSpc>
                <a:spcPct val="100000"/>
              </a:lnSpc>
              <a:spcAft>
                <a:spcPts val="0"/>
              </a:spcAft>
            </a:pPr>
            <a:r>
              <a:rPr sz="2400" b="1">
                <a:solidFill>
                  <a:srgbClr val="2563EB"/>
                </a:solidFill>
                <a:latin typeface="Segoe UI Symbol"/>
              </a:rPr>
              <a:t>✓</a:t>
            </a:r>
          </a:p>
        </p:txBody>
      </p:sp>
      <p:sp>
        <p:nvSpPr>
          <p:cNvPr id="12" name="TextBox 11"/>
          <p:cNvSpPr txBox="1"/>
          <p:nvPr/>
        </p:nvSpPr>
        <p:spPr>
          <a:xfrm>
            <a:off x="7360920" y="2852928"/>
            <a:ext cx="4114800" cy="731520"/>
          </a:xfrm>
          <a:prstGeom prst="rect">
            <a:avLst/>
          </a:prstGeom>
          <a:noFill/>
        </p:spPr>
        <p:txBody>
          <a:bodyPr wrap="square" lIns="36576" tIns="18288" rIns="36576" bIns="18288" anchor="t">
            <a:spAutoFit/>
          </a:bodyPr>
          <a:lstStyle/>
          <a:p>
            <a:pPr algn="l">
              <a:lnSpc>
                <a:spcPct val="100000"/>
              </a:lnSpc>
              <a:spcAft>
                <a:spcPts val="0"/>
              </a:spcAft>
            </a:pPr>
            <a:r>
              <a:rPr sz="2000" b="0">
                <a:solidFill>
                  <a:srgbClr val="111827"/>
                </a:solidFill>
                <a:latin typeface="Segoe UI"/>
              </a:rPr>
              <a:t>One record per member</a:t>
            </a:r>
          </a:p>
        </p:txBody>
      </p:sp>
      <p:sp>
        <p:nvSpPr>
          <p:cNvPr id="13" name="TextBox 12"/>
          <p:cNvSpPr txBox="1"/>
          <p:nvPr/>
        </p:nvSpPr>
        <p:spPr>
          <a:xfrm>
            <a:off x="868680" y="3749039"/>
            <a:ext cx="457200" cy="548640"/>
          </a:xfrm>
          <a:prstGeom prst="rect">
            <a:avLst/>
          </a:prstGeom>
          <a:noFill/>
        </p:spPr>
        <p:txBody>
          <a:bodyPr wrap="square" lIns="36576" tIns="18288" rIns="36576" bIns="18288" anchor="t">
            <a:spAutoFit/>
          </a:bodyPr>
          <a:lstStyle/>
          <a:p>
            <a:pPr algn="l">
              <a:lnSpc>
                <a:spcPct val="100000"/>
              </a:lnSpc>
              <a:spcAft>
                <a:spcPts val="0"/>
              </a:spcAft>
            </a:pPr>
            <a:r>
              <a:rPr sz="2400" b="1">
                <a:solidFill>
                  <a:srgbClr val="9CA3AF"/>
                </a:solidFill>
                <a:latin typeface="Segoe UI Symbol"/>
              </a:rPr>
              <a:t>✕</a:t>
            </a:r>
          </a:p>
        </p:txBody>
      </p:sp>
      <p:sp>
        <p:nvSpPr>
          <p:cNvPr id="14" name="TextBox 13"/>
          <p:cNvSpPr txBox="1"/>
          <p:nvPr/>
        </p:nvSpPr>
        <p:spPr>
          <a:xfrm>
            <a:off x="1371600" y="3767327"/>
            <a:ext cx="4114800" cy="731520"/>
          </a:xfrm>
          <a:prstGeom prst="rect">
            <a:avLst/>
          </a:prstGeom>
          <a:noFill/>
        </p:spPr>
        <p:txBody>
          <a:bodyPr wrap="square" lIns="36576" tIns="18288" rIns="36576" bIns="18288" anchor="t">
            <a:spAutoFit/>
          </a:bodyPr>
          <a:lstStyle/>
          <a:p>
            <a:pPr algn="l">
              <a:lnSpc>
                <a:spcPct val="100000"/>
              </a:lnSpc>
              <a:spcAft>
                <a:spcPts val="0"/>
              </a:spcAft>
            </a:pPr>
            <a:r>
              <a:rPr sz="2000" b="0">
                <a:solidFill>
                  <a:srgbClr val="374151"/>
                </a:solidFill>
                <a:latin typeface="Segoe UI"/>
              </a:rPr>
              <a:t>Expired plans go unnoticed</a:t>
            </a:r>
          </a:p>
        </p:txBody>
      </p:sp>
      <p:sp>
        <p:nvSpPr>
          <p:cNvPr id="15" name="TextBox 14"/>
          <p:cNvSpPr txBox="1"/>
          <p:nvPr/>
        </p:nvSpPr>
        <p:spPr>
          <a:xfrm>
            <a:off x="6858000" y="3749039"/>
            <a:ext cx="457200" cy="548640"/>
          </a:xfrm>
          <a:prstGeom prst="rect">
            <a:avLst/>
          </a:prstGeom>
          <a:noFill/>
        </p:spPr>
        <p:txBody>
          <a:bodyPr wrap="square" lIns="36576" tIns="18288" rIns="36576" bIns="18288" anchor="t">
            <a:spAutoFit/>
          </a:bodyPr>
          <a:lstStyle/>
          <a:p>
            <a:pPr algn="l">
              <a:lnSpc>
                <a:spcPct val="100000"/>
              </a:lnSpc>
              <a:spcAft>
                <a:spcPts val="0"/>
              </a:spcAft>
            </a:pPr>
            <a:r>
              <a:rPr sz="2400" b="1">
                <a:solidFill>
                  <a:srgbClr val="2563EB"/>
                </a:solidFill>
                <a:latin typeface="Segoe UI Symbol"/>
              </a:rPr>
              <a:t>✓</a:t>
            </a:r>
          </a:p>
        </p:txBody>
      </p:sp>
      <p:sp>
        <p:nvSpPr>
          <p:cNvPr id="16" name="TextBox 15"/>
          <p:cNvSpPr txBox="1"/>
          <p:nvPr/>
        </p:nvSpPr>
        <p:spPr>
          <a:xfrm>
            <a:off x="7360920" y="3767327"/>
            <a:ext cx="4114800" cy="731520"/>
          </a:xfrm>
          <a:prstGeom prst="rect">
            <a:avLst/>
          </a:prstGeom>
          <a:noFill/>
        </p:spPr>
        <p:txBody>
          <a:bodyPr wrap="square" lIns="36576" tIns="18288" rIns="36576" bIns="18288" anchor="t">
            <a:spAutoFit/>
          </a:bodyPr>
          <a:lstStyle/>
          <a:p>
            <a:pPr algn="l">
              <a:lnSpc>
                <a:spcPct val="100000"/>
              </a:lnSpc>
              <a:spcAft>
                <a:spcPts val="0"/>
              </a:spcAft>
            </a:pPr>
            <a:r>
              <a:rPr sz="2000" b="0">
                <a:solidFill>
                  <a:srgbClr val="111827"/>
                </a:solidFill>
                <a:latin typeface="Segoe UI"/>
              </a:rPr>
              <a:t>Expiry tracked automatically</a:t>
            </a:r>
          </a:p>
        </p:txBody>
      </p:sp>
      <p:sp>
        <p:nvSpPr>
          <p:cNvPr id="17" name="TextBox 16"/>
          <p:cNvSpPr txBox="1"/>
          <p:nvPr/>
        </p:nvSpPr>
        <p:spPr>
          <a:xfrm>
            <a:off x="868680" y="4663440"/>
            <a:ext cx="457200" cy="548640"/>
          </a:xfrm>
          <a:prstGeom prst="rect">
            <a:avLst/>
          </a:prstGeom>
          <a:noFill/>
        </p:spPr>
        <p:txBody>
          <a:bodyPr wrap="square" lIns="36576" tIns="18288" rIns="36576" bIns="18288" anchor="t">
            <a:spAutoFit/>
          </a:bodyPr>
          <a:lstStyle/>
          <a:p>
            <a:pPr algn="l">
              <a:lnSpc>
                <a:spcPct val="100000"/>
              </a:lnSpc>
              <a:spcAft>
                <a:spcPts val="0"/>
              </a:spcAft>
            </a:pPr>
            <a:r>
              <a:rPr sz="2400" b="1">
                <a:solidFill>
                  <a:srgbClr val="9CA3AF"/>
                </a:solidFill>
                <a:latin typeface="Segoe UI Symbol"/>
              </a:rPr>
              <a:t>✕</a:t>
            </a:r>
          </a:p>
        </p:txBody>
      </p:sp>
      <p:sp>
        <p:nvSpPr>
          <p:cNvPr id="18" name="TextBox 17"/>
          <p:cNvSpPr txBox="1"/>
          <p:nvPr/>
        </p:nvSpPr>
        <p:spPr>
          <a:xfrm>
            <a:off x="1371600" y="4681727"/>
            <a:ext cx="4114800" cy="731520"/>
          </a:xfrm>
          <a:prstGeom prst="rect">
            <a:avLst/>
          </a:prstGeom>
          <a:noFill/>
        </p:spPr>
        <p:txBody>
          <a:bodyPr wrap="square" lIns="36576" tIns="18288" rIns="36576" bIns="18288" anchor="t">
            <a:spAutoFit/>
          </a:bodyPr>
          <a:lstStyle/>
          <a:p>
            <a:pPr algn="l">
              <a:lnSpc>
                <a:spcPct val="100000"/>
              </a:lnSpc>
              <a:spcAft>
                <a:spcPts val="0"/>
              </a:spcAft>
            </a:pPr>
            <a:r>
              <a:rPr sz="2000" b="0">
                <a:solidFill>
                  <a:srgbClr val="374151"/>
                </a:solidFill>
                <a:latin typeface="Segoe UI"/>
              </a:rPr>
              <a:t>Two people get the last class seat</a:t>
            </a:r>
          </a:p>
        </p:txBody>
      </p:sp>
      <p:sp>
        <p:nvSpPr>
          <p:cNvPr id="19" name="TextBox 18"/>
          <p:cNvSpPr txBox="1"/>
          <p:nvPr/>
        </p:nvSpPr>
        <p:spPr>
          <a:xfrm>
            <a:off x="6858000" y="4663440"/>
            <a:ext cx="457200" cy="548640"/>
          </a:xfrm>
          <a:prstGeom prst="rect">
            <a:avLst/>
          </a:prstGeom>
          <a:noFill/>
        </p:spPr>
        <p:txBody>
          <a:bodyPr wrap="square" lIns="36576" tIns="18288" rIns="36576" bIns="18288" anchor="t">
            <a:spAutoFit/>
          </a:bodyPr>
          <a:lstStyle/>
          <a:p>
            <a:pPr algn="l">
              <a:lnSpc>
                <a:spcPct val="100000"/>
              </a:lnSpc>
              <a:spcAft>
                <a:spcPts val="0"/>
              </a:spcAft>
            </a:pPr>
            <a:r>
              <a:rPr sz="2400" b="1">
                <a:solidFill>
                  <a:srgbClr val="2563EB"/>
                </a:solidFill>
                <a:latin typeface="Segoe UI Symbol"/>
              </a:rPr>
              <a:t>✓</a:t>
            </a:r>
          </a:p>
        </p:txBody>
      </p:sp>
      <p:sp>
        <p:nvSpPr>
          <p:cNvPr id="20" name="TextBox 19"/>
          <p:cNvSpPr txBox="1"/>
          <p:nvPr/>
        </p:nvSpPr>
        <p:spPr>
          <a:xfrm>
            <a:off x="7360920" y="4681727"/>
            <a:ext cx="4114800" cy="731520"/>
          </a:xfrm>
          <a:prstGeom prst="rect">
            <a:avLst/>
          </a:prstGeom>
          <a:noFill/>
        </p:spPr>
        <p:txBody>
          <a:bodyPr wrap="square" lIns="36576" tIns="18288" rIns="36576" bIns="18288" anchor="t">
            <a:spAutoFit/>
          </a:bodyPr>
          <a:lstStyle/>
          <a:p>
            <a:pPr algn="l">
              <a:lnSpc>
                <a:spcPct val="100000"/>
              </a:lnSpc>
              <a:spcAft>
                <a:spcPts val="0"/>
              </a:spcAft>
            </a:pPr>
            <a:r>
              <a:rPr sz="2000" b="0">
                <a:solidFill>
                  <a:srgbClr val="111827"/>
                </a:solidFill>
                <a:latin typeface="Segoe UI"/>
              </a:rPr>
              <a:t>Capacity enforced on every booking</a:t>
            </a:r>
          </a:p>
        </p:txBody>
      </p:sp>
      <p:cxnSp>
        <p:nvCxnSpPr>
          <p:cNvPr id="21" name="Connector 20"/>
          <p:cNvCxnSpPr/>
          <p:nvPr/>
        </p:nvCxnSpPr>
        <p:spPr>
          <a:xfrm>
            <a:off x="5760720" y="3840480"/>
            <a:ext cx="685800" cy="0"/>
          </a:xfrm>
          <a:prstGeom prst="line">
            <a:avLst/>
          </a:prstGeom>
          <a:ln w="38100">
            <a:solidFill>
              <a:srgbClr val="2563EB"/>
            </a:solidFill>
            <a:tailEnd type="triangle" w="med" len="med"/>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pPr>
            <a:r>
              <a:rPr sz="3400" b="1">
                <a:solidFill>
                  <a:srgbClr val="111827"/>
                </a:solidFill>
                <a:latin typeface="Segoe UI"/>
              </a:rPr>
              <a:t>Only GymVerse enforces gym rules inside the database</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2563EB"/>
                </a:solidFill>
                <a:latin typeface="Segoe UI"/>
              </a:rPr>
              <a:t>Novelty</a:t>
            </a:r>
          </a:p>
        </p:txBody>
      </p:sp>
      <p:sp>
        <p:nvSpPr>
          <p:cNvPr id="5" name="TextBox 4"/>
          <p:cNvSpPr txBox="1"/>
          <p:nvPr/>
        </p:nvSpPr>
        <p:spPr>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pPr>
            <a:r>
              <a:rPr sz="1400" b="0">
                <a:solidFill>
                  <a:srgbClr val="6B7280"/>
                </a:solidFill>
                <a:latin typeface="Segoe UI"/>
              </a:rPr>
              <a:t>3</a:t>
            </a:r>
          </a:p>
        </p:txBody>
      </p:sp>
      <p:graphicFrame>
        <p:nvGraphicFramePr>
          <p:cNvPr id="6" name="Table 5"/>
          <p:cNvGraphicFramePr>
            <a:graphicFrameLocks noGrp="1"/>
          </p:cNvGraphicFramePr>
          <p:nvPr/>
        </p:nvGraphicFramePr>
        <p:xfrm>
          <a:off x="548640" y="1737360"/>
          <a:ext cx="11064234" cy="4206240"/>
        </p:xfrm>
        <a:graphic>
          <a:graphicData uri="http://schemas.openxmlformats.org/drawingml/2006/table">
            <a:tbl>
              <a:tblPr>
                <a:tableStyleId>{5C22544A-7EE6-4342-B048-85BDC9FD1C3A}</a:tableStyleId>
              </a:tblPr>
              <a:tblGrid>
                <a:gridCol w="2697480">
                  <a:extLst>
                    <a:ext uri="{9D8B030D-6E8A-4147-A177-3AD203B41FA5}">
                      <a16:colId xmlns:a16="http://schemas.microsoft.com/office/drawing/2014/main" val="20000"/>
                    </a:ext>
                  </a:extLst>
                </a:gridCol>
                <a:gridCol w="1394459">
                  <a:extLst>
                    <a:ext uri="{9D8B030D-6E8A-4147-A177-3AD203B41FA5}">
                      <a16:colId xmlns:a16="http://schemas.microsoft.com/office/drawing/2014/main" val="20001"/>
                    </a:ext>
                  </a:extLst>
                </a:gridCol>
                <a:gridCol w="1394459">
                  <a:extLst>
                    <a:ext uri="{9D8B030D-6E8A-4147-A177-3AD203B41FA5}">
                      <a16:colId xmlns:a16="http://schemas.microsoft.com/office/drawing/2014/main" val="20002"/>
                    </a:ext>
                  </a:extLst>
                </a:gridCol>
                <a:gridCol w="1394459">
                  <a:extLst>
                    <a:ext uri="{9D8B030D-6E8A-4147-A177-3AD203B41FA5}">
                      <a16:colId xmlns:a16="http://schemas.microsoft.com/office/drawing/2014/main" val="20003"/>
                    </a:ext>
                  </a:extLst>
                </a:gridCol>
                <a:gridCol w="1394459">
                  <a:extLst>
                    <a:ext uri="{9D8B030D-6E8A-4147-A177-3AD203B41FA5}">
                      <a16:colId xmlns:a16="http://schemas.microsoft.com/office/drawing/2014/main" val="20004"/>
                    </a:ext>
                  </a:extLst>
                </a:gridCol>
                <a:gridCol w="1394459">
                  <a:extLst>
                    <a:ext uri="{9D8B030D-6E8A-4147-A177-3AD203B41FA5}">
                      <a16:colId xmlns:a16="http://schemas.microsoft.com/office/drawing/2014/main" val="20005"/>
                    </a:ext>
                  </a:extLst>
                </a:gridCol>
                <a:gridCol w="1394459">
                  <a:extLst>
                    <a:ext uri="{9D8B030D-6E8A-4147-A177-3AD203B41FA5}">
                      <a16:colId xmlns:a16="http://schemas.microsoft.com/office/drawing/2014/main" val="20006"/>
                    </a:ext>
                  </a:extLst>
                </a:gridCol>
              </a:tblGrid>
              <a:tr h="1280160">
                <a:tc>
                  <a:txBody>
                    <a:bodyPr/>
                    <a:lstStyle/>
                    <a:p>
                      <a:pPr algn="l"/>
                      <a:r>
                        <a:rPr sz="1800" b="1">
                          <a:solidFill>
                            <a:srgbClr val="111827"/>
                          </a:solidFill>
                          <a:latin typeface="Segoe UI"/>
                        </a:rPr>
                        <a:t>Approach</a:t>
                      </a:r>
                    </a:p>
                  </a:txBody>
                  <a:tcPr marL="73152" marR="73152" anchor="ctr">
                    <a:solidFill>
                      <a:srgbClr val="F3F4F6"/>
                    </a:solidFill>
                  </a:tcPr>
                </a:tc>
                <a:tc>
                  <a:txBody>
                    <a:bodyPr/>
                    <a:lstStyle/>
                    <a:p>
                      <a:pPr algn="ctr"/>
                      <a:r>
                        <a:rPr sz="1800" b="1">
                          <a:solidFill>
                            <a:srgbClr val="111827"/>
                          </a:solidFill>
                          <a:latin typeface="Segoe UI"/>
                        </a:rPr>
                        <a:t>One source of truth</a:t>
                      </a:r>
                    </a:p>
                  </a:txBody>
                  <a:tcPr marL="73152" marR="73152" anchor="ctr">
                    <a:solidFill>
                      <a:srgbClr val="F3F4F6"/>
                    </a:solidFill>
                  </a:tcPr>
                </a:tc>
                <a:tc>
                  <a:txBody>
                    <a:bodyPr/>
                    <a:lstStyle/>
                    <a:p>
                      <a:pPr algn="ctr"/>
                      <a:r>
                        <a:rPr sz="1800" b="1">
                          <a:solidFill>
                            <a:srgbClr val="111827"/>
                          </a:solidFill>
                          <a:latin typeface="Segoe UI"/>
                        </a:rPr>
                        <a:t>Rules enforced in database</a:t>
                      </a:r>
                    </a:p>
                  </a:txBody>
                  <a:tcPr marL="73152" marR="73152" anchor="ctr">
                    <a:solidFill>
                      <a:srgbClr val="F3F4F6"/>
                    </a:solidFill>
                  </a:tcPr>
                </a:tc>
                <a:tc>
                  <a:txBody>
                    <a:bodyPr/>
                    <a:lstStyle/>
                    <a:p>
                      <a:pPr algn="ctr"/>
                      <a:r>
                        <a:rPr sz="1800" b="1">
                          <a:solidFill>
                            <a:srgbClr val="111827"/>
                          </a:solidFill>
                          <a:latin typeface="Segoe UI"/>
                        </a:rPr>
                        <a:t>Safe with concurrent users</a:t>
                      </a:r>
                    </a:p>
                  </a:txBody>
                  <a:tcPr marL="73152" marR="73152" anchor="ctr">
                    <a:solidFill>
                      <a:srgbClr val="F3F4F6"/>
                    </a:solidFill>
                  </a:tcPr>
                </a:tc>
                <a:tc>
                  <a:txBody>
                    <a:bodyPr/>
                    <a:lstStyle/>
                    <a:p>
                      <a:pPr algn="ctr"/>
                      <a:r>
                        <a:rPr sz="1800" b="1">
                          <a:solidFill>
                            <a:srgbClr val="111827"/>
                          </a:solidFill>
                          <a:latin typeface="Segoe UI"/>
                        </a:rPr>
                        <a:t>Per-record access</a:t>
                      </a:r>
                    </a:p>
                  </a:txBody>
                  <a:tcPr marL="73152" marR="73152" anchor="ctr">
                    <a:solidFill>
                      <a:srgbClr val="F3F4F6"/>
                    </a:solidFill>
                  </a:tcPr>
                </a:tc>
                <a:tc>
                  <a:txBody>
                    <a:bodyPr/>
                    <a:lstStyle/>
                    <a:p>
                      <a:pPr algn="ctr"/>
                      <a:r>
                        <a:rPr sz="1800" b="1">
                          <a:solidFill>
                            <a:srgbClr val="111827"/>
                          </a:solidFill>
                          <a:latin typeface="Segoe UI"/>
                        </a:rPr>
                        <a:t>Audit trail</a:t>
                      </a:r>
                    </a:p>
                  </a:txBody>
                  <a:tcPr marL="73152" marR="73152" anchor="ctr">
                    <a:solidFill>
                      <a:srgbClr val="F3F4F6"/>
                    </a:solidFill>
                  </a:tcPr>
                </a:tc>
                <a:tc>
                  <a:txBody>
                    <a:bodyPr/>
                    <a:lstStyle/>
                    <a:p>
                      <a:pPr algn="ctr"/>
                      <a:r>
                        <a:rPr sz="1800" b="1">
                          <a:solidFill>
                            <a:srgbClr val="111827"/>
                          </a:solidFill>
                          <a:latin typeface="Segoe UI"/>
                        </a:rPr>
                        <a:t>AI on live data</a:t>
                      </a:r>
                    </a:p>
                  </a:txBody>
                  <a:tcPr marL="73152" marR="73152" anchor="ctr">
                    <a:solidFill>
                      <a:srgbClr val="F3F4F6"/>
                    </a:solidFill>
                  </a:tcPr>
                </a:tc>
                <a:extLst>
                  <a:ext uri="{0D108BD9-81ED-4DB2-BD59-A6C34878D82A}">
                    <a16:rowId xmlns:a16="http://schemas.microsoft.com/office/drawing/2014/main" val="10000"/>
                  </a:ext>
                </a:extLst>
              </a:tr>
              <a:tr h="731520">
                <a:tc>
                  <a:txBody>
                    <a:bodyPr/>
                    <a:lstStyle/>
                    <a:p>
                      <a:pPr algn="l"/>
                      <a:r>
                        <a:rPr sz="2000" b="1">
                          <a:solidFill>
                            <a:srgbClr val="111827"/>
                          </a:solidFill>
                          <a:latin typeface="Segoe UI"/>
                        </a:rPr>
                        <a:t>Paper registers</a:t>
                      </a:r>
                    </a:p>
                  </a:txBody>
                  <a:tcPr marL="73152" marR="73152" anchor="ctr">
                    <a:solidFill>
                      <a:srgbClr val="FFFFFF"/>
                    </a:solidFill>
                  </a:tcPr>
                </a:tc>
                <a:tc>
                  <a:txBody>
                    <a:bodyPr/>
                    <a:lstStyle/>
                    <a:p>
                      <a:pPr algn="ctr"/>
                      <a:r>
                        <a:rPr sz="2600" b="1">
                          <a:solidFill>
                            <a:srgbClr val="9CA3AF"/>
                          </a:solidFill>
                          <a:latin typeface="Segoe UI Symbol"/>
                        </a:rPr>
                        <a:t>✕</a:t>
                      </a:r>
                    </a:p>
                  </a:txBody>
                  <a:tcPr marL="73152" marR="73152" anchor="ctr">
                    <a:solidFill>
                      <a:srgbClr val="FFFFFF"/>
                    </a:solidFill>
                  </a:tcPr>
                </a:tc>
                <a:tc>
                  <a:txBody>
                    <a:bodyPr/>
                    <a:lstStyle/>
                    <a:p>
                      <a:pPr algn="ctr"/>
                      <a:r>
                        <a:rPr sz="2600" b="1">
                          <a:solidFill>
                            <a:srgbClr val="9CA3AF"/>
                          </a:solidFill>
                          <a:latin typeface="Segoe UI Symbol"/>
                        </a:rPr>
                        <a:t>✕</a:t>
                      </a:r>
                    </a:p>
                  </a:txBody>
                  <a:tcPr marL="73152" marR="73152" anchor="ctr">
                    <a:solidFill>
                      <a:srgbClr val="FFFFFF"/>
                    </a:solidFill>
                  </a:tcPr>
                </a:tc>
                <a:tc>
                  <a:txBody>
                    <a:bodyPr/>
                    <a:lstStyle/>
                    <a:p>
                      <a:pPr algn="ctr"/>
                      <a:r>
                        <a:rPr sz="2600" b="1">
                          <a:solidFill>
                            <a:srgbClr val="9CA3AF"/>
                          </a:solidFill>
                          <a:latin typeface="Segoe UI Symbol"/>
                        </a:rPr>
                        <a:t>✕</a:t>
                      </a:r>
                    </a:p>
                  </a:txBody>
                  <a:tcPr marL="73152" marR="73152" anchor="ctr">
                    <a:solidFill>
                      <a:srgbClr val="FFFFFF"/>
                    </a:solidFill>
                  </a:tcPr>
                </a:tc>
                <a:tc>
                  <a:txBody>
                    <a:bodyPr/>
                    <a:lstStyle/>
                    <a:p>
                      <a:pPr algn="ctr"/>
                      <a:r>
                        <a:rPr sz="2600" b="1">
                          <a:solidFill>
                            <a:srgbClr val="9CA3AF"/>
                          </a:solidFill>
                          <a:latin typeface="Segoe UI Symbol"/>
                        </a:rPr>
                        <a:t>✕</a:t>
                      </a:r>
                    </a:p>
                  </a:txBody>
                  <a:tcPr marL="73152" marR="73152" anchor="ctr">
                    <a:solidFill>
                      <a:srgbClr val="FFFFFF"/>
                    </a:solidFill>
                  </a:tcPr>
                </a:tc>
                <a:tc>
                  <a:txBody>
                    <a:bodyPr/>
                    <a:lstStyle/>
                    <a:p>
                      <a:pPr algn="ctr"/>
                      <a:r>
                        <a:rPr sz="2600" b="1">
                          <a:solidFill>
                            <a:srgbClr val="9CA3AF"/>
                          </a:solidFill>
                          <a:latin typeface="Segoe UI Symbol"/>
                        </a:rPr>
                        <a:t>✕</a:t>
                      </a:r>
                    </a:p>
                  </a:txBody>
                  <a:tcPr marL="73152" marR="73152" anchor="ctr">
                    <a:solidFill>
                      <a:srgbClr val="FFFFFF"/>
                    </a:solidFill>
                  </a:tcPr>
                </a:tc>
                <a:tc>
                  <a:txBody>
                    <a:bodyPr/>
                    <a:lstStyle/>
                    <a:p>
                      <a:pPr algn="ctr"/>
                      <a:r>
                        <a:rPr sz="2600" b="1">
                          <a:solidFill>
                            <a:srgbClr val="9CA3AF"/>
                          </a:solidFill>
                          <a:latin typeface="Segoe UI Symbol"/>
                        </a:rPr>
                        <a:t>✕</a:t>
                      </a:r>
                    </a:p>
                  </a:txBody>
                  <a:tcPr marL="73152" marR="73152" anchor="ctr">
                    <a:solidFill>
                      <a:srgbClr val="FFFFFF"/>
                    </a:solidFill>
                  </a:tcPr>
                </a:tc>
                <a:extLst>
                  <a:ext uri="{0D108BD9-81ED-4DB2-BD59-A6C34878D82A}">
                    <a16:rowId xmlns:a16="http://schemas.microsoft.com/office/drawing/2014/main" val="10001"/>
                  </a:ext>
                </a:extLst>
              </a:tr>
              <a:tr h="731520">
                <a:tc>
                  <a:txBody>
                    <a:bodyPr/>
                    <a:lstStyle/>
                    <a:p>
                      <a:pPr algn="l"/>
                      <a:r>
                        <a:rPr sz="2000" b="1">
                          <a:solidFill>
                            <a:srgbClr val="111827"/>
                          </a:solidFill>
                          <a:latin typeface="Segoe UI"/>
                        </a:rPr>
                        <a:t>Spreadsheets</a:t>
                      </a:r>
                    </a:p>
                  </a:txBody>
                  <a:tcPr marL="73152" marR="73152" anchor="ctr">
                    <a:solidFill>
                      <a:srgbClr val="FFFFFF"/>
                    </a:solidFill>
                  </a:tcPr>
                </a:tc>
                <a:tc>
                  <a:txBody>
                    <a:bodyPr/>
                    <a:lstStyle/>
                    <a:p>
                      <a:pPr algn="ctr"/>
                      <a:r>
                        <a:rPr sz="2600" b="1">
                          <a:solidFill>
                            <a:srgbClr val="9CA3AF"/>
                          </a:solidFill>
                          <a:latin typeface="Segoe UI Symbol"/>
                        </a:rPr>
                        <a:t>✕</a:t>
                      </a:r>
                    </a:p>
                  </a:txBody>
                  <a:tcPr marL="73152" marR="73152" anchor="ctr">
                    <a:solidFill>
                      <a:srgbClr val="FFFFFF"/>
                    </a:solidFill>
                  </a:tcPr>
                </a:tc>
                <a:tc>
                  <a:txBody>
                    <a:bodyPr/>
                    <a:lstStyle/>
                    <a:p>
                      <a:pPr algn="ctr"/>
                      <a:r>
                        <a:rPr sz="1800" b="0">
                          <a:solidFill>
                            <a:srgbClr val="374151"/>
                          </a:solidFill>
                          <a:latin typeface="Segoe UI"/>
                        </a:rPr>
                        <a:t>Partial</a:t>
                      </a:r>
                    </a:p>
                  </a:txBody>
                  <a:tcPr marL="73152" marR="73152" anchor="ctr">
                    <a:solidFill>
                      <a:srgbClr val="FFFFFF"/>
                    </a:solidFill>
                  </a:tcPr>
                </a:tc>
                <a:tc>
                  <a:txBody>
                    <a:bodyPr/>
                    <a:lstStyle/>
                    <a:p>
                      <a:pPr algn="ctr"/>
                      <a:r>
                        <a:rPr sz="2600" b="1">
                          <a:solidFill>
                            <a:srgbClr val="9CA3AF"/>
                          </a:solidFill>
                          <a:latin typeface="Segoe UI Symbol"/>
                        </a:rPr>
                        <a:t>✕</a:t>
                      </a:r>
                    </a:p>
                  </a:txBody>
                  <a:tcPr marL="73152" marR="73152" anchor="ctr">
                    <a:solidFill>
                      <a:srgbClr val="FFFFFF"/>
                    </a:solidFill>
                  </a:tcPr>
                </a:tc>
                <a:tc>
                  <a:txBody>
                    <a:bodyPr/>
                    <a:lstStyle/>
                    <a:p>
                      <a:pPr algn="ctr"/>
                      <a:r>
                        <a:rPr sz="1800" b="0">
                          <a:solidFill>
                            <a:srgbClr val="374151"/>
                          </a:solidFill>
                          <a:latin typeface="Segoe UI"/>
                        </a:rPr>
                        <a:t>Partial</a:t>
                      </a:r>
                    </a:p>
                  </a:txBody>
                  <a:tcPr marL="73152" marR="73152" anchor="ctr">
                    <a:solidFill>
                      <a:srgbClr val="FFFFFF"/>
                    </a:solidFill>
                  </a:tcPr>
                </a:tc>
                <a:tc>
                  <a:txBody>
                    <a:bodyPr/>
                    <a:lstStyle/>
                    <a:p>
                      <a:pPr algn="ctr"/>
                      <a:r>
                        <a:rPr sz="1800" b="0">
                          <a:solidFill>
                            <a:srgbClr val="374151"/>
                          </a:solidFill>
                          <a:latin typeface="Segoe UI"/>
                        </a:rPr>
                        <a:t>Partial</a:t>
                      </a:r>
                    </a:p>
                  </a:txBody>
                  <a:tcPr marL="73152" marR="73152" anchor="ctr">
                    <a:solidFill>
                      <a:srgbClr val="FFFFFF"/>
                    </a:solidFill>
                  </a:tcPr>
                </a:tc>
                <a:tc>
                  <a:txBody>
                    <a:bodyPr/>
                    <a:lstStyle/>
                    <a:p>
                      <a:pPr algn="ctr"/>
                      <a:r>
                        <a:rPr sz="2600" b="1">
                          <a:solidFill>
                            <a:srgbClr val="9CA3AF"/>
                          </a:solidFill>
                          <a:latin typeface="Segoe UI Symbol"/>
                        </a:rPr>
                        <a:t>✕</a:t>
                      </a:r>
                    </a:p>
                  </a:txBody>
                  <a:tcPr marL="73152" marR="73152" anchor="ctr">
                    <a:solidFill>
                      <a:srgbClr val="FFFFFF"/>
                    </a:solidFill>
                  </a:tcPr>
                </a:tc>
                <a:extLst>
                  <a:ext uri="{0D108BD9-81ED-4DB2-BD59-A6C34878D82A}">
                    <a16:rowId xmlns:a16="http://schemas.microsoft.com/office/drawing/2014/main" val="10002"/>
                  </a:ext>
                </a:extLst>
              </a:tr>
              <a:tr h="731520">
                <a:tc>
                  <a:txBody>
                    <a:bodyPr/>
                    <a:lstStyle/>
                    <a:p>
                      <a:pPr algn="l"/>
                      <a:r>
                        <a:rPr sz="2000" b="1">
                          <a:solidFill>
                            <a:srgbClr val="111827"/>
                          </a:solidFill>
                          <a:latin typeface="Segoe UI"/>
                        </a:rPr>
                        <a:t>[ADD APPROACH]</a:t>
                      </a:r>
                    </a:p>
                  </a:txBody>
                  <a:tcPr marL="73152" marR="73152" anchor="ctr">
                    <a:solidFill>
                      <a:srgbClr val="FFFFFF"/>
                    </a:solidFill>
                  </a:tcPr>
                </a:tc>
                <a:tc>
                  <a:txBody>
                    <a:bodyPr/>
                    <a:lstStyle/>
                    <a:p>
                      <a:pPr algn="ctr"/>
                      <a:r>
                        <a:rPr sz="1800" b="0">
                          <a:solidFill>
                            <a:srgbClr val="374151"/>
                          </a:solidFill>
                          <a:latin typeface="Segoe UI"/>
                        </a:rPr>
                        <a:t>[ADD]</a:t>
                      </a:r>
                    </a:p>
                  </a:txBody>
                  <a:tcPr marL="73152" marR="73152" anchor="ctr">
                    <a:solidFill>
                      <a:srgbClr val="FFFFFF"/>
                    </a:solidFill>
                  </a:tcPr>
                </a:tc>
                <a:tc>
                  <a:txBody>
                    <a:bodyPr/>
                    <a:lstStyle/>
                    <a:p>
                      <a:pPr algn="ctr"/>
                      <a:r>
                        <a:rPr sz="1800" b="0">
                          <a:solidFill>
                            <a:srgbClr val="374151"/>
                          </a:solidFill>
                          <a:latin typeface="Segoe UI"/>
                        </a:rPr>
                        <a:t>[ADD]</a:t>
                      </a:r>
                    </a:p>
                  </a:txBody>
                  <a:tcPr marL="73152" marR="73152" anchor="ctr">
                    <a:solidFill>
                      <a:srgbClr val="FFFFFF"/>
                    </a:solidFill>
                  </a:tcPr>
                </a:tc>
                <a:tc>
                  <a:txBody>
                    <a:bodyPr/>
                    <a:lstStyle/>
                    <a:p>
                      <a:pPr algn="ctr"/>
                      <a:r>
                        <a:rPr sz="1800" b="0">
                          <a:solidFill>
                            <a:srgbClr val="374151"/>
                          </a:solidFill>
                          <a:latin typeface="Segoe UI"/>
                        </a:rPr>
                        <a:t>[ADD]</a:t>
                      </a:r>
                    </a:p>
                  </a:txBody>
                  <a:tcPr marL="73152" marR="73152" anchor="ctr">
                    <a:solidFill>
                      <a:srgbClr val="FFFFFF"/>
                    </a:solidFill>
                  </a:tcPr>
                </a:tc>
                <a:tc>
                  <a:txBody>
                    <a:bodyPr/>
                    <a:lstStyle/>
                    <a:p>
                      <a:pPr algn="ctr"/>
                      <a:r>
                        <a:rPr sz="1800" b="0">
                          <a:solidFill>
                            <a:srgbClr val="374151"/>
                          </a:solidFill>
                          <a:latin typeface="Segoe UI"/>
                        </a:rPr>
                        <a:t>[ADD]</a:t>
                      </a:r>
                    </a:p>
                  </a:txBody>
                  <a:tcPr marL="73152" marR="73152" anchor="ctr">
                    <a:solidFill>
                      <a:srgbClr val="FFFFFF"/>
                    </a:solidFill>
                  </a:tcPr>
                </a:tc>
                <a:tc>
                  <a:txBody>
                    <a:bodyPr/>
                    <a:lstStyle/>
                    <a:p>
                      <a:pPr algn="ctr"/>
                      <a:r>
                        <a:rPr sz="1800" b="0">
                          <a:solidFill>
                            <a:srgbClr val="374151"/>
                          </a:solidFill>
                          <a:latin typeface="Segoe UI"/>
                        </a:rPr>
                        <a:t>[ADD]</a:t>
                      </a:r>
                    </a:p>
                  </a:txBody>
                  <a:tcPr marL="73152" marR="73152" anchor="ctr">
                    <a:solidFill>
                      <a:srgbClr val="FFFFFF"/>
                    </a:solidFill>
                  </a:tcPr>
                </a:tc>
                <a:tc>
                  <a:txBody>
                    <a:bodyPr/>
                    <a:lstStyle/>
                    <a:p>
                      <a:pPr algn="ctr"/>
                      <a:r>
                        <a:rPr sz="1800" b="0">
                          <a:solidFill>
                            <a:srgbClr val="374151"/>
                          </a:solidFill>
                          <a:latin typeface="Segoe UI"/>
                        </a:rPr>
                        <a:t>[ADD]</a:t>
                      </a:r>
                    </a:p>
                  </a:txBody>
                  <a:tcPr marL="73152" marR="73152" anchor="ctr">
                    <a:solidFill>
                      <a:srgbClr val="FFFFFF"/>
                    </a:solidFill>
                  </a:tcPr>
                </a:tc>
                <a:extLst>
                  <a:ext uri="{0D108BD9-81ED-4DB2-BD59-A6C34878D82A}">
                    <a16:rowId xmlns:a16="http://schemas.microsoft.com/office/drawing/2014/main" val="10003"/>
                  </a:ext>
                </a:extLst>
              </a:tr>
              <a:tr h="731520">
                <a:tc>
                  <a:txBody>
                    <a:bodyPr/>
                    <a:lstStyle/>
                    <a:p>
                      <a:pPr algn="l"/>
                      <a:r>
                        <a:rPr sz="2000" b="1">
                          <a:solidFill>
                            <a:srgbClr val="2563EB"/>
                          </a:solidFill>
                          <a:latin typeface="Segoe UI"/>
                        </a:rPr>
                        <a:t>GymVerse (ours)</a:t>
                      </a:r>
                    </a:p>
                  </a:txBody>
                  <a:tcPr marL="73152" marR="73152" anchor="ctr">
                    <a:solidFill>
                      <a:srgbClr val="DBEAFE"/>
                    </a:solidFill>
                  </a:tcPr>
                </a:tc>
                <a:tc>
                  <a:txBody>
                    <a:bodyPr/>
                    <a:lstStyle/>
                    <a:p>
                      <a:pPr algn="ctr"/>
                      <a:r>
                        <a:rPr sz="2600" b="1">
                          <a:solidFill>
                            <a:srgbClr val="2563EB"/>
                          </a:solidFill>
                          <a:latin typeface="Segoe UI Symbol"/>
                        </a:rPr>
                        <a:t>✓</a:t>
                      </a:r>
                    </a:p>
                  </a:txBody>
                  <a:tcPr marL="73152" marR="73152" anchor="ctr">
                    <a:solidFill>
                      <a:srgbClr val="DBEAFE"/>
                    </a:solidFill>
                  </a:tcPr>
                </a:tc>
                <a:tc>
                  <a:txBody>
                    <a:bodyPr/>
                    <a:lstStyle/>
                    <a:p>
                      <a:pPr algn="ctr"/>
                      <a:r>
                        <a:rPr sz="2600" b="1">
                          <a:solidFill>
                            <a:srgbClr val="2563EB"/>
                          </a:solidFill>
                          <a:latin typeface="Segoe UI Symbol"/>
                        </a:rPr>
                        <a:t>✓</a:t>
                      </a:r>
                    </a:p>
                  </a:txBody>
                  <a:tcPr marL="73152" marR="73152" anchor="ctr">
                    <a:solidFill>
                      <a:srgbClr val="DBEAFE"/>
                    </a:solidFill>
                  </a:tcPr>
                </a:tc>
                <a:tc>
                  <a:txBody>
                    <a:bodyPr/>
                    <a:lstStyle/>
                    <a:p>
                      <a:pPr algn="ctr"/>
                      <a:r>
                        <a:rPr sz="2600" b="1">
                          <a:solidFill>
                            <a:srgbClr val="2563EB"/>
                          </a:solidFill>
                          <a:latin typeface="Segoe UI Symbol"/>
                        </a:rPr>
                        <a:t>✓</a:t>
                      </a:r>
                    </a:p>
                  </a:txBody>
                  <a:tcPr marL="73152" marR="73152" anchor="ctr">
                    <a:solidFill>
                      <a:srgbClr val="DBEAFE"/>
                    </a:solidFill>
                  </a:tcPr>
                </a:tc>
                <a:tc>
                  <a:txBody>
                    <a:bodyPr/>
                    <a:lstStyle/>
                    <a:p>
                      <a:pPr algn="ctr"/>
                      <a:r>
                        <a:rPr sz="2600" b="1">
                          <a:solidFill>
                            <a:srgbClr val="2563EB"/>
                          </a:solidFill>
                          <a:latin typeface="Segoe UI Symbol"/>
                        </a:rPr>
                        <a:t>✓</a:t>
                      </a:r>
                    </a:p>
                  </a:txBody>
                  <a:tcPr marL="73152" marR="73152" anchor="ctr">
                    <a:solidFill>
                      <a:srgbClr val="DBEAFE"/>
                    </a:solidFill>
                  </a:tcPr>
                </a:tc>
                <a:tc>
                  <a:txBody>
                    <a:bodyPr/>
                    <a:lstStyle/>
                    <a:p>
                      <a:pPr algn="ctr"/>
                      <a:r>
                        <a:rPr sz="2600" b="1">
                          <a:solidFill>
                            <a:srgbClr val="2563EB"/>
                          </a:solidFill>
                          <a:latin typeface="Segoe UI Symbol"/>
                        </a:rPr>
                        <a:t>✓</a:t>
                      </a:r>
                    </a:p>
                  </a:txBody>
                  <a:tcPr marL="73152" marR="73152" anchor="ctr">
                    <a:solidFill>
                      <a:srgbClr val="DBEAFE"/>
                    </a:solidFill>
                  </a:tcPr>
                </a:tc>
                <a:tc>
                  <a:txBody>
                    <a:bodyPr/>
                    <a:lstStyle/>
                    <a:p>
                      <a:pPr algn="ctr"/>
                      <a:r>
                        <a:rPr sz="2600" b="1">
                          <a:solidFill>
                            <a:srgbClr val="2563EB"/>
                          </a:solidFill>
                          <a:latin typeface="Segoe UI Symbol"/>
                        </a:rPr>
                        <a:t>✓</a:t>
                      </a:r>
                    </a:p>
                  </a:txBody>
                  <a:tcPr marL="73152" marR="73152" anchor="ctr">
                    <a:solidFill>
                      <a:srgbClr val="DBEAFE"/>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pPr>
            <a:r>
              <a:rPr sz="3400" b="1">
                <a:solidFill>
                  <a:srgbClr val="111827"/>
                </a:solidFill>
                <a:latin typeface="Segoe UI"/>
              </a:rPr>
              <a:t>Three contributions, built into every request</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2563EB"/>
                </a:solidFill>
                <a:latin typeface="Segoe UI"/>
              </a:rPr>
              <a:t>Novelty</a:t>
            </a:r>
          </a:p>
        </p:txBody>
      </p:sp>
      <p:sp>
        <p:nvSpPr>
          <p:cNvPr id="5" name="TextBox 4"/>
          <p:cNvSpPr txBox="1"/>
          <p:nvPr/>
        </p:nvSpPr>
        <p:spPr>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pPr>
            <a:r>
              <a:rPr sz="1400" b="0">
                <a:solidFill>
                  <a:srgbClr val="6B7280"/>
                </a:solidFill>
                <a:latin typeface="Segoe UI"/>
              </a:rPr>
              <a:t>4</a:t>
            </a:r>
          </a:p>
        </p:txBody>
      </p:sp>
      <p:sp>
        <p:nvSpPr>
          <p:cNvPr id="6" name="Rounded Rectangle 5"/>
          <p:cNvSpPr/>
          <p:nvPr/>
        </p:nvSpPr>
        <p:spPr>
          <a:xfrm>
            <a:off x="457200" y="1874519"/>
            <a:ext cx="1645920" cy="91440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374151"/>
                </a:solidFill>
                <a:latin typeface="Segoe UI"/>
              </a:rPr>
              <a:t>React app</a:t>
            </a:r>
          </a:p>
        </p:txBody>
      </p:sp>
      <p:cxnSp>
        <p:nvCxnSpPr>
          <p:cNvPr id="7" name="Connector 6"/>
          <p:cNvCxnSpPr/>
          <p:nvPr/>
        </p:nvCxnSpPr>
        <p:spPr>
          <a:xfrm>
            <a:off x="2121408" y="2331720"/>
            <a:ext cx="32918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2468880" y="1874519"/>
            <a:ext cx="1463040" cy="91440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374151"/>
                </a:solidFill>
                <a:latin typeface="Segoe UI"/>
              </a:rPr>
              <a:t>Rate limit</a:t>
            </a:r>
          </a:p>
        </p:txBody>
      </p:sp>
      <p:cxnSp>
        <p:nvCxnSpPr>
          <p:cNvPr id="9" name="Connector 8"/>
          <p:cNvCxnSpPr/>
          <p:nvPr/>
        </p:nvCxnSpPr>
        <p:spPr>
          <a:xfrm>
            <a:off x="3950208" y="233172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4160520" y="1874519"/>
            <a:ext cx="1463040" cy="91440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latin typeface="Segoe UI"/>
              </a:rPr>
              <a:t>Session check</a:t>
            </a:r>
          </a:p>
        </p:txBody>
      </p:sp>
      <p:cxnSp>
        <p:nvCxnSpPr>
          <p:cNvPr id="11" name="Connector 10"/>
          <p:cNvCxnSpPr/>
          <p:nvPr/>
        </p:nvCxnSpPr>
        <p:spPr>
          <a:xfrm>
            <a:off x="5641848" y="233172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5852160" y="1874519"/>
            <a:ext cx="1463040" cy="91440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latin typeface="Segoe UI"/>
              </a:rPr>
              <a:t>Role + record access</a:t>
            </a:r>
          </a:p>
        </p:txBody>
      </p:sp>
      <p:cxnSp>
        <p:nvCxnSpPr>
          <p:cNvPr id="13" name="Connector 12"/>
          <p:cNvCxnSpPr/>
          <p:nvPr/>
        </p:nvCxnSpPr>
        <p:spPr>
          <a:xfrm>
            <a:off x="7333488" y="233172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7543800" y="1874519"/>
            <a:ext cx="1463040" cy="91440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374151"/>
                </a:solidFill>
                <a:latin typeface="Segoe UI"/>
              </a:rPr>
              <a:t>Input validation</a:t>
            </a:r>
          </a:p>
        </p:txBody>
      </p:sp>
      <p:sp>
        <p:nvSpPr>
          <p:cNvPr id="15" name="TextBox 14"/>
          <p:cNvSpPr txBox="1"/>
          <p:nvPr/>
        </p:nvSpPr>
        <p:spPr>
          <a:xfrm>
            <a:off x="2468880" y="2852928"/>
            <a:ext cx="3291840" cy="4114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6B7280"/>
                </a:solidFill>
                <a:latin typeface="Segoe UI"/>
              </a:rPr>
              <a:t>Express API: four guards</a:t>
            </a:r>
          </a:p>
        </p:txBody>
      </p:sp>
      <p:cxnSp>
        <p:nvCxnSpPr>
          <p:cNvPr id="16" name="Connector 15"/>
          <p:cNvCxnSpPr/>
          <p:nvPr/>
        </p:nvCxnSpPr>
        <p:spPr>
          <a:xfrm>
            <a:off x="8275320" y="2807208"/>
            <a:ext cx="0" cy="603504"/>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5852160" y="3429000"/>
            <a:ext cx="3154680" cy="77724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374151"/>
                </a:solidFill>
                <a:latin typeface="Segoe UI"/>
              </a:rPr>
              <a:t>Controllers + transactions</a:t>
            </a:r>
          </a:p>
        </p:txBody>
      </p:sp>
      <p:sp>
        <p:nvSpPr>
          <p:cNvPr id="18" name="Rounded Rectangle 17"/>
          <p:cNvSpPr/>
          <p:nvPr/>
        </p:nvSpPr>
        <p:spPr>
          <a:xfrm>
            <a:off x="9372600" y="1600200"/>
            <a:ext cx="2377440" cy="4251960"/>
          </a:xfrm>
          <a:prstGeom prst="roundRect">
            <a:avLst>
              <a:gd name="adj" fmla="val 5000"/>
            </a:avLst>
          </a:prstGeom>
          <a:solidFill>
            <a:srgbClr val="FFFFFF"/>
          </a:solidFill>
          <a:ln w="19050">
            <a:solidFill>
              <a:srgbClr val="11182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372600" y="1664208"/>
            <a:ext cx="2377440" cy="457200"/>
          </a:xfrm>
          <a:prstGeom prst="rect">
            <a:avLst/>
          </a:prstGeom>
          <a:noFill/>
        </p:spPr>
        <p:txBody>
          <a:bodyPr wrap="square" lIns="36576" tIns="18288" rIns="36576" bIns="18288" anchor="t">
            <a:spAutoFit/>
          </a:bodyPr>
          <a:lstStyle/>
          <a:p>
            <a:pPr algn="ctr">
              <a:lnSpc>
                <a:spcPct val="100000"/>
              </a:lnSpc>
              <a:spcAft>
                <a:spcPts val="0"/>
              </a:spcAft>
            </a:pPr>
            <a:r>
              <a:rPr sz="2000" b="1">
                <a:solidFill>
                  <a:srgbClr val="111827"/>
                </a:solidFill>
                <a:latin typeface="Segoe UI"/>
              </a:rPr>
              <a:t>PostgreSQL</a:t>
            </a:r>
          </a:p>
        </p:txBody>
      </p:sp>
      <p:sp>
        <p:nvSpPr>
          <p:cNvPr id="20" name="Rounded Rectangle 19"/>
          <p:cNvSpPr/>
          <p:nvPr/>
        </p:nvSpPr>
        <p:spPr>
          <a:xfrm>
            <a:off x="9509760" y="2194560"/>
            <a:ext cx="2103120" cy="73152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latin typeface="Segoe UI"/>
              </a:rPr>
              <a:t>Unique &amp; partial indexes</a:t>
            </a:r>
          </a:p>
        </p:txBody>
      </p:sp>
      <p:sp>
        <p:nvSpPr>
          <p:cNvPr id="21" name="Rounded Rectangle 20"/>
          <p:cNvSpPr/>
          <p:nvPr/>
        </p:nvSpPr>
        <p:spPr>
          <a:xfrm>
            <a:off x="9509760" y="3081528"/>
            <a:ext cx="2103120" cy="73152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latin typeface="Segoe UI"/>
              </a:rPr>
              <a:t>Row locks</a:t>
            </a:r>
          </a:p>
        </p:txBody>
      </p:sp>
      <p:sp>
        <p:nvSpPr>
          <p:cNvPr id="22" name="Rounded Rectangle 21"/>
          <p:cNvSpPr/>
          <p:nvPr/>
        </p:nvSpPr>
        <p:spPr>
          <a:xfrm>
            <a:off x="9509760" y="3968496"/>
            <a:ext cx="2103120" cy="73152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latin typeface="Segoe UI"/>
              </a:rPr>
              <a:t>Audit + capacity triggers</a:t>
            </a:r>
          </a:p>
        </p:txBody>
      </p:sp>
      <p:sp>
        <p:nvSpPr>
          <p:cNvPr id="23" name="Rounded Rectangle 22"/>
          <p:cNvSpPr/>
          <p:nvPr/>
        </p:nvSpPr>
        <p:spPr>
          <a:xfrm>
            <a:off x="9509760" y="4855464"/>
            <a:ext cx="2103120" cy="73152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374151"/>
                </a:solidFill>
                <a:latin typeface="Segoe UI"/>
              </a:rPr>
              <a:t>Versioned migrations</a:t>
            </a:r>
          </a:p>
        </p:txBody>
      </p:sp>
      <p:cxnSp>
        <p:nvCxnSpPr>
          <p:cNvPr id="24" name="Connector 23"/>
          <p:cNvCxnSpPr/>
          <p:nvPr/>
        </p:nvCxnSpPr>
        <p:spPr>
          <a:xfrm>
            <a:off x="9025128" y="3813048"/>
            <a:ext cx="32918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5" name="Rounded Rectangle 24"/>
          <p:cNvSpPr/>
          <p:nvPr/>
        </p:nvSpPr>
        <p:spPr>
          <a:xfrm>
            <a:off x="5852160" y="4800600"/>
            <a:ext cx="1508760" cy="822960"/>
          </a:xfrm>
          <a:prstGeom prst="roundRect">
            <a:avLst>
              <a:gd name="adj" fmla="val 10000"/>
            </a:avLst>
          </a:prstGeom>
          <a:solidFill>
            <a:srgbClr val="2563EB"/>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FFFFFF"/>
                </a:solidFill>
                <a:latin typeface="Segoe UI"/>
              </a:rPr>
              <a:t>AI model fallback</a:t>
            </a:r>
          </a:p>
        </p:txBody>
      </p:sp>
      <p:sp>
        <p:nvSpPr>
          <p:cNvPr id="26" name="Rounded Rectangle 25"/>
          <p:cNvSpPr/>
          <p:nvPr/>
        </p:nvSpPr>
        <p:spPr>
          <a:xfrm>
            <a:off x="7498079" y="4800600"/>
            <a:ext cx="1508760" cy="82296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374151"/>
                </a:solidFill>
                <a:latin typeface="Segoe UI"/>
              </a:rPr>
              <a:t>Chat history (MongoDB)</a:t>
            </a:r>
          </a:p>
        </p:txBody>
      </p:sp>
      <p:cxnSp>
        <p:nvCxnSpPr>
          <p:cNvPr id="27" name="Connector 26"/>
          <p:cNvCxnSpPr/>
          <p:nvPr/>
        </p:nvCxnSpPr>
        <p:spPr>
          <a:xfrm>
            <a:off x="6601968" y="4224528"/>
            <a:ext cx="0" cy="557784"/>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247888" y="4224528"/>
            <a:ext cx="0" cy="557784"/>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9" name="Rounded Rectangle 28"/>
          <p:cNvSpPr/>
          <p:nvPr/>
        </p:nvSpPr>
        <p:spPr>
          <a:xfrm>
            <a:off x="3840480" y="4800600"/>
            <a:ext cx="1783080" cy="822960"/>
          </a:xfrm>
          <a:prstGeom prst="roundRect">
            <a:avLst>
              <a:gd name="adj" fmla="val 1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800" b="1">
                <a:solidFill>
                  <a:srgbClr val="374151"/>
                </a:solidFill>
                <a:latin typeface="Segoe UI"/>
              </a:rPr>
              <a:t>Gemini → Groq</a:t>
            </a:r>
          </a:p>
        </p:txBody>
      </p:sp>
      <p:cxnSp>
        <p:nvCxnSpPr>
          <p:cNvPr id="30" name="Connector 29"/>
          <p:cNvCxnSpPr/>
          <p:nvPr/>
        </p:nvCxnSpPr>
        <p:spPr>
          <a:xfrm flipH="1">
            <a:off x="5641848" y="5212080"/>
            <a:ext cx="192024" cy="0"/>
          </a:xfrm>
          <a:prstGeom prst="line">
            <a:avLst/>
          </a:prstGeom>
          <a:ln w="25400">
            <a:solidFill>
              <a:srgbClr val="9CA3A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1" name="Oval 30"/>
          <p:cNvSpPr/>
          <p:nvPr/>
        </p:nvSpPr>
        <p:spPr>
          <a:xfrm>
            <a:off x="11384280" y="2011680"/>
            <a:ext cx="384048" cy="384048"/>
          </a:xfrm>
          <a:prstGeom prst="ellipse">
            <a:avLst/>
          </a:prstGeom>
          <a:solidFill>
            <a:srgbClr val="FFFFFF"/>
          </a:solidFill>
          <a:ln w="25400">
            <a:solidFill>
              <a:srgbClr val="2563E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2563EB"/>
                </a:solidFill>
                <a:latin typeface="Segoe UI"/>
              </a:rPr>
              <a:t>1</a:t>
            </a:r>
          </a:p>
        </p:txBody>
      </p:sp>
      <p:sp>
        <p:nvSpPr>
          <p:cNvPr id="32" name="Oval 31"/>
          <p:cNvSpPr/>
          <p:nvPr/>
        </p:nvSpPr>
        <p:spPr>
          <a:xfrm>
            <a:off x="7114032" y="1682496"/>
            <a:ext cx="384048" cy="384048"/>
          </a:xfrm>
          <a:prstGeom prst="ellipse">
            <a:avLst/>
          </a:prstGeom>
          <a:solidFill>
            <a:srgbClr val="FFFFFF"/>
          </a:solidFill>
          <a:ln w="25400">
            <a:solidFill>
              <a:srgbClr val="2563E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2563EB"/>
                </a:solidFill>
                <a:latin typeface="Segoe UI"/>
              </a:rPr>
              <a:t>2</a:t>
            </a:r>
          </a:p>
        </p:txBody>
      </p:sp>
      <p:sp>
        <p:nvSpPr>
          <p:cNvPr id="33" name="Oval 32"/>
          <p:cNvSpPr/>
          <p:nvPr/>
        </p:nvSpPr>
        <p:spPr>
          <a:xfrm>
            <a:off x="7159752" y="4608576"/>
            <a:ext cx="384048" cy="384048"/>
          </a:xfrm>
          <a:prstGeom prst="ellipse">
            <a:avLst/>
          </a:prstGeom>
          <a:solidFill>
            <a:srgbClr val="FFFFFF"/>
          </a:solidFill>
          <a:ln w="25400">
            <a:solidFill>
              <a:srgbClr val="2563EB"/>
            </a:solid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1600" b="1">
                <a:solidFill>
                  <a:srgbClr val="2563EB"/>
                </a:solidFill>
                <a:latin typeface="Segoe UI"/>
              </a:rPr>
              <a:t>3</a:t>
            </a:r>
          </a:p>
        </p:txBody>
      </p:sp>
      <p:sp>
        <p:nvSpPr>
          <p:cNvPr id="34" name="Rounded Rectangle 33"/>
          <p:cNvSpPr/>
          <p:nvPr/>
        </p:nvSpPr>
        <p:spPr>
          <a:xfrm>
            <a:off x="457200" y="3337560"/>
            <a:ext cx="3200400" cy="1920240"/>
          </a:xfrm>
          <a:prstGeom prst="roundRect">
            <a:avLst>
              <a:gd name="adj" fmla="val 6000"/>
            </a:avLst>
          </a:prstGeom>
          <a:solidFill>
            <a:srgbClr val="DBEAF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TextBox 34"/>
          <p:cNvSpPr txBox="1"/>
          <p:nvPr/>
        </p:nvSpPr>
        <p:spPr>
          <a:xfrm>
            <a:off x="685800" y="3456432"/>
            <a:ext cx="2834640" cy="45720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2563EB"/>
                </a:solidFill>
                <a:latin typeface="Segoe UI"/>
              </a:rPr>
              <a:t>Key contributions</a:t>
            </a:r>
          </a:p>
        </p:txBody>
      </p:sp>
      <p:sp>
        <p:nvSpPr>
          <p:cNvPr id="36" name="TextBox 35"/>
          <p:cNvSpPr txBox="1"/>
          <p:nvPr/>
        </p:nvSpPr>
        <p:spPr>
          <a:xfrm>
            <a:off x="685800" y="3977639"/>
            <a:ext cx="320040" cy="41148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2563EB"/>
                </a:solidFill>
                <a:latin typeface="Segoe UI"/>
              </a:rPr>
              <a:t>1</a:t>
            </a:r>
          </a:p>
        </p:txBody>
      </p:sp>
      <p:sp>
        <p:nvSpPr>
          <p:cNvPr id="37" name="TextBox 36"/>
          <p:cNvSpPr txBox="1"/>
          <p:nvPr/>
        </p:nvSpPr>
        <p:spPr>
          <a:xfrm>
            <a:off x="1005840" y="3977639"/>
            <a:ext cx="2560320" cy="4114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111827"/>
                </a:solidFill>
                <a:latin typeface="Segoe UI"/>
              </a:rPr>
              <a:t>Rules in the database</a:t>
            </a:r>
          </a:p>
        </p:txBody>
      </p:sp>
      <p:sp>
        <p:nvSpPr>
          <p:cNvPr id="38" name="TextBox 37"/>
          <p:cNvSpPr txBox="1"/>
          <p:nvPr/>
        </p:nvSpPr>
        <p:spPr>
          <a:xfrm>
            <a:off x="685800" y="4389120"/>
            <a:ext cx="320040" cy="41148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2563EB"/>
                </a:solidFill>
                <a:latin typeface="Segoe UI"/>
              </a:rPr>
              <a:t>2</a:t>
            </a:r>
          </a:p>
        </p:txBody>
      </p:sp>
      <p:sp>
        <p:nvSpPr>
          <p:cNvPr id="39" name="TextBox 38"/>
          <p:cNvSpPr txBox="1"/>
          <p:nvPr/>
        </p:nvSpPr>
        <p:spPr>
          <a:xfrm>
            <a:off x="1005840" y="4389120"/>
            <a:ext cx="2560320" cy="4114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111827"/>
                </a:solidFill>
                <a:latin typeface="Segoe UI"/>
              </a:rPr>
              <a:t>Per-record access</a:t>
            </a:r>
          </a:p>
        </p:txBody>
      </p:sp>
      <p:sp>
        <p:nvSpPr>
          <p:cNvPr id="40" name="TextBox 39"/>
          <p:cNvSpPr txBox="1"/>
          <p:nvPr/>
        </p:nvSpPr>
        <p:spPr>
          <a:xfrm>
            <a:off x="685800" y="4800600"/>
            <a:ext cx="320040" cy="41148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2563EB"/>
                </a:solidFill>
                <a:latin typeface="Segoe UI"/>
              </a:rPr>
              <a:t>3</a:t>
            </a:r>
          </a:p>
        </p:txBody>
      </p:sp>
      <p:sp>
        <p:nvSpPr>
          <p:cNvPr id="41" name="TextBox 40"/>
          <p:cNvSpPr txBox="1"/>
          <p:nvPr/>
        </p:nvSpPr>
        <p:spPr>
          <a:xfrm>
            <a:off x="1005840" y="4800600"/>
            <a:ext cx="2560320" cy="4114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111827"/>
                </a:solidFill>
                <a:latin typeface="Segoe UI"/>
              </a:rPr>
              <a:t>AI with model fallback</a:t>
            </a:r>
          </a:p>
        </p:txBody>
      </p:sp>
      <p:sp>
        <p:nvSpPr>
          <p:cNvPr id="42" name="Rounded Rectangle 41"/>
          <p:cNvSpPr/>
          <p:nvPr/>
        </p:nvSpPr>
        <p:spPr>
          <a:xfrm>
            <a:off x="548640" y="5971032"/>
            <a:ext cx="274320" cy="274320"/>
          </a:xfrm>
          <a:prstGeom prst="roundRect">
            <a:avLst>
              <a:gd name="adj" fmla="val 20000"/>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914400" y="5897880"/>
            <a:ext cx="2560320" cy="4114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374151"/>
                </a:solidFill>
                <a:latin typeface="Segoe UI"/>
              </a:rPr>
              <a:t>Novel in GymVerse</a:t>
            </a:r>
          </a:p>
        </p:txBody>
      </p:sp>
      <p:sp>
        <p:nvSpPr>
          <p:cNvPr id="44" name="Rounded Rectangle 43"/>
          <p:cNvSpPr/>
          <p:nvPr/>
        </p:nvSpPr>
        <p:spPr>
          <a:xfrm>
            <a:off x="3474720" y="5971032"/>
            <a:ext cx="274320" cy="274320"/>
          </a:xfrm>
          <a:prstGeom prst="roundRect">
            <a:avLst>
              <a:gd name="adj" fmla="val 20000"/>
            </a:avLst>
          </a:prstGeom>
          <a:solidFill>
            <a:srgbClr val="F3F4F6"/>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3840480" y="5897880"/>
            <a:ext cx="2560320" cy="4114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374151"/>
                </a:solidFill>
                <a:latin typeface="Segoe UI"/>
              </a:rPr>
              <a:t>Standard component</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pPr>
            <a:r>
              <a:rPr sz="3400" b="1">
                <a:solidFill>
                  <a:srgbClr val="111827"/>
                </a:solidFill>
                <a:latin typeface="Segoe UI"/>
              </a:rPr>
              <a:t>The same design adapts from one PC to gym chains</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2563EB"/>
                </a:solidFill>
                <a:latin typeface="Segoe UI"/>
              </a:rPr>
              <a:t>Adaptability</a:t>
            </a:r>
          </a:p>
        </p:txBody>
      </p:sp>
      <p:sp>
        <p:nvSpPr>
          <p:cNvPr id="5" name="TextBox 4"/>
          <p:cNvSpPr txBox="1"/>
          <p:nvPr/>
        </p:nvSpPr>
        <p:spPr>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pPr>
            <a:r>
              <a:rPr sz="1400" b="0">
                <a:solidFill>
                  <a:srgbClr val="6B7280"/>
                </a:solidFill>
                <a:latin typeface="Segoe UI"/>
              </a:rPr>
              <a:t>5</a:t>
            </a:r>
          </a:p>
        </p:txBody>
      </p:sp>
      <p:sp>
        <p:nvSpPr>
          <p:cNvPr id="6" name="Rounded Rectangle 5"/>
          <p:cNvSpPr/>
          <p:nvPr/>
        </p:nvSpPr>
        <p:spPr>
          <a:xfrm>
            <a:off x="548640" y="1783080"/>
            <a:ext cx="2606040" cy="269748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2011680"/>
            <a:ext cx="914400" cy="731520"/>
          </a:xfrm>
          <a:prstGeom prst="rect">
            <a:avLst/>
          </a:prstGeom>
          <a:noFill/>
        </p:spPr>
        <p:txBody>
          <a:bodyPr wrap="square" lIns="36576" tIns="18288" rIns="36576" bIns="18288" anchor="t">
            <a:spAutoFit/>
          </a:bodyPr>
          <a:lstStyle/>
          <a:p>
            <a:pPr algn="l">
              <a:lnSpc>
                <a:spcPct val="100000"/>
              </a:lnSpc>
              <a:spcAft>
                <a:spcPts val="0"/>
              </a:spcAft>
            </a:pPr>
            <a:r>
              <a:rPr sz="3200" b="0">
                <a:solidFill>
                  <a:srgbClr val="374151"/>
                </a:solidFill>
                <a:latin typeface="Segoe UI Emoji"/>
              </a:rPr>
              <a:t>🏢</a:t>
            </a:r>
          </a:p>
        </p:txBody>
      </p:sp>
      <p:sp>
        <p:nvSpPr>
          <p:cNvPr id="8" name="TextBox 7"/>
          <p:cNvSpPr txBox="1"/>
          <p:nvPr/>
        </p:nvSpPr>
        <p:spPr>
          <a:xfrm>
            <a:off x="777240" y="2788920"/>
            <a:ext cx="2240280" cy="45720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111827"/>
                </a:solidFill>
                <a:latin typeface="Segoe UI"/>
              </a:rPr>
              <a:t>Gym chains</a:t>
            </a:r>
          </a:p>
        </p:txBody>
      </p:sp>
      <p:sp>
        <p:nvSpPr>
          <p:cNvPr id="9" name="TextBox 8"/>
          <p:cNvSpPr txBox="1"/>
          <p:nvPr/>
        </p:nvSpPr>
        <p:spPr>
          <a:xfrm>
            <a:off x="777240" y="3291840"/>
            <a:ext cx="2240280" cy="10972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6B7280"/>
                </a:solidFill>
                <a:latin typeface="Segoe UI"/>
              </a:rPr>
              <a:t>Needs a branch column</a:t>
            </a:r>
          </a:p>
        </p:txBody>
      </p:sp>
      <p:sp>
        <p:nvSpPr>
          <p:cNvPr id="10" name="Rounded Rectangle 9"/>
          <p:cNvSpPr/>
          <p:nvPr/>
        </p:nvSpPr>
        <p:spPr>
          <a:xfrm>
            <a:off x="3360420" y="1783080"/>
            <a:ext cx="2606040" cy="269748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3589020" y="2011680"/>
            <a:ext cx="914400" cy="731520"/>
          </a:xfrm>
          <a:prstGeom prst="rect">
            <a:avLst/>
          </a:prstGeom>
          <a:noFill/>
        </p:spPr>
        <p:txBody>
          <a:bodyPr wrap="square" lIns="36576" tIns="18288" rIns="36576" bIns="18288" anchor="t">
            <a:spAutoFit/>
          </a:bodyPr>
          <a:lstStyle/>
          <a:p>
            <a:pPr algn="l">
              <a:lnSpc>
                <a:spcPct val="100000"/>
              </a:lnSpc>
              <a:spcAft>
                <a:spcPts val="0"/>
              </a:spcAft>
            </a:pPr>
            <a:r>
              <a:rPr sz="3200" b="0">
                <a:solidFill>
                  <a:srgbClr val="374151"/>
                </a:solidFill>
                <a:latin typeface="Segoe UI Emoji"/>
              </a:rPr>
              <a:t>🧘</a:t>
            </a:r>
          </a:p>
        </p:txBody>
      </p:sp>
      <p:sp>
        <p:nvSpPr>
          <p:cNvPr id="12" name="TextBox 11"/>
          <p:cNvSpPr txBox="1"/>
          <p:nvPr/>
        </p:nvSpPr>
        <p:spPr>
          <a:xfrm>
            <a:off x="3589020" y="2788920"/>
            <a:ext cx="2240280" cy="45720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111827"/>
                </a:solidFill>
                <a:latin typeface="Segoe UI"/>
              </a:rPr>
              <a:t>Studios</a:t>
            </a:r>
          </a:p>
        </p:txBody>
      </p:sp>
      <p:sp>
        <p:nvSpPr>
          <p:cNvPr id="13" name="TextBox 12"/>
          <p:cNvSpPr txBox="1"/>
          <p:nvPr/>
        </p:nvSpPr>
        <p:spPr>
          <a:xfrm>
            <a:off x="3589020" y="3291840"/>
            <a:ext cx="2240280" cy="10972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6B7280"/>
                </a:solidFill>
                <a:latin typeface="Segoe UI"/>
              </a:rPr>
              <a:t>Yoga &amp; dance: works as-is</a:t>
            </a:r>
          </a:p>
        </p:txBody>
      </p:sp>
      <p:sp>
        <p:nvSpPr>
          <p:cNvPr id="14" name="Rounded Rectangle 13"/>
          <p:cNvSpPr/>
          <p:nvPr/>
        </p:nvSpPr>
        <p:spPr>
          <a:xfrm>
            <a:off x="6172200" y="1783080"/>
            <a:ext cx="2606040" cy="269748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400800" y="2011680"/>
            <a:ext cx="914400" cy="731520"/>
          </a:xfrm>
          <a:prstGeom prst="rect">
            <a:avLst/>
          </a:prstGeom>
          <a:noFill/>
        </p:spPr>
        <p:txBody>
          <a:bodyPr wrap="square" lIns="36576" tIns="18288" rIns="36576" bIns="18288" anchor="t">
            <a:spAutoFit/>
          </a:bodyPr>
          <a:lstStyle/>
          <a:p>
            <a:pPr algn="l">
              <a:lnSpc>
                <a:spcPct val="100000"/>
              </a:lnSpc>
              <a:spcAft>
                <a:spcPts val="0"/>
              </a:spcAft>
            </a:pPr>
            <a:r>
              <a:rPr sz="3200" b="0">
                <a:solidFill>
                  <a:srgbClr val="374151"/>
                </a:solidFill>
                <a:latin typeface="Segoe UI Emoji"/>
              </a:rPr>
              <a:t>🩺</a:t>
            </a:r>
          </a:p>
        </p:txBody>
      </p:sp>
      <p:sp>
        <p:nvSpPr>
          <p:cNvPr id="16" name="TextBox 15"/>
          <p:cNvSpPr txBox="1"/>
          <p:nvPr/>
        </p:nvSpPr>
        <p:spPr>
          <a:xfrm>
            <a:off x="6400800" y="2788920"/>
            <a:ext cx="2240280" cy="45720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111827"/>
                </a:solidFill>
                <a:latin typeface="Segoe UI"/>
              </a:rPr>
              <a:t>Physio clinics</a:t>
            </a:r>
          </a:p>
        </p:txBody>
      </p:sp>
      <p:sp>
        <p:nvSpPr>
          <p:cNvPr id="17" name="TextBox 16"/>
          <p:cNvSpPr txBox="1"/>
          <p:nvPr/>
        </p:nvSpPr>
        <p:spPr>
          <a:xfrm>
            <a:off x="6400800" y="3291840"/>
            <a:ext cx="2240280" cy="10972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6B7280"/>
                </a:solidFill>
                <a:latin typeface="Segoe UI"/>
              </a:rPr>
              <a:t>Sessions map to appointments</a:t>
            </a:r>
          </a:p>
        </p:txBody>
      </p:sp>
      <p:sp>
        <p:nvSpPr>
          <p:cNvPr id="18" name="Rounded Rectangle 17"/>
          <p:cNvSpPr/>
          <p:nvPr/>
        </p:nvSpPr>
        <p:spPr>
          <a:xfrm>
            <a:off x="8983980" y="1783080"/>
            <a:ext cx="2606040" cy="2697480"/>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9212580" y="2011680"/>
            <a:ext cx="914400" cy="731520"/>
          </a:xfrm>
          <a:prstGeom prst="rect">
            <a:avLst/>
          </a:prstGeom>
          <a:noFill/>
        </p:spPr>
        <p:txBody>
          <a:bodyPr wrap="square" lIns="36576" tIns="18288" rIns="36576" bIns="18288" anchor="t">
            <a:spAutoFit/>
          </a:bodyPr>
          <a:lstStyle/>
          <a:p>
            <a:pPr algn="l">
              <a:lnSpc>
                <a:spcPct val="100000"/>
              </a:lnSpc>
              <a:spcAft>
                <a:spcPts val="0"/>
              </a:spcAft>
            </a:pPr>
            <a:r>
              <a:rPr sz="3200" b="0">
                <a:solidFill>
                  <a:srgbClr val="374151"/>
                </a:solidFill>
                <a:latin typeface="Segoe UI Emoji"/>
              </a:rPr>
              <a:t>💻</a:t>
            </a:r>
          </a:p>
        </p:txBody>
      </p:sp>
      <p:sp>
        <p:nvSpPr>
          <p:cNvPr id="20" name="TextBox 19"/>
          <p:cNvSpPr txBox="1"/>
          <p:nvPr/>
        </p:nvSpPr>
        <p:spPr>
          <a:xfrm>
            <a:off x="9212580" y="2788920"/>
            <a:ext cx="2240280" cy="45720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111827"/>
                </a:solidFill>
                <a:latin typeface="Segoe UI"/>
              </a:rPr>
              <a:t>Small gyms</a:t>
            </a:r>
          </a:p>
        </p:txBody>
      </p:sp>
      <p:sp>
        <p:nvSpPr>
          <p:cNvPr id="21" name="TextBox 20"/>
          <p:cNvSpPr txBox="1"/>
          <p:nvPr/>
        </p:nvSpPr>
        <p:spPr>
          <a:xfrm>
            <a:off x="9212580" y="3291840"/>
            <a:ext cx="2240280" cy="10972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6B7280"/>
                </a:solidFill>
                <a:latin typeface="Segoe UI"/>
              </a:rPr>
              <a:t>One PC; AI and email optional</a:t>
            </a:r>
          </a:p>
        </p:txBody>
      </p:sp>
      <p:sp>
        <p:nvSpPr>
          <p:cNvPr id="22" name="Rounded Rectangle 21"/>
          <p:cNvSpPr/>
          <p:nvPr/>
        </p:nvSpPr>
        <p:spPr>
          <a:xfrm>
            <a:off x="548640" y="4754880"/>
            <a:ext cx="5440680" cy="1234440"/>
          </a:xfrm>
          <a:prstGeom prst="roundRect">
            <a:avLst>
              <a:gd name="adj" fmla="val 8000"/>
            </a:avLst>
          </a:prstGeom>
          <a:solidFill>
            <a:srgbClr val="DBEAFE"/>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777240" y="4846320"/>
            <a:ext cx="5029200" cy="45720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2563EB"/>
                </a:solidFill>
                <a:latin typeface="Segoe UI"/>
              </a:rPr>
              <a:t>Configurable, no code change</a:t>
            </a:r>
          </a:p>
        </p:txBody>
      </p:sp>
      <p:sp>
        <p:nvSpPr>
          <p:cNvPr id="24" name="TextBox 23"/>
          <p:cNvSpPr txBox="1"/>
          <p:nvPr/>
        </p:nvSpPr>
        <p:spPr>
          <a:xfrm>
            <a:off x="777240" y="5303520"/>
            <a:ext cx="5029200" cy="6400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374151"/>
                </a:solidFill>
                <a:latin typeface="Segoe UI"/>
              </a:rPr>
              <a:t>Plans · AI models · email · chat history · production mode</a:t>
            </a:r>
          </a:p>
        </p:txBody>
      </p:sp>
      <p:sp>
        <p:nvSpPr>
          <p:cNvPr id="25" name="Rounded Rectangle 24"/>
          <p:cNvSpPr/>
          <p:nvPr/>
        </p:nvSpPr>
        <p:spPr>
          <a:xfrm>
            <a:off x="6172200" y="4754880"/>
            <a:ext cx="5440680" cy="123444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6400800" y="4846320"/>
            <a:ext cx="5029200" cy="45720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111827"/>
                </a:solidFill>
                <a:latin typeface="Segoe UI"/>
              </a:rPr>
              <a:t>Fixed core</a:t>
            </a:r>
          </a:p>
        </p:txBody>
      </p:sp>
      <p:sp>
        <p:nvSpPr>
          <p:cNvPr id="27" name="TextBox 26"/>
          <p:cNvSpPr txBox="1"/>
          <p:nvPr/>
        </p:nvSpPr>
        <p:spPr>
          <a:xfrm>
            <a:off x="6400800" y="5303520"/>
            <a:ext cx="5029200" cy="64008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374151"/>
                </a:solidFill>
                <a:latin typeface="Segoe UI"/>
              </a:rPr>
              <a:t>Integrity rules · record access · audit trail</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pPr>
            <a:r>
              <a:rPr sz="3400" b="1">
                <a:solidFill>
                  <a:srgbClr val="111827"/>
                </a:solidFill>
                <a:latin typeface="Segoe UI"/>
              </a:rPr>
              <a:t>New indexes make key queries up to 81× faster</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2563EB"/>
                </a:solidFill>
                <a:latin typeface="Segoe UI"/>
              </a:rPr>
              <a:t>Evaluation</a:t>
            </a:r>
          </a:p>
        </p:txBody>
      </p:sp>
      <p:sp>
        <p:nvSpPr>
          <p:cNvPr id="5" name="TextBox 4"/>
          <p:cNvSpPr txBox="1"/>
          <p:nvPr/>
        </p:nvSpPr>
        <p:spPr>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pPr>
            <a:r>
              <a:rPr sz="1400" b="0">
                <a:solidFill>
                  <a:srgbClr val="6B7280"/>
                </a:solidFill>
                <a:latin typeface="Segoe UI"/>
              </a:rPr>
              <a:t>6</a:t>
            </a:r>
          </a:p>
        </p:txBody>
      </p:sp>
      <p:graphicFrame>
        <p:nvGraphicFramePr>
          <p:cNvPr id="6" name="Chart 5"/>
          <p:cNvGraphicFramePr>
            <a:graphicFrameLocks noGrp="1"/>
          </p:cNvGraphicFramePr>
          <p:nvPr/>
        </p:nvGraphicFramePr>
        <p:xfrm>
          <a:off x="457200" y="1645920"/>
          <a:ext cx="8138160" cy="4617720"/>
        </p:xfrm>
        <a:graphic>
          <a:graphicData uri="http://schemas.openxmlformats.org/drawingml/2006/chart">
            <c:chart xmlns:c="http://schemas.openxmlformats.org/drawingml/2006/chart" xmlns:r="http://schemas.openxmlformats.org/officeDocument/2006/relationships" r:id="rId3"/>
          </a:graphicData>
        </a:graphic>
      </p:graphicFrame>
      <p:sp>
        <p:nvSpPr>
          <p:cNvPr id="7" name="TextBox 6"/>
          <p:cNvSpPr txBox="1"/>
          <p:nvPr/>
        </p:nvSpPr>
        <p:spPr>
          <a:xfrm>
            <a:off x="8732520" y="1783080"/>
            <a:ext cx="3200400" cy="45720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6B7280"/>
                </a:solidFill>
                <a:latin typeface="Segoe UI"/>
              </a:rPr>
              <a:t>Speed-up after 16</a:t>
            </a:r>
          </a:p>
        </p:txBody>
      </p:sp>
      <p:sp>
        <p:nvSpPr>
          <p:cNvPr id="8" name="TextBox 7"/>
          <p:cNvSpPr txBox="1"/>
          <p:nvPr/>
        </p:nvSpPr>
        <p:spPr>
          <a:xfrm>
            <a:off x="8732520" y="2286000"/>
            <a:ext cx="1325880" cy="640080"/>
          </a:xfrm>
          <a:prstGeom prst="rect">
            <a:avLst/>
          </a:prstGeom>
          <a:noFill/>
        </p:spPr>
        <p:txBody>
          <a:bodyPr wrap="square" lIns="36576" tIns="18288" rIns="36576" bIns="18288" anchor="t">
            <a:spAutoFit/>
          </a:bodyPr>
          <a:lstStyle/>
          <a:p>
            <a:pPr algn="l">
              <a:lnSpc>
                <a:spcPct val="100000"/>
              </a:lnSpc>
              <a:spcAft>
                <a:spcPts val="0"/>
              </a:spcAft>
            </a:pPr>
            <a:r>
              <a:rPr sz="3200" b="1">
                <a:solidFill>
                  <a:srgbClr val="2563EB"/>
                </a:solidFill>
                <a:latin typeface="Segoe UI"/>
              </a:rPr>
              <a:t>81×</a:t>
            </a:r>
          </a:p>
        </p:txBody>
      </p:sp>
      <p:sp>
        <p:nvSpPr>
          <p:cNvPr id="9" name="TextBox 8"/>
          <p:cNvSpPr txBox="1"/>
          <p:nvPr/>
        </p:nvSpPr>
        <p:spPr>
          <a:xfrm>
            <a:off x="10012680" y="2395728"/>
            <a:ext cx="2011680" cy="54864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374151"/>
                </a:solidFill>
                <a:latin typeface="Segoe UI"/>
              </a:rPr>
              <a:t>Member search</a:t>
            </a:r>
          </a:p>
        </p:txBody>
      </p:sp>
      <p:sp>
        <p:nvSpPr>
          <p:cNvPr id="10" name="TextBox 9"/>
          <p:cNvSpPr txBox="1"/>
          <p:nvPr/>
        </p:nvSpPr>
        <p:spPr>
          <a:xfrm>
            <a:off x="8732520" y="3108960"/>
            <a:ext cx="1325880" cy="640080"/>
          </a:xfrm>
          <a:prstGeom prst="rect">
            <a:avLst/>
          </a:prstGeom>
          <a:noFill/>
        </p:spPr>
        <p:txBody>
          <a:bodyPr wrap="square" lIns="36576" tIns="18288" rIns="36576" bIns="18288" anchor="t">
            <a:spAutoFit/>
          </a:bodyPr>
          <a:lstStyle/>
          <a:p>
            <a:pPr algn="l">
              <a:lnSpc>
                <a:spcPct val="100000"/>
              </a:lnSpc>
              <a:spcAft>
                <a:spcPts val="0"/>
              </a:spcAft>
            </a:pPr>
            <a:r>
              <a:rPr sz="3200" b="1">
                <a:solidFill>
                  <a:srgbClr val="2563EB"/>
                </a:solidFill>
                <a:latin typeface="Segoe UI"/>
              </a:rPr>
              <a:t>54×</a:t>
            </a:r>
          </a:p>
        </p:txBody>
      </p:sp>
      <p:sp>
        <p:nvSpPr>
          <p:cNvPr id="11" name="TextBox 10"/>
          <p:cNvSpPr txBox="1"/>
          <p:nvPr/>
        </p:nvSpPr>
        <p:spPr>
          <a:xfrm>
            <a:off x="10012680" y="3218688"/>
            <a:ext cx="2011680" cy="54864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374151"/>
                </a:solidFill>
                <a:latin typeface="Segoe UI"/>
              </a:rPr>
              <a:t>Subscriptions list</a:t>
            </a:r>
          </a:p>
        </p:txBody>
      </p:sp>
      <p:sp>
        <p:nvSpPr>
          <p:cNvPr id="12" name="TextBox 11"/>
          <p:cNvSpPr txBox="1"/>
          <p:nvPr/>
        </p:nvSpPr>
        <p:spPr>
          <a:xfrm>
            <a:off x="8732520" y="3931920"/>
            <a:ext cx="1325880" cy="640080"/>
          </a:xfrm>
          <a:prstGeom prst="rect">
            <a:avLst/>
          </a:prstGeom>
          <a:noFill/>
        </p:spPr>
        <p:txBody>
          <a:bodyPr wrap="square" lIns="36576" tIns="18288" rIns="36576" bIns="18288" anchor="t">
            <a:spAutoFit/>
          </a:bodyPr>
          <a:lstStyle/>
          <a:p>
            <a:pPr algn="l">
              <a:lnSpc>
                <a:spcPct val="100000"/>
              </a:lnSpc>
              <a:spcAft>
                <a:spcPts val="0"/>
              </a:spcAft>
            </a:pPr>
            <a:r>
              <a:rPr sz="3200" b="1">
                <a:solidFill>
                  <a:srgbClr val="2563EB"/>
                </a:solidFill>
                <a:latin typeface="Segoe UI"/>
              </a:rPr>
              <a:t>45×</a:t>
            </a:r>
          </a:p>
        </p:txBody>
      </p:sp>
      <p:sp>
        <p:nvSpPr>
          <p:cNvPr id="13" name="TextBox 12"/>
          <p:cNvSpPr txBox="1"/>
          <p:nvPr/>
        </p:nvSpPr>
        <p:spPr>
          <a:xfrm>
            <a:off x="10012680" y="4041648"/>
            <a:ext cx="2011680" cy="54864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374151"/>
                </a:solidFill>
                <a:latin typeface="Segoe UI"/>
              </a:rPr>
              <a:t>Attendance log</a:t>
            </a:r>
          </a:p>
        </p:txBody>
      </p:sp>
      <p:sp>
        <p:nvSpPr>
          <p:cNvPr id="14" name="TextBox 13"/>
          <p:cNvSpPr txBox="1"/>
          <p:nvPr/>
        </p:nvSpPr>
        <p:spPr>
          <a:xfrm>
            <a:off x="8732520" y="4754880"/>
            <a:ext cx="1325880" cy="640080"/>
          </a:xfrm>
          <a:prstGeom prst="rect">
            <a:avLst/>
          </a:prstGeom>
          <a:noFill/>
        </p:spPr>
        <p:txBody>
          <a:bodyPr wrap="square" lIns="36576" tIns="18288" rIns="36576" bIns="18288" anchor="t">
            <a:spAutoFit/>
          </a:bodyPr>
          <a:lstStyle/>
          <a:p>
            <a:pPr algn="l">
              <a:lnSpc>
                <a:spcPct val="100000"/>
              </a:lnSpc>
              <a:spcAft>
                <a:spcPts val="0"/>
              </a:spcAft>
            </a:pPr>
            <a:r>
              <a:rPr sz="3200" b="1">
                <a:solidFill>
                  <a:srgbClr val="2563EB"/>
                </a:solidFill>
                <a:latin typeface="Segoe UI"/>
              </a:rPr>
              <a:t>4.5×</a:t>
            </a:r>
          </a:p>
        </p:txBody>
      </p:sp>
      <p:sp>
        <p:nvSpPr>
          <p:cNvPr id="15" name="TextBox 14"/>
          <p:cNvSpPr txBox="1"/>
          <p:nvPr/>
        </p:nvSpPr>
        <p:spPr>
          <a:xfrm>
            <a:off x="10012680" y="4864608"/>
            <a:ext cx="2011680" cy="54864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374151"/>
                </a:solidFill>
                <a:latin typeface="Segoe UI"/>
              </a:rPr>
              <a:t>Payment history</a:t>
            </a:r>
          </a:p>
        </p:txBody>
      </p:sp>
      <p:sp>
        <p:nvSpPr>
          <p:cNvPr id="16" name="TextBox 15"/>
          <p:cNvSpPr txBox="1"/>
          <p:nvPr/>
        </p:nvSpPr>
        <p:spPr>
          <a:xfrm>
            <a:off x="8732520" y="5486400"/>
            <a:ext cx="3291840" cy="77724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6B7280"/>
                </a:solidFill>
                <a:latin typeface="Segoe UI"/>
              </a:rPr>
              <a:t>50k members, 1M check-ins</a:t>
            </a:r>
          </a:p>
          <a:p>
            <a:pPr algn="l">
              <a:lnSpc>
                <a:spcPct val="100000"/>
              </a:lnSpc>
              <a:spcAft>
                <a:spcPts val="0"/>
              </a:spcAft>
            </a:pPr>
            <a:r>
              <a:rPr sz="1800" b="0">
                <a:solidFill>
                  <a:srgbClr val="6B7280"/>
                </a:solidFill>
                <a:latin typeface="Segoe UI"/>
              </a:rPr>
              <a:t>median of 15 runs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pPr>
            <a:r>
              <a:rPr sz="3400" b="1">
                <a:solidFill>
                  <a:srgbClr val="111827"/>
                </a:solidFill>
                <a:latin typeface="Segoe UI"/>
              </a:rPr>
              <a:t>All 116 end-to-end checks pass across every role</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2563EB"/>
                </a:solidFill>
                <a:latin typeface="Segoe UI"/>
              </a:rPr>
              <a:t>Evaluation</a:t>
            </a:r>
          </a:p>
        </p:txBody>
      </p:sp>
      <p:sp>
        <p:nvSpPr>
          <p:cNvPr id="5" name="TextBox 4"/>
          <p:cNvSpPr txBox="1"/>
          <p:nvPr/>
        </p:nvSpPr>
        <p:spPr>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pPr>
            <a:r>
              <a:rPr sz="1400" b="0">
                <a:solidFill>
                  <a:srgbClr val="6B7280"/>
                </a:solidFill>
                <a:latin typeface="Segoe UI"/>
              </a:rPr>
              <a:t>7</a:t>
            </a:r>
          </a:p>
        </p:txBody>
      </p:sp>
      <p:graphicFrame>
        <p:nvGraphicFramePr>
          <p:cNvPr id="6" name="Chart 5"/>
          <p:cNvGraphicFramePr>
            <a:graphicFrameLocks noGrp="1"/>
          </p:cNvGraphicFramePr>
          <p:nvPr/>
        </p:nvGraphicFramePr>
        <p:xfrm>
          <a:off x="457200" y="1691640"/>
          <a:ext cx="7223760" cy="4526280"/>
        </p:xfrm>
        <a:graphic>
          <a:graphicData uri="http://schemas.openxmlformats.org/drawingml/2006/chart">
            <c:chart xmlns:c="http://schemas.openxmlformats.org/drawingml/2006/chart" xmlns:r="http://schemas.openxmlformats.org/officeDocument/2006/relationships" r:id="rId3"/>
          </a:graphicData>
        </a:graphic>
      </p:graphicFrame>
      <p:sp>
        <p:nvSpPr>
          <p:cNvPr id="7" name="Rounded Rectangle 6"/>
          <p:cNvSpPr/>
          <p:nvPr/>
        </p:nvSpPr>
        <p:spPr>
          <a:xfrm>
            <a:off x="8001000" y="178308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001000" y="2057400"/>
            <a:ext cx="1783080" cy="731520"/>
          </a:xfrm>
          <a:prstGeom prst="rect">
            <a:avLst/>
          </a:prstGeom>
          <a:noFill/>
        </p:spPr>
        <p:txBody>
          <a:bodyPr wrap="square" lIns="36576" tIns="18288" rIns="36576" bIns="18288" anchor="t">
            <a:spAutoFit/>
          </a:bodyPr>
          <a:lstStyle/>
          <a:p>
            <a:pPr algn="ctr">
              <a:lnSpc>
                <a:spcPct val="100000"/>
              </a:lnSpc>
              <a:spcAft>
                <a:spcPts val="0"/>
              </a:spcAft>
            </a:pPr>
            <a:r>
              <a:rPr sz="3400" b="1">
                <a:solidFill>
                  <a:srgbClr val="2563EB"/>
                </a:solidFill>
                <a:latin typeface="Segoe UI"/>
              </a:rPr>
              <a:t>235</a:t>
            </a:r>
          </a:p>
        </p:txBody>
      </p:sp>
      <p:sp>
        <p:nvSpPr>
          <p:cNvPr id="9" name="TextBox 8"/>
          <p:cNvSpPr txBox="1"/>
          <p:nvPr/>
        </p:nvSpPr>
        <p:spPr>
          <a:xfrm>
            <a:off x="8110727" y="2807208"/>
            <a:ext cx="1563624" cy="914400"/>
          </a:xfrm>
          <a:prstGeom prst="rect">
            <a:avLst/>
          </a:prstGeom>
          <a:noFill/>
        </p:spPr>
        <p:txBody>
          <a:bodyPr wrap="square" lIns="36576" tIns="18288" rIns="36576" bIns="18288" anchor="t">
            <a:spAutoFit/>
          </a:bodyPr>
          <a:lstStyle/>
          <a:p>
            <a:pPr algn="ctr">
              <a:lnSpc>
                <a:spcPct val="95000"/>
              </a:lnSpc>
              <a:spcAft>
                <a:spcPts val="0"/>
              </a:spcAft>
            </a:pPr>
            <a:r>
              <a:rPr sz="1800" b="0">
                <a:solidFill>
                  <a:srgbClr val="374151"/>
                </a:solidFill>
                <a:latin typeface="Segoe UI"/>
              </a:rPr>
              <a:t>unit &amp; route tests pass</a:t>
            </a:r>
          </a:p>
        </p:txBody>
      </p:sp>
      <p:sp>
        <p:nvSpPr>
          <p:cNvPr id="10" name="Rounded Rectangle 9"/>
          <p:cNvSpPr/>
          <p:nvPr/>
        </p:nvSpPr>
        <p:spPr>
          <a:xfrm>
            <a:off x="9921240" y="178308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9921240" y="2057400"/>
            <a:ext cx="1783080" cy="731520"/>
          </a:xfrm>
          <a:prstGeom prst="rect">
            <a:avLst/>
          </a:prstGeom>
          <a:noFill/>
        </p:spPr>
        <p:txBody>
          <a:bodyPr wrap="square" lIns="36576" tIns="18288" rIns="36576" bIns="18288" anchor="t">
            <a:spAutoFit/>
          </a:bodyPr>
          <a:lstStyle/>
          <a:p>
            <a:pPr algn="ctr">
              <a:lnSpc>
                <a:spcPct val="100000"/>
              </a:lnSpc>
              <a:spcAft>
                <a:spcPts val="0"/>
              </a:spcAft>
            </a:pPr>
            <a:r>
              <a:rPr sz="3400" b="1">
                <a:solidFill>
                  <a:srgbClr val="2563EB"/>
                </a:solidFill>
                <a:latin typeface="Segoe UI"/>
              </a:rPr>
              <a:t>71/71</a:t>
            </a:r>
          </a:p>
        </p:txBody>
      </p:sp>
      <p:sp>
        <p:nvSpPr>
          <p:cNvPr id="12" name="TextBox 11"/>
          <p:cNvSpPr txBox="1"/>
          <p:nvPr/>
        </p:nvSpPr>
        <p:spPr>
          <a:xfrm>
            <a:off x="10030967" y="2807208"/>
            <a:ext cx="1563624" cy="914400"/>
          </a:xfrm>
          <a:prstGeom prst="rect">
            <a:avLst/>
          </a:prstGeom>
          <a:noFill/>
        </p:spPr>
        <p:txBody>
          <a:bodyPr wrap="square" lIns="36576" tIns="18288" rIns="36576" bIns="18288" anchor="t">
            <a:spAutoFit/>
          </a:bodyPr>
          <a:lstStyle/>
          <a:p>
            <a:pPr algn="ctr">
              <a:lnSpc>
                <a:spcPct val="95000"/>
              </a:lnSpc>
              <a:spcAft>
                <a:spcPts val="0"/>
              </a:spcAft>
            </a:pPr>
            <a:r>
              <a:rPr sz="1800" b="0">
                <a:solidFill>
                  <a:srgbClr val="374151"/>
                </a:solidFill>
                <a:latin typeface="Segoe UI"/>
              </a:rPr>
              <a:t>fresh-DB stack checks</a:t>
            </a:r>
          </a:p>
        </p:txBody>
      </p:sp>
      <p:sp>
        <p:nvSpPr>
          <p:cNvPr id="13" name="Rounded Rectangle 12"/>
          <p:cNvSpPr/>
          <p:nvPr/>
        </p:nvSpPr>
        <p:spPr>
          <a:xfrm>
            <a:off x="8001000" y="402336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001000" y="4297680"/>
            <a:ext cx="1783080" cy="731520"/>
          </a:xfrm>
          <a:prstGeom prst="rect">
            <a:avLst/>
          </a:prstGeom>
          <a:noFill/>
        </p:spPr>
        <p:txBody>
          <a:bodyPr wrap="square" lIns="36576" tIns="18288" rIns="36576" bIns="18288" anchor="t">
            <a:spAutoFit/>
          </a:bodyPr>
          <a:lstStyle/>
          <a:p>
            <a:pPr algn="ctr">
              <a:lnSpc>
                <a:spcPct val="100000"/>
              </a:lnSpc>
              <a:spcAft>
                <a:spcPts val="0"/>
              </a:spcAft>
            </a:pPr>
            <a:r>
              <a:rPr sz="3400" b="1">
                <a:solidFill>
                  <a:srgbClr val="2563EB"/>
                </a:solidFill>
                <a:latin typeface="Segoe UI"/>
              </a:rPr>
              <a:t>7/7</a:t>
            </a:r>
          </a:p>
        </p:txBody>
      </p:sp>
      <p:sp>
        <p:nvSpPr>
          <p:cNvPr id="15" name="TextBox 14"/>
          <p:cNvSpPr txBox="1"/>
          <p:nvPr/>
        </p:nvSpPr>
        <p:spPr>
          <a:xfrm>
            <a:off x="8110727" y="5047488"/>
            <a:ext cx="1563624" cy="914400"/>
          </a:xfrm>
          <a:prstGeom prst="rect">
            <a:avLst/>
          </a:prstGeom>
          <a:noFill/>
        </p:spPr>
        <p:txBody>
          <a:bodyPr wrap="square" lIns="36576" tIns="18288" rIns="36576" bIns="18288" anchor="t">
            <a:spAutoFit/>
          </a:bodyPr>
          <a:lstStyle/>
          <a:p>
            <a:pPr algn="ctr">
              <a:lnSpc>
                <a:spcPct val="95000"/>
              </a:lnSpc>
              <a:spcAft>
                <a:spcPts val="0"/>
              </a:spcAft>
            </a:pPr>
            <a:r>
              <a:rPr sz="1800" b="0">
                <a:solidFill>
                  <a:srgbClr val="374151"/>
                </a:solidFill>
                <a:latin typeface="Segoe UI"/>
              </a:rPr>
              <a:t>frontend tests</a:t>
            </a:r>
          </a:p>
        </p:txBody>
      </p:sp>
      <p:sp>
        <p:nvSpPr>
          <p:cNvPr id="16" name="Rounded Rectangle 15"/>
          <p:cNvSpPr/>
          <p:nvPr/>
        </p:nvSpPr>
        <p:spPr>
          <a:xfrm>
            <a:off x="9921240" y="4023360"/>
            <a:ext cx="1783080" cy="2011680"/>
          </a:xfrm>
          <a:prstGeom prst="roundRect">
            <a:avLst>
              <a:gd name="adj" fmla="val 8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9921240" y="4297680"/>
            <a:ext cx="1783080" cy="731520"/>
          </a:xfrm>
          <a:prstGeom prst="rect">
            <a:avLst/>
          </a:prstGeom>
          <a:noFill/>
        </p:spPr>
        <p:txBody>
          <a:bodyPr wrap="square" lIns="36576" tIns="18288" rIns="36576" bIns="18288" anchor="t">
            <a:spAutoFit/>
          </a:bodyPr>
          <a:lstStyle/>
          <a:p>
            <a:pPr algn="ctr">
              <a:lnSpc>
                <a:spcPct val="100000"/>
              </a:lnSpc>
              <a:spcAft>
                <a:spcPts val="0"/>
              </a:spcAft>
            </a:pPr>
            <a:r>
              <a:rPr sz="3400" b="1">
                <a:solidFill>
                  <a:srgbClr val="2563EB"/>
                </a:solidFill>
                <a:latin typeface="Segoe UI"/>
              </a:rPr>
              <a:t>0</a:t>
            </a:r>
          </a:p>
        </p:txBody>
      </p:sp>
      <p:sp>
        <p:nvSpPr>
          <p:cNvPr id="18" name="TextBox 17"/>
          <p:cNvSpPr txBox="1"/>
          <p:nvPr/>
        </p:nvSpPr>
        <p:spPr>
          <a:xfrm>
            <a:off x="10030967" y="5047488"/>
            <a:ext cx="1563624" cy="914400"/>
          </a:xfrm>
          <a:prstGeom prst="rect">
            <a:avLst/>
          </a:prstGeom>
          <a:noFill/>
        </p:spPr>
        <p:txBody>
          <a:bodyPr wrap="square" lIns="36576" tIns="18288" rIns="36576" bIns="18288" anchor="t">
            <a:spAutoFit/>
          </a:bodyPr>
          <a:lstStyle/>
          <a:p>
            <a:pPr algn="ctr">
              <a:lnSpc>
                <a:spcPct val="95000"/>
              </a:lnSpc>
              <a:spcAft>
                <a:spcPts val="0"/>
              </a:spcAft>
            </a:pPr>
            <a:r>
              <a:rPr sz="1800" b="0">
                <a:solidFill>
                  <a:srgbClr val="374151"/>
                </a:solidFill>
                <a:latin typeface="Segoe UI"/>
              </a:rPr>
              <a:t>server errors (5xx)</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pPr>
            <a:r>
              <a:rPr sz="3400" b="1">
                <a:solidFill>
                  <a:srgbClr val="111827"/>
                </a:solidFill>
                <a:latin typeface="Segoe UI"/>
              </a:rPr>
              <a:t>What GymVerse does not solve yet</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2563EB"/>
                </a:solidFill>
                <a:latin typeface="Segoe UI"/>
              </a:rPr>
              <a:t>Evaluation</a:t>
            </a:r>
          </a:p>
        </p:txBody>
      </p:sp>
      <p:sp>
        <p:nvSpPr>
          <p:cNvPr id="5" name="TextBox 4"/>
          <p:cNvSpPr txBox="1"/>
          <p:nvPr/>
        </p:nvSpPr>
        <p:spPr>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pPr>
            <a:r>
              <a:rPr sz="1400" b="0">
                <a:solidFill>
                  <a:srgbClr val="6B7280"/>
                </a:solidFill>
                <a:latin typeface="Segoe UI"/>
              </a:rPr>
              <a:t>8</a:t>
            </a:r>
          </a:p>
        </p:txBody>
      </p:sp>
      <p:sp>
        <p:nvSpPr>
          <p:cNvPr id="6" name="Rounded Rectangle 5"/>
          <p:cNvSpPr/>
          <p:nvPr/>
        </p:nvSpPr>
        <p:spPr>
          <a:xfrm>
            <a:off x="548640" y="1783080"/>
            <a:ext cx="5440680" cy="1874519"/>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Oval 6"/>
          <p:cNvSpPr/>
          <p:nvPr/>
        </p:nvSpPr>
        <p:spPr>
          <a:xfrm>
            <a:off x="868680" y="2441448"/>
            <a:ext cx="548640" cy="54864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6B7280"/>
                </a:solidFill>
                <a:latin typeface="Segoe UI"/>
              </a:rPr>
              <a:t>!</a:t>
            </a:r>
          </a:p>
        </p:txBody>
      </p:sp>
      <p:sp>
        <p:nvSpPr>
          <p:cNvPr id="8" name="TextBox 7"/>
          <p:cNvSpPr txBox="1"/>
          <p:nvPr/>
        </p:nvSpPr>
        <p:spPr>
          <a:xfrm>
            <a:off x="1645919" y="2057400"/>
            <a:ext cx="4114800" cy="1371600"/>
          </a:xfrm>
          <a:prstGeom prst="rect">
            <a:avLst/>
          </a:prstGeom>
          <a:noFill/>
        </p:spPr>
        <p:txBody>
          <a:bodyPr wrap="square" lIns="36576" tIns="18288" rIns="36576" bIns="18288" anchor="ctr">
            <a:spAutoFit/>
          </a:bodyPr>
          <a:lstStyle/>
          <a:p>
            <a:pPr algn="l">
              <a:lnSpc>
                <a:spcPct val="95000"/>
              </a:lnSpc>
              <a:spcAft>
                <a:spcPts val="0"/>
              </a:spcAft>
            </a:pPr>
            <a:r>
              <a:rPr sz="2200" b="0">
                <a:solidFill>
                  <a:srgbClr val="111827"/>
                </a:solidFill>
                <a:latin typeface="Segoe UI"/>
              </a:rPr>
              <a:t>Two admins can double-book a trainer at the same instant</a:t>
            </a:r>
          </a:p>
        </p:txBody>
      </p:sp>
      <p:sp>
        <p:nvSpPr>
          <p:cNvPr id="9" name="Rounded Rectangle 8"/>
          <p:cNvSpPr/>
          <p:nvPr/>
        </p:nvSpPr>
        <p:spPr>
          <a:xfrm>
            <a:off x="6172200" y="1783080"/>
            <a:ext cx="5440680" cy="1874519"/>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Oval 9"/>
          <p:cNvSpPr/>
          <p:nvPr/>
        </p:nvSpPr>
        <p:spPr>
          <a:xfrm>
            <a:off x="6492240" y="2441448"/>
            <a:ext cx="548640" cy="54864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6B7280"/>
                </a:solidFill>
                <a:latin typeface="Segoe UI"/>
              </a:rPr>
              <a:t>!</a:t>
            </a:r>
          </a:p>
        </p:txBody>
      </p:sp>
      <p:sp>
        <p:nvSpPr>
          <p:cNvPr id="11" name="TextBox 10"/>
          <p:cNvSpPr txBox="1"/>
          <p:nvPr/>
        </p:nvSpPr>
        <p:spPr>
          <a:xfrm>
            <a:off x="7269480" y="2057400"/>
            <a:ext cx="4114800" cy="1371600"/>
          </a:xfrm>
          <a:prstGeom prst="rect">
            <a:avLst/>
          </a:prstGeom>
          <a:noFill/>
        </p:spPr>
        <p:txBody>
          <a:bodyPr wrap="square" lIns="36576" tIns="18288" rIns="36576" bIns="18288" anchor="ctr">
            <a:spAutoFit/>
          </a:bodyPr>
          <a:lstStyle/>
          <a:p>
            <a:pPr algn="l">
              <a:lnSpc>
                <a:spcPct val="95000"/>
              </a:lnSpc>
              <a:spcAft>
                <a:spcPts val="0"/>
              </a:spcAft>
            </a:pPr>
            <a:r>
              <a:rPr sz="2200" b="0">
                <a:solidFill>
                  <a:srgbClr val="111827"/>
                </a:solidFill>
                <a:latin typeface="Segoe UI"/>
              </a:rPr>
              <a:t>Suspended members can still book classes</a:t>
            </a:r>
          </a:p>
        </p:txBody>
      </p:sp>
      <p:sp>
        <p:nvSpPr>
          <p:cNvPr id="12" name="Rounded Rectangle 11"/>
          <p:cNvSpPr/>
          <p:nvPr/>
        </p:nvSpPr>
        <p:spPr>
          <a:xfrm>
            <a:off x="548640" y="3886200"/>
            <a:ext cx="5440680" cy="1874519"/>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Oval 12"/>
          <p:cNvSpPr/>
          <p:nvPr/>
        </p:nvSpPr>
        <p:spPr>
          <a:xfrm>
            <a:off x="868680" y="4544568"/>
            <a:ext cx="548640" cy="54864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6B7280"/>
                </a:solidFill>
                <a:latin typeface="Segoe UI"/>
              </a:rPr>
              <a:t>!</a:t>
            </a:r>
          </a:p>
        </p:txBody>
      </p:sp>
      <p:sp>
        <p:nvSpPr>
          <p:cNvPr id="14" name="TextBox 13"/>
          <p:cNvSpPr txBox="1"/>
          <p:nvPr/>
        </p:nvSpPr>
        <p:spPr>
          <a:xfrm>
            <a:off x="1645919" y="4160520"/>
            <a:ext cx="4114800" cy="1371600"/>
          </a:xfrm>
          <a:prstGeom prst="rect">
            <a:avLst/>
          </a:prstGeom>
          <a:noFill/>
        </p:spPr>
        <p:txBody>
          <a:bodyPr wrap="square" lIns="36576" tIns="18288" rIns="36576" bIns="18288" anchor="ctr">
            <a:spAutoFit/>
          </a:bodyPr>
          <a:lstStyle/>
          <a:p>
            <a:pPr algn="l">
              <a:lnSpc>
                <a:spcPct val="95000"/>
              </a:lnSpc>
              <a:spcAft>
                <a:spcPts val="0"/>
              </a:spcAft>
            </a:pPr>
            <a:r>
              <a:rPr sz="2200" b="0">
                <a:solidFill>
                  <a:srgbClr val="111827"/>
                </a:solidFill>
                <a:latin typeface="Segoe UI"/>
              </a:rPr>
              <a:t>Tested on synthetic data and one PC, with no load test</a:t>
            </a:r>
          </a:p>
        </p:txBody>
      </p:sp>
      <p:sp>
        <p:nvSpPr>
          <p:cNvPr id="15" name="Rounded Rectangle 14"/>
          <p:cNvSpPr/>
          <p:nvPr/>
        </p:nvSpPr>
        <p:spPr>
          <a:xfrm>
            <a:off x="6172200" y="3886200"/>
            <a:ext cx="5440680" cy="1874519"/>
          </a:xfrm>
          <a:prstGeom prst="roundRect">
            <a:avLst>
              <a:gd name="adj" fmla="val 6000"/>
            </a:avLst>
          </a:prstGeom>
          <a:solidFill>
            <a:srgbClr val="FFFFFF"/>
          </a:solidFill>
          <a:ln w="15875">
            <a:solidFill>
              <a:srgbClr val="D1D5D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Oval 15"/>
          <p:cNvSpPr/>
          <p:nvPr/>
        </p:nvSpPr>
        <p:spPr>
          <a:xfrm>
            <a:off x="6492240" y="4544568"/>
            <a:ext cx="548640" cy="548640"/>
          </a:xfrm>
          <a:prstGeom prst="ellipse">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000" b="1">
                <a:solidFill>
                  <a:srgbClr val="6B7280"/>
                </a:solidFill>
                <a:latin typeface="Segoe UI"/>
              </a:rPr>
              <a:t>!</a:t>
            </a:r>
          </a:p>
        </p:txBody>
      </p:sp>
      <p:sp>
        <p:nvSpPr>
          <p:cNvPr id="17" name="TextBox 16"/>
          <p:cNvSpPr txBox="1"/>
          <p:nvPr/>
        </p:nvSpPr>
        <p:spPr>
          <a:xfrm>
            <a:off x="7269480" y="4160520"/>
            <a:ext cx="4114800" cy="1371600"/>
          </a:xfrm>
          <a:prstGeom prst="rect">
            <a:avLst/>
          </a:prstGeom>
          <a:noFill/>
        </p:spPr>
        <p:txBody>
          <a:bodyPr wrap="square" lIns="36576" tIns="18288" rIns="36576" bIns="18288" anchor="ctr">
            <a:spAutoFit/>
          </a:bodyPr>
          <a:lstStyle/>
          <a:p>
            <a:pPr algn="l">
              <a:lnSpc>
                <a:spcPct val="95000"/>
              </a:lnSpc>
              <a:spcAft>
                <a:spcPts val="0"/>
              </a:spcAft>
            </a:pPr>
            <a:r>
              <a:rPr sz="2200" b="0">
                <a:solidFill>
                  <a:srgbClr val="111827"/>
                </a:solidFill>
                <a:latin typeface="Segoe UI"/>
              </a:rPr>
              <a:t>AI replies depend on free-tier model quotas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pPr>
            <a:r>
              <a:rPr sz="3400" b="1">
                <a:solidFill>
                  <a:srgbClr val="111827"/>
                </a:solidFill>
                <a:latin typeface="Segoe UI"/>
              </a:rPr>
              <a:t>Documented and reproducible in three commands</a:t>
            </a:r>
          </a:p>
        </p:txBody>
      </p:sp>
      <p:sp>
        <p:nvSpPr>
          <p:cNvPr id="4" name="Rounded Rectangle 3"/>
          <p:cNvSpPr/>
          <p:nvPr/>
        </p:nvSpPr>
        <p:spPr>
          <a:xfrm>
            <a:off x="10195560" y="457200"/>
            <a:ext cx="1508760" cy="420624"/>
          </a:xfrm>
          <a:prstGeom prst="roundRect">
            <a:avLst>
              <a:gd name="adj" fmla="val 50000"/>
            </a:avLst>
          </a:prstGeom>
          <a:solidFill>
            <a:srgbClr val="FFFFFF"/>
          </a:solidFill>
          <a:ln w="15875">
            <a:solidFill>
              <a:srgbClr val="2563EB"/>
            </a:solidFill>
          </a:ln>
          <a:effectLst/>
        </p:spPr>
        <p:style>
          <a:lnRef idx="1">
            <a:schemeClr val="accent1"/>
          </a:lnRef>
          <a:fillRef idx="3">
            <a:schemeClr val="accent1"/>
          </a:fillRef>
          <a:effectRef idx="2">
            <a:schemeClr val="accent1"/>
          </a:effectRef>
          <a:fontRef idx="minor">
            <a:schemeClr val="lt1"/>
          </a:fontRef>
        </p:style>
        <p:txBody>
          <a:bodyPr wrap="square" lIns="73152" rIns="73152" rtlCol="0" anchor="ctr"/>
          <a:lstStyle/>
          <a:p>
            <a:pPr algn="ctr"/>
            <a:r>
              <a:rPr sz="1400" b="1">
                <a:solidFill>
                  <a:srgbClr val="2563EB"/>
                </a:solidFill>
                <a:latin typeface="Segoe UI"/>
              </a:rPr>
              <a:t>Dissemination</a:t>
            </a:r>
          </a:p>
        </p:txBody>
      </p:sp>
      <p:sp>
        <p:nvSpPr>
          <p:cNvPr id="5" name="TextBox 4"/>
          <p:cNvSpPr txBox="1"/>
          <p:nvPr/>
        </p:nvSpPr>
        <p:spPr>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pPr>
            <a:r>
              <a:rPr sz="1400" b="0">
                <a:solidFill>
                  <a:srgbClr val="6B7280"/>
                </a:solidFill>
                <a:latin typeface="Segoe UI"/>
              </a:rPr>
              <a:t>9</a:t>
            </a:r>
          </a:p>
        </p:txBody>
      </p:sp>
      <p:sp>
        <p:nvSpPr>
          <p:cNvPr id="6" name="TextBox 5"/>
          <p:cNvSpPr txBox="1"/>
          <p:nvPr/>
        </p:nvSpPr>
        <p:spPr>
          <a:xfrm>
            <a:off x="548640" y="1783080"/>
            <a:ext cx="5760720" cy="41148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6B7280"/>
                </a:solidFill>
                <a:latin typeface="Segoe UI"/>
              </a:rPr>
              <a:t>Code</a:t>
            </a:r>
          </a:p>
        </p:txBody>
      </p:sp>
      <p:sp>
        <p:nvSpPr>
          <p:cNvPr id="7" name="TextBox 6"/>
          <p:cNvSpPr txBox="1"/>
          <p:nvPr/>
        </p:nvSpPr>
        <p:spPr>
          <a:xfrm>
            <a:off x="548640" y="2167128"/>
            <a:ext cx="5760720" cy="64008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111827"/>
                </a:solidFill>
                <a:latin typeface="Segoe UI"/>
              </a:rPr>
              <a:t>[ADD REPO LINK AFTER PUSHING CODE]</a:t>
            </a:r>
          </a:p>
        </p:txBody>
      </p:sp>
      <p:sp>
        <p:nvSpPr>
          <p:cNvPr id="8" name="TextBox 7"/>
          <p:cNvSpPr txBox="1"/>
          <p:nvPr/>
        </p:nvSpPr>
        <p:spPr>
          <a:xfrm>
            <a:off x="548640" y="2862072"/>
            <a:ext cx="5760720" cy="41148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6B7280"/>
                </a:solidFill>
                <a:latin typeface="Segoe UI"/>
              </a:rPr>
              <a:t>Documentation</a:t>
            </a:r>
          </a:p>
        </p:txBody>
      </p:sp>
      <p:sp>
        <p:nvSpPr>
          <p:cNvPr id="9" name="TextBox 8"/>
          <p:cNvSpPr txBox="1"/>
          <p:nvPr/>
        </p:nvSpPr>
        <p:spPr>
          <a:xfrm>
            <a:off x="548640" y="3246120"/>
            <a:ext cx="5760720" cy="640080"/>
          </a:xfrm>
          <a:prstGeom prst="rect">
            <a:avLst/>
          </a:prstGeom>
          <a:noFill/>
        </p:spPr>
        <p:txBody>
          <a:bodyPr wrap="square" lIns="36576" tIns="18288" rIns="36576" bIns="18288" anchor="t">
            <a:spAutoFit/>
          </a:bodyPr>
          <a:lstStyle/>
          <a:p>
            <a:pPr algn="l">
              <a:lnSpc>
                <a:spcPct val="100000"/>
              </a:lnSpc>
              <a:spcAft>
                <a:spcPts val="0"/>
              </a:spcAft>
            </a:pPr>
            <a:r>
              <a:rPr sz="2000" b="0">
                <a:solidFill>
                  <a:srgbClr val="111827"/>
                </a:solidFill>
                <a:latin typeface="Segoe UI"/>
              </a:rPr>
              <a:t>PROJECT_GUIDE.md · API docs at /api-docs</a:t>
            </a:r>
          </a:p>
        </p:txBody>
      </p:sp>
      <p:sp>
        <p:nvSpPr>
          <p:cNvPr id="10" name="TextBox 9"/>
          <p:cNvSpPr txBox="1"/>
          <p:nvPr/>
        </p:nvSpPr>
        <p:spPr>
          <a:xfrm>
            <a:off x="548640" y="3941063"/>
            <a:ext cx="5760720" cy="41148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6B7280"/>
                </a:solidFill>
                <a:latin typeface="Segoe UI"/>
              </a:rPr>
              <a:t>Licence</a:t>
            </a:r>
          </a:p>
        </p:txBody>
      </p:sp>
      <p:sp>
        <p:nvSpPr>
          <p:cNvPr id="11" name="TextBox 10"/>
          <p:cNvSpPr txBox="1"/>
          <p:nvPr/>
        </p:nvSpPr>
        <p:spPr>
          <a:xfrm>
            <a:off x="548640" y="4325112"/>
            <a:ext cx="5760720" cy="64008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111827"/>
                </a:solidFill>
                <a:latin typeface="Segoe UI"/>
              </a:rPr>
              <a:t>[ADD LICENSE]</a:t>
            </a:r>
          </a:p>
        </p:txBody>
      </p:sp>
      <p:sp>
        <p:nvSpPr>
          <p:cNvPr id="12" name="TextBox 11"/>
          <p:cNvSpPr txBox="1"/>
          <p:nvPr/>
        </p:nvSpPr>
        <p:spPr>
          <a:xfrm>
            <a:off x="548640" y="5020056"/>
            <a:ext cx="5760720" cy="41148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6B7280"/>
                </a:solidFill>
                <a:latin typeface="Segoe UI"/>
              </a:rPr>
              <a:t>Paper · demo · talks</a:t>
            </a:r>
          </a:p>
        </p:txBody>
      </p:sp>
      <p:sp>
        <p:nvSpPr>
          <p:cNvPr id="13" name="TextBox 12"/>
          <p:cNvSpPr txBox="1"/>
          <p:nvPr/>
        </p:nvSpPr>
        <p:spPr>
          <a:xfrm>
            <a:off x="548640" y="5404104"/>
            <a:ext cx="5760720" cy="64008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111827"/>
                </a:solidFill>
                <a:latin typeface="Segoe UI"/>
              </a:rPr>
              <a:t>[ADD PAPER/DEMO LINK] · [ADD TALKS]</a:t>
            </a:r>
          </a:p>
        </p:txBody>
      </p:sp>
      <p:sp>
        <p:nvSpPr>
          <p:cNvPr id="14" name="Rounded Rectangle 13"/>
          <p:cNvSpPr/>
          <p:nvPr/>
        </p:nvSpPr>
        <p:spPr>
          <a:xfrm>
            <a:off x="6675120" y="1783080"/>
            <a:ext cx="4983480" cy="2697480"/>
          </a:xfrm>
          <a:prstGeom prst="roundRect">
            <a:avLst>
              <a:gd name="adj" fmla="val 5000"/>
            </a:avLst>
          </a:prstGeom>
          <a:solidFill>
            <a:srgbClr val="11182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TextBox 14"/>
          <p:cNvSpPr txBox="1"/>
          <p:nvPr/>
        </p:nvSpPr>
        <p:spPr>
          <a:xfrm>
            <a:off x="6949440" y="1938528"/>
            <a:ext cx="4480560" cy="457200"/>
          </a:xfrm>
          <a:prstGeom prst="rect">
            <a:avLst/>
          </a:prstGeom>
          <a:noFill/>
        </p:spPr>
        <p:txBody>
          <a:bodyPr wrap="square" lIns="36576" tIns="18288" rIns="36576" bIns="18288" anchor="t">
            <a:spAutoFit/>
          </a:bodyPr>
          <a:lstStyle/>
          <a:p>
            <a:pPr algn="l">
              <a:lnSpc>
                <a:spcPct val="100000"/>
              </a:lnSpc>
              <a:spcAft>
                <a:spcPts val="0"/>
              </a:spcAft>
            </a:pPr>
            <a:r>
              <a:rPr sz="2000" b="1">
                <a:solidFill>
                  <a:srgbClr val="FFFFFF"/>
                </a:solidFill>
                <a:latin typeface="Segoe UI"/>
              </a:rPr>
              <a:t>Reproduce (backend)</a:t>
            </a:r>
          </a:p>
        </p:txBody>
      </p:sp>
      <p:sp>
        <p:nvSpPr>
          <p:cNvPr id="16" name="TextBox 15"/>
          <p:cNvSpPr txBox="1"/>
          <p:nvPr/>
        </p:nvSpPr>
        <p:spPr>
          <a:xfrm>
            <a:off x="6949440" y="2514600"/>
            <a:ext cx="365760" cy="45720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9CA3AF"/>
                </a:solidFill>
                <a:latin typeface="Segoe UI"/>
              </a:rPr>
              <a:t>1</a:t>
            </a:r>
          </a:p>
        </p:txBody>
      </p:sp>
      <p:sp>
        <p:nvSpPr>
          <p:cNvPr id="17" name="TextBox 16"/>
          <p:cNvSpPr txBox="1"/>
          <p:nvPr/>
        </p:nvSpPr>
        <p:spPr>
          <a:xfrm>
            <a:off x="7315200" y="2514600"/>
            <a:ext cx="4206240" cy="45720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FFFFFF"/>
                </a:solidFill>
                <a:latin typeface="Consolas"/>
              </a:rPr>
              <a:t>npm install</a:t>
            </a:r>
          </a:p>
        </p:txBody>
      </p:sp>
      <p:sp>
        <p:nvSpPr>
          <p:cNvPr id="18" name="TextBox 17"/>
          <p:cNvSpPr txBox="1"/>
          <p:nvPr/>
        </p:nvSpPr>
        <p:spPr>
          <a:xfrm>
            <a:off x="6949440" y="3118104"/>
            <a:ext cx="365760" cy="45720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9CA3AF"/>
                </a:solidFill>
                <a:latin typeface="Segoe UI"/>
              </a:rPr>
              <a:t>2</a:t>
            </a:r>
          </a:p>
        </p:txBody>
      </p:sp>
      <p:sp>
        <p:nvSpPr>
          <p:cNvPr id="19" name="TextBox 18"/>
          <p:cNvSpPr txBox="1"/>
          <p:nvPr/>
        </p:nvSpPr>
        <p:spPr>
          <a:xfrm>
            <a:off x="7315200" y="3118104"/>
            <a:ext cx="4206240" cy="45720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FFFFFF"/>
                </a:solidFill>
                <a:latin typeface="Consolas"/>
              </a:rPr>
              <a:t>npm run migrate &amp;&amp; npm run seed</a:t>
            </a:r>
          </a:p>
        </p:txBody>
      </p:sp>
      <p:sp>
        <p:nvSpPr>
          <p:cNvPr id="20" name="TextBox 19"/>
          <p:cNvSpPr txBox="1"/>
          <p:nvPr/>
        </p:nvSpPr>
        <p:spPr>
          <a:xfrm>
            <a:off x="6949440" y="3721608"/>
            <a:ext cx="365760" cy="45720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9CA3AF"/>
                </a:solidFill>
                <a:latin typeface="Segoe UI"/>
              </a:rPr>
              <a:t>3</a:t>
            </a:r>
          </a:p>
        </p:txBody>
      </p:sp>
      <p:sp>
        <p:nvSpPr>
          <p:cNvPr id="21" name="TextBox 20"/>
          <p:cNvSpPr txBox="1"/>
          <p:nvPr/>
        </p:nvSpPr>
        <p:spPr>
          <a:xfrm>
            <a:off x="7315200" y="3721608"/>
            <a:ext cx="4206240" cy="45720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FFFFFF"/>
                </a:solidFill>
                <a:latin typeface="Consolas"/>
              </a:rPr>
              <a:t>npm run dev</a:t>
            </a:r>
          </a:p>
        </p:txBody>
      </p:sp>
      <p:sp>
        <p:nvSpPr>
          <p:cNvPr id="22" name="Rounded Rectangle 21"/>
          <p:cNvSpPr/>
          <p:nvPr/>
        </p:nvSpPr>
        <p:spPr>
          <a:xfrm>
            <a:off x="6675120" y="4663440"/>
            <a:ext cx="1463040" cy="1463040"/>
          </a:xfrm>
          <a:prstGeom prst="roundRect">
            <a:avLst>
              <a:gd name="adj" fmla="val 4000"/>
            </a:avLst>
          </a:prstGeom>
          <a:solidFill>
            <a:srgbClr val="F3F4F6"/>
          </a:solidFill>
          <a:ln w="15875">
            <a:solidFill>
              <a:srgbClr val="9CA3AF"/>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111827"/>
                </a:solidFill>
                <a:latin typeface="Segoe UI"/>
              </a:rPr>
              <a:t>[ADD QR]</a:t>
            </a:r>
          </a:p>
        </p:txBody>
      </p:sp>
      <p:sp>
        <p:nvSpPr>
          <p:cNvPr id="23" name="TextBox 22"/>
          <p:cNvSpPr txBox="1"/>
          <p:nvPr/>
        </p:nvSpPr>
        <p:spPr>
          <a:xfrm>
            <a:off x="8366760" y="4754880"/>
            <a:ext cx="3291840" cy="457200"/>
          </a:xfrm>
          <a:prstGeom prst="rect">
            <a:avLst/>
          </a:prstGeom>
          <a:noFill/>
        </p:spPr>
        <p:txBody>
          <a:bodyPr wrap="square" lIns="36576" tIns="18288" rIns="36576" bIns="18288" anchor="t">
            <a:spAutoFit/>
          </a:bodyPr>
          <a:lstStyle/>
          <a:p>
            <a:pPr algn="l">
              <a:lnSpc>
                <a:spcPct val="100000"/>
              </a:lnSpc>
              <a:spcAft>
                <a:spcPts val="0"/>
              </a:spcAft>
            </a:pPr>
            <a:r>
              <a:rPr sz="1800" b="1">
                <a:solidFill>
                  <a:srgbClr val="6B7280"/>
                </a:solidFill>
                <a:latin typeface="Segoe UI"/>
              </a:rPr>
              <a:t>Verify on a fresh DB:</a:t>
            </a:r>
          </a:p>
        </p:txBody>
      </p:sp>
      <p:sp>
        <p:nvSpPr>
          <p:cNvPr id="24" name="TextBox 23"/>
          <p:cNvSpPr txBox="1"/>
          <p:nvPr/>
        </p:nvSpPr>
        <p:spPr>
          <a:xfrm>
            <a:off x="8366760" y="5212080"/>
            <a:ext cx="3291840" cy="457200"/>
          </a:xfrm>
          <a:prstGeom prst="rect">
            <a:avLst/>
          </a:prstGeom>
          <a:noFill/>
        </p:spPr>
        <p:txBody>
          <a:bodyPr wrap="square" lIns="36576" tIns="18288" rIns="36576" bIns="18288" anchor="t">
            <a:spAutoFit/>
          </a:bodyPr>
          <a:lstStyle/>
          <a:p>
            <a:pPr algn="l">
              <a:lnSpc>
                <a:spcPct val="100000"/>
              </a:lnSpc>
              <a:spcAft>
                <a:spcPts val="0"/>
              </a:spcAft>
            </a:pPr>
            <a:r>
              <a:rPr sz="1800" b="0">
                <a:solidFill>
                  <a:srgbClr val="111827"/>
                </a:solidFill>
                <a:latin typeface="Consolas"/>
              </a:rPr>
              <a:t>node verify_stack.js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7472" y="502920"/>
            <a:ext cx="73152" cy="566928"/>
          </a:xfrm>
          <a:prstGeom prst="rect">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TextBox 2"/>
          <p:cNvSpPr txBox="1"/>
          <p:nvPr/>
        </p:nvSpPr>
        <p:spPr>
          <a:xfrm>
            <a:off x="548640" y="384048"/>
            <a:ext cx="9418320" cy="1143000"/>
          </a:xfrm>
          <a:prstGeom prst="rect">
            <a:avLst/>
          </a:prstGeom>
          <a:noFill/>
        </p:spPr>
        <p:txBody>
          <a:bodyPr wrap="square" lIns="36576" tIns="18288" rIns="36576" bIns="18288" anchor="t">
            <a:spAutoFit/>
          </a:bodyPr>
          <a:lstStyle/>
          <a:p>
            <a:pPr algn="l">
              <a:lnSpc>
                <a:spcPct val="95000"/>
              </a:lnSpc>
              <a:spcAft>
                <a:spcPts val="0"/>
              </a:spcAft>
            </a:pPr>
            <a:r>
              <a:rPr sz="3400" b="1">
                <a:solidFill>
                  <a:srgbClr val="111827"/>
                </a:solidFill>
                <a:latin typeface="Segoe UI"/>
              </a:rPr>
              <a:t>Correct, private and fast — questions?</a:t>
            </a:r>
          </a:p>
        </p:txBody>
      </p:sp>
      <p:sp>
        <p:nvSpPr>
          <p:cNvPr id="4" name="TextBox 3"/>
          <p:cNvSpPr txBox="1"/>
          <p:nvPr/>
        </p:nvSpPr>
        <p:spPr>
          <a:xfrm>
            <a:off x="11155680" y="6355080"/>
            <a:ext cx="640080" cy="365760"/>
          </a:xfrm>
          <a:prstGeom prst="rect">
            <a:avLst/>
          </a:prstGeom>
          <a:noFill/>
        </p:spPr>
        <p:txBody>
          <a:bodyPr wrap="square" lIns="36576" tIns="18288" rIns="36576" bIns="18288" anchor="t">
            <a:spAutoFit/>
          </a:bodyPr>
          <a:lstStyle/>
          <a:p>
            <a:pPr algn="r">
              <a:lnSpc>
                <a:spcPct val="100000"/>
              </a:lnSpc>
              <a:spcAft>
                <a:spcPts val="0"/>
              </a:spcAft>
            </a:pPr>
            <a:r>
              <a:rPr sz="1400" b="0">
                <a:solidFill>
                  <a:srgbClr val="6B7280"/>
                </a:solidFill>
                <a:latin typeface="Segoe UI"/>
              </a:rPr>
              <a:t>10</a:t>
            </a:r>
          </a:p>
        </p:txBody>
      </p:sp>
      <p:sp>
        <p:nvSpPr>
          <p:cNvPr id="5" name="Oval 4"/>
          <p:cNvSpPr/>
          <p:nvPr/>
        </p:nvSpPr>
        <p:spPr>
          <a:xfrm>
            <a:off x="548640" y="1783080"/>
            <a:ext cx="685800" cy="685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1</a:t>
            </a:r>
          </a:p>
        </p:txBody>
      </p:sp>
      <p:sp>
        <p:nvSpPr>
          <p:cNvPr id="6" name="TextBox 5"/>
          <p:cNvSpPr txBox="1"/>
          <p:nvPr/>
        </p:nvSpPr>
        <p:spPr>
          <a:xfrm>
            <a:off x="1463040" y="1764792"/>
            <a:ext cx="6492240" cy="822960"/>
          </a:xfrm>
          <a:prstGeom prst="rect">
            <a:avLst/>
          </a:prstGeom>
          <a:noFill/>
        </p:spPr>
        <p:txBody>
          <a:bodyPr wrap="square" lIns="36576" tIns="18288" rIns="36576" bIns="18288" anchor="ctr">
            <a:spAutoFit/>
          </a:bodyPr>
          <a:lstStyle/>
          <a:p>
            <a:pPr algn="l">
              <a:lnSpc>
                <a:spcPct val="95000"/>
              </a:lnSpc>
              <a:spcAft>
                <a:spcPts val="0"/>
              </a:spcAft>
            </a:pPr>
            <a:r>
              <a:rPr sz="2400" b="1">
                <a:solidFill>
                  <a:srgbClr val="111827"/>
                </a:solidFill>
                <a:latin typeface="Segoe UI"/>
              </a:rPr>
              <a:t>Integrity lives in the database, not the screens</a:t>
            </a:r>
          </a:p>
        </p:txBody>
      </p:sp>
      <p:sp>
        <p:nvSpPr>
          <p:cNvPr id="7" name="Oval 6"/>
          <p:cNvSpPr/>
          <p:nvPr/>
        </p:nvSpPr>
        <p:spPr>
          <a:xfrm>
            <a:off x="548640" y="2834639"/>
            <a:ext cx="685800" cy="685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2</a:t>
            </a:r>
          </a:p>
        </p:txBody>
      </p:sp>
      <p:sp>
        <p:nvSpPr>
          <p:cNvPr id="8" name="TextBox 7"/>
          <p:cNvSpPr txBox="1"/>
          <p:nvPr/>
        </p:nvSpPr>
        <p:spPr>
          <a:xfrm>
            <a:off x="1463040" y="2816351"/>
            <a:ext cx="6492240" cy="822960"/>
          </a:xfrm>
          <a:prstGeom prst="rect">
            <a:avLst/>
          </a:prstGeom>
          <a:noFill/>
        </p:spPr>
        <p:txBody>
          <a:bodyPr wrap="square" lIns="36576" tIns="18288" rIns="36576" bIns="18288" anchor="ctr">
            <a:spAutoFit/>
          </a:bodyPr>
          <a:lstStyle/>
          <a:p>
            <a:pPr algn="l">
              <a:lnSpc>
                <a:spcPct val="95000"/>
              </a:lnSpc>
              <a:spcAft>
                <a:spcPts val="0"/>
              </a:spcAft>
            </a:pPr>
            <a:r>
              <a:rPr sz="2400" b="1">
                <a:solidFill>
                  <a:srgbClr val="111827"/>
                </a:solidFill>
                <a:latin typeface="Segoe UI"/>
              </a:rPr>
              <a:t>Every record is checked against who is asking</a:t>
            </a:r>
          </a:p>
        </p:txBody>
      </p:sp>
      <p:sp>
        <p:nvSpPr>
          <p:cNvPr id="9" name="Oval 8"/>
          <p:cNvSpPr/>
          <p:nvPr/>
        </p:nvSpPr>
        <p:spPr>
          <a:xfrm>
            <a:off x="548640" y="3886200"/>
            <a:ext cx="685800" cy="685800"/>
          </a:xfrm>
          <a:prstGeom prst="ellipse">
            <a:avLst/>
          </a:prstGeom>
          <a:solidFill>
            <a:srgbClr val="2563EB"/>
          </a:solidFill>
          <a:ln>
            <a:noFill/>
          </a:ln>
          <a:effectLst/>
        </p:spPr>
        <p:style>
          <a:lnRef idx="1">
            <a:schemeClr val="accent1"/>
          </a:lnRef>
          <a:fillRef idx="3">
            <a:schemeClr val="accent1"/>
          </a:fillRef>
          <a:effectRef idx="2">
            <a:schemeClr val="accent1"/>
          </a:effectRef>
          <a:fontRef idx="minor">
            <a:schemeClr val="lt1"/>
          </a:fontRef>
        </p:style>
        <p:txBody>
          <a:bodyPr lIns="0" tIns="0" rIns="0" bIns="0" rtlCol="0" anchor="ctr"/>
          <a:lstStyle/>
          <a:p>
            <a:pPr algn="ctr"/>
            <a:r>
              <a:rPr sz="2200" b="1">
                <a:solidFill>
                  <a:srgbClr val="FFFFFF"/>
                </a:solidFill>
                <a:latin typeface="Segoe UI"/>
              </a:rPr>
              <a:t>3</a:t>
            </a:r>
          </a:p>
        </p:txBody>
      </p:sp>
      <p:sp>
        <p:nvSpPr>
          <p:cNvPr id="10" name="TextBox 9"/>
          <p:cNvSpPr txBox="1"/>
          <p:nvPr/>
        </p:nvSpPr>
        <p:spPr>
          <a:xfrm>
            <a:off x="1463040" y="3867912"/>
            <a:ext cx="6492240" cy="822960"/>
          </a:xfrm>
          <a:prstGeom prst="rect">
            <a:avLst/>
          </a:prstGeom>
          <a:noFill/>
        </p:spPr>
        <p:txBody>
          <a:bodyPr wrap="square" lIns="36576" tIns="18288" rIns="36576" bIns="18288" anchor="ctr">
            <a:spAutoFit/>
          </a:bodyPr>
          <a:lstStyle/>
          <a:p>
            <a:pPr algn="l">
              <a:lnSpc>
                <a:spcPct val="95000"/>
              </a:lnSpc>
              <a:spcAft>
                <a:spcPts val="0"/>
              </a:spcAft>
            </a:pPr>
            <a:r>
              <a:rPr sz="2400" b="1">
                <a:solidFill>
                  <a:srgbClr val="111827"/>
                </a:solidFill>
                <a:latin typeface="Segoe UI"/>
              </a:rPr>
              <a:t>The right indexes made key queries up to 81× faster</a:t>
            </a:r>
          </a:p>
        </p:txBody>
      </p:sp>
      <p:sp>
        <p:nvSpPr>
          <p:cNvPr id="11" name="Rounded Rectangle 10"/>
          <p:cNvSpPr/>
          <p:nvPr/>
        </p:nvSpPr>
        <p:spPr>
          <a:xfrm>
            <a:off x="548640" y="5074920"/>
            <a:ext cx="7406640" cy="960120"/>
          </a:xfrm>
          <a:prstGeom prst="roundRect">
            <a:avLst>
              <a:gd name="adj" fmla="val 10000"/>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777240" y="5138928"/>
            <a:ext cx="7040880" cy="822960"/>
          </a:xfrm>
          <a:prstGeom prst="rect">
            <a:avLst/>
          </a:prstGeom>
          <a:noFill/>
        </p:spPr>
        <p:txBody>
          <a:bodyPr wrap="square" lIns="36576" tIns="18288" rIns="36576" bIns="18288" anchor="ctr">
            <a:spAutoFit/>
          </a:bodyPr>
          <a:lstStyle/>
          <a:p>
            <a:pPr algn="l">
              <a:lnSpc>
                <a:spcPct val="100000"/>
              </a:lnSpc>
              <a:spcAft>
                <a:spcPts val="0"/>
              </a:spcAft>
            </a:pPr>
            <a:r>
              <a:rPr sz="1800" b="0">
                <a:solidFill>
                  <a:srgbClr val="374151"/>
                </a:solidFill>
                <a:latin typeface="Segoe UI"/>
              </a:rPr>
              <a:t>Next: database-level double-booking guard · multi-branch support · load testing</a:t>
            </a:r>
          </a:p>
        </p:txBody>
      </p:sp>
      <p:sp>
        <p:nvSpPr>
          <p:cNvPr id="13" name="Rounded Rectangle 12"/>
          <p:cNvSpPr/>
          <p:nvPr/>
        </p:nvSpPr>
        <p:spPr>
          <a:xfrm>
            <a:off x="8732520" y="1783080"/>
            <a:ext cx="2834640" cy="2834640"/>
          </a:xfrm>
          <a:prstGeom prst="roundRect">
            <a:avLst>
              <a:gd name="adj" fmla="val 4000"/>
            </a:avLst>
          </a:prstGeom>
          <a:solidFill>
            <a:srgbClr val="F3F4F6"/>
          </a:solidFill>
          <a:ln w="15875">
            <a:solidFill>
              <a:srgbClr val="9CA3AF"/>
            </a:solidFill>
            <a:prstDash val="dash"/>
          </a:ln>
          <a:effectLst/>
        </p:spPr>
        <p:style>
          <a:lnRef idx="1">
            <a:schemeClr val="accent1"/>
          </a:lnRef>
          <a:fillRef idx="3">
            <a:schemeClr val="accent1"/>
          </a:fillRef>
          <a:effectRef idx="2">
            <a:schemeClr val="accent1"/>
          </a:effectRef>
          <a:fontRef idx="minor">
            <a:schemeClr val="lt1"/>
          </a:fontRef>
        </p:style>
        <p:txBody>
          <a:bodyPr wrap="square" rtlCol="0" anchor="ctr"/>
          <a:lstStyle/>
          <a:p>
            <a:pPr algn="ctr"/>
            <a:r>
              <a:rPr sz="1800" b="1">
                <a:solidFill>
                  <a:srgbClr val="111827"/>
                </a:solidFill>
                <a:latin typeface="Segoe UI"/>
              </a:rPr>
              <a:t>[ADD QR AFTER PUSHING CODE]</a:t>
            </a:r>
          </a:p>
        </p:txBody>
      </p:sp>
      <p:sp>
        <p:nvSpPr>
          <p:cNvPr id="14" name="TextBox 13"/>
          <p:cNvSpPr txBox="1"/>
          <p:nvPr/>
        </p:nvSpPr>
        <p:spPr>
          <a:xfrm>
            <a:off x="8503920" y="4754880"/>
            <a:ext cx="3291840" cy="457200"/>
          </a:xfrm>
          <a:prstGeom prst="rect">
            <a:avLst/>
          </a:prstGeom>
          <a:noFill/>
        </p:spPr>
        <p:txBody>
          <a:bodyPr wrap="square" lIns="36576" tIns="18288" rIns="36576" bIns="18288" anchor="t">
            <a:spAutoFit/>
          </a:bodyPr>
          <a:lstStyle/>
          <a:p>
            <a:pPr algn="ctr">
              <a:lnSpc>
                <a:spcPct val="100000"/>
              </a:lnSpc>
              <a:spcAft>
                <a:spcPts val="0"/>
              </a:spcAft>
            </a:pPr>
            <a:r>
              <a:rPr sz="1800" b="0">
                <a:solidFill>
                  <a:srgbClr val="6B7280"/>
                </a:solidFill>
                <a:latin typeface="Segoe UI"/>
              </a:rPr>
              <a:t>Code &amp; documentation</a:t>
            </a:r>
          </a:p>
        </p:txBody>
      </p:sp>
      <p:sp>
        <p:nvSpPr>
          <p:cNvPr id="15" name="TextBox 14"/>
          <p:cNvSpPr txBox="1"/>
          <p:nvPr/>
        </p:nvSpPr>
        <p:spPr>
          <a:xfrm>
            <a:off x="8503920" y="5212080"/>
            <a:ext cx="3291840" cy="502920"/>
          </a:xfrm>
          <a:prstGeom prst="rect">
            <a:avLst/>
          </a:prstGeom>
          <a:noFill/>
        </p:spPr>
        <p:txBody>
          <a:bodyPr wrap="square" lIns="36576" tIns="18288" rIns="36576" bIns="18288" anchor="t">
            <a:spAutoFit/>
          </a:bodyPr>
          <a:lstStyle/>
          <a:p>
            <a:pPr algn="ctr">
              <a:lnSpc>
                <a:spcPct val="100000"/>
              </a:lnSpc>
              <a:spcAft>
                <a:spcPts val="0"/>
              </a:spcAft>
            </a:pPr>
            <a:r>
              <a:rPr sz="2000" b="1">
                <a:solidFill>
                  <a:srgbClr val="111827"/>
                </a:solidFill>
                <a:latin typeface="Segoe UI"/>
              </a:rPr>
              <a:t>[ADD EMAIL]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TotalTime>
  <Words>1412</Words>
  <Application>Microsoft Office PowerPoint</Application>
  <PresentationFormat>Widescreen</PresentationFormat>
  <Paragraphs>188</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Consolas</vt:lpstr>
      <vt:lpstr>Segoe UI</vt:lpstr>
      <vt:lpstr>Segoe UI Emoji</vt:lpstr>
      <vt:lpstr>Segoe UI Symbol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John</cp:lastModifiedBy>
  <cp:revision>3</cp:revision>
  <dcterms:created xsi:type="dcterms:W3CDTF">2013-01-27T09:14:16Z</dcterms:created>
  <dcterms:modified xsi:type="dcterms:W3CDTF">2026-09-16T07:12:49Z</dcterms:modified>
  <cp:category/>
</cp:coreProperties>
</file>